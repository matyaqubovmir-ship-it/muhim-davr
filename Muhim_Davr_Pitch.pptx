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900" b="0" i="0" u="none" strike="noStrike">
                <a:solidFill>
                  <a:srgbClr val="0F172A"/>
                </a:solidFill>
                <a:latin typeface="Segoe UI Semibold"/>
              </a:defRPr>
            </a:pPr>
            <a:r>
              <a:rPr sz="900" b="0" i="0" u="none" strike="noStrike">
                <a:solidFill>
                  <a:srgbClr val="0F172A"/>
                </a:solidFill>
                <a:latin typeface="Segoe UI Semibold"/>
              </a:rPr>
              <a:t>Qon bosimi dinamikasi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Sistolik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12-h</c:v>
                  </c:pt>
                  <c:pt idx="1">
                    <c:v>16-h</c:v>
                  </c:pt>
                  <c:pt idx="2">
                    <c:v>20-h</c:v>
                  </c:pt>
                  <c:pt idx="3">
                    <c:v>24-h</c:v>
                  </c:pt>
                  <c:pt idx="4">
                    <c:v>26-h</c:v>
                  </c:pt>
                  <c:pt idx="5">
                    <c:v>28-h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112</c:v>
                </c:pt>
                <c:pt idx="1">
                  <c:v>115</c:v>
                </c:pt>
                <c:pt idx="2">
                  <c:v>119</c:v>
                </c:pt>
                <c:pt idx="3">
                  <c:v>124</c:v>
                </c:pt>
                <c:pt idx="4">
                  <c:v>131</c:v>
                </c:pt>
                <c:pt idx="5">
                  <c:v>138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Diastolik</c:v>
                </c:pt>
              </c:strCache>
            </c:strRef>
          </c:tx>
          <c:spPr>
            <a:solidFill>
              <a:srgbClr val="93C5FD"/>
            </a:solidFill>
            <a:ln w="25400" cap="flat">
              <a:solidFill>
                <a:srgbClr val="93C5F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3C5FD"/>
              </a:solidFill>
              <a:ln w="9525" cap="flat">
                <a:solidFill>
                  <a:srgbClr val="93C5F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12-h</c:v>
                  </c:pt>
                  <c:pt idx="1">
                    <c:v>16-h</c:v>
                  </c:pt>
                  <c:pt idx="2">
                    <c:v>20-h</c:v>
                  </c:pt>
                  <c:pt idx="3">
                    <c:v>24-h</c:v>
                  </c:pt>
                  <c:pt idx="4">
                    <c:v>26-h</c:v>
                  </c:pt>
                  <c:pt idx="5">
                    <c:v>28-h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72</c:v>
                </c:pt>
                <c:pt idx="1">
                  <c:v>74</c:v>
                </c:pt>
                <c:pt idx="2">
                  <c:v>76</c:v>
                </c:pt>
                <c:pt idx="3">
                  <c:v>79</c:v>
                </c:pt>
                <c:pt idx="4">
                  <c:v>84</c:v>
                </c:pt>
                <c:pt idx="5">
                  <c:v>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6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64748B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9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8" Type="http://schemas.openxmlformats.org/officeDocument/2006/relationships/image" Target="../media/image-6-4.png"/><Relationship Id="rId9" Type="http://schemas.openxmlformats.org/officeDocument/2006/relationships/image" Target="../media/image-6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5.png"/><Relationship Id="rId7" Type="http://schemas.openxmlformats.org/officeDocument/2006/relationships/image" Target="../media/image-7-5.png"/><Relationship Id="rId8" Type="http://schemas.openxmlformats.org/officeDocument/2006/relationships/image" Target="../media/image-7-5.png"/><Relationship Id="rId9" Type="http://schemas.openxmlformats.org/officeDocument/2006/relationships/image" Target="../media/image-7-5.png"/><Relationship Id="rId10" Type="http://schemas.openxmlformats.org/officeDocument/2006/relationships/image" Target="../media/image-7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\ecd937e0-60b9-45db-b06f-34b4379b9ec8\scratchpad\deck\assets\logo-mark-512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32688"/>
            <a:ext cx="713232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932688"/>
            <a:ext cx="713232" cy="713232"/>
          </a:xfrm>
          <a:prstGeom prst="roundRect">
            <a:avLst>
              <a:gd name="adj" fmla="val 21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627632" y="109728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773936" y="1097280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HOMILADORLIK MONITORINGI  ·  AI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76656" y="1627632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Muhim Davr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260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CBD5E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Homiladorlik davrida 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ayol</a:t>
            </a:r>
            <a:pPr indent="0" marL="0">
              <a:buNone/>
            </a:pPr>
            <a:r>
              <a:rPr lang="en-US" sz="23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+ 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</a:t>
            </a:r>
            <a:pPr indent="0" marL="0">
              <a:buNone/>
            </a:pPr>
            <a:r>
              <a:rPr lang="en-US" sz="23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+ 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shifokor</a:t>
            </a:r>
            <a:pPr indent="0" marL="0">
              <a:buNone/>
            </a:pPr>
            <a:r>
              <a:rPr lang="en-US" sz="2300" dirty="0">
                <a:solidFill>
                  <a:srgbClr val="CBD5E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nazorati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31520" y="4206240"/>
            <a:ext cx="1920240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440740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1" descr="C:\Users\user\AppData\Local\Temp\claude\C--Users-user\ecd937e0-60b9-45db-b06f-34b4379b9ec8\scratchpad\deck\assets\MdPregnantWoma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451256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81328" y="4407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Ayol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501091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Holatini kuzatadi va ma’lumot kiritadi.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834640" y="4206240"/>
            <a:ext cx="1920240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017520" y="440740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5" name="Image 2" descr="C:\Users\user\AppData\Local\Temp\claude\C--Users-user\ecd937e0-60b9-45db-b06f-34b4379b9ec8\scratchpad\deck\assets\LuBrainCircuit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676" y="4512564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84448" y="4407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17520" y="501091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Ma’lumotlarni tahlil qilishga yordam beradi.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937760" y="4206240"/>
            <a:ext cx="1920240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120640" y="440740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0" name="Image 3" descr="C:\Users\user\AppData\Local\Temp\claude\C--Users-user\ecd937e0-60b9-45db-b06f-34b4379b9ec8\scratchpad\deck\assets\LuStethoscop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796" y="4512564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87568" y="4407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Shifokor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120640" y="501091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Bemor holatini nazorat qiladi.</a:t>
            </a:r>
            <a:endParaRPr lang="en-US" sz="1150" dirty="0"/>
          </a:p>
        </p:txBody>
      </p:sp>
      <p:pic>
        <p:nvPicPr>
          <p:cNvPr id="23" name="Image 4" descr="C:\Users\user\AppData\Local\Temp\claude\C--Users-user\ecd937e0-60b9-45db-b06f-34b4379b9ec8\scratchpad\deck\assets\ra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868680"/>
            <a:ext cx="4846320" cy="4846320"/>
          </a:xfrm>
          <a:prstGeom prst="rect">
            <a:avLst/>
          </a:prstGeom>
        </p:spPr>
      </p:pic>
      <p:pic>
        <p:nvPicPr>
          <p:cNvPr id="24" name="Image 5" descr="C:\Users\user\AppData\Local\Temp\claude\C--Users-user\ecd937e0-60b9-45db-b06f-34b4379b9ec8\scratchpad\deck\assets\LuHeartPulse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9408" y="2944368"/>
            <a:ext cx="694944" cy="6949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428230" y="2130739"/>
            <a:ext cx="950976" cy="329184"/>
          </a:xfrm>
          <a:prstGeom prst="roundRect">
            <a:avLst>
              <a:gd name="adj" fmla="val 50000"/>
            </a:avLst>
          </a:prstGeom>
          <a:solidFill>
            <a:srgbClr val="2C7A50"/>
          </a:solidFill>
          <a:ln/>
          <a:effectLst>
            <a:outerShdw sx="100000" sy="100000" kx="0" ky="0" algn="bl" rotWithShape="0" blurRad="228600" dist="50800" dir="5400000">
              <a:srgbClr val="2C7A50">
                <a:alpha val="70000"/>
              </a:srgbClr>
            </a:outerShdw>
          </a:effectLst>
        </p:spPr>
      </p:sp>
      <p:sp>
        <p:nvSpPr>
          <p:cNvPr id="26" name="Text 18"/>
          <p:cNvSpPr txBox="1"/>
          <p:nvPr/>
        </p:nvSpPr>
        <p:spPr>
          <a:xfrm>
            <a:off x="7574534" y="2130739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YASHIL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10274554" y="2130739"/>
            <a:ext cx="950976" cy="329184"/>
          </a:xfrm>
          <a:prstGeom prst="roundRect">
            <a:avLst>
              <a:gd name="adj" fmla="val 50000"/>
            </a:avLst>
          </a:prstGeom>
          <a:solidFill>
            <a:srgbClr val="BE3A2B"/>
          </a:solidFill>
          <a:ln/>
          <a:effectLst>
            <a:outerShdw sx="100000" sy="100000" kx="0" ky="0" algn="bl" rotWithShape="0" blurRad="228600" dist="50800" dir="5400000">
              <a:srgbClr val="BE3A2B">
                <a:alpha val="70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10420858" y="2130739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QIZIL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8851392" y="4864608"/>
            <a:ext cx="950976" cy="329184"/>
          </a:xfrm>
          <a:prstGeom prst="roundRect">
            <a:avLst>
              <a:gd name="adj" fmla="val 50000"/>
            </a:avLst>
          </a:prstGeom>
          <a:solidFill>
            <a:srgbClr val="B97609"/>
          </a:solidFill>
          <a:ln/>
          <a:effectLst>
            <a:outerShdw sx="100000" sy="100000" kx="0" ky="0" algn="bl" rotWithShape="0" blurRad="228600" dist="50800" dir="5400000">
              <a:srgbClr val="B97609">
                <a:alpha val="70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8997696" y="486460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SARIQ</a:t>
            </a:r>
            <a:endParaRPr lang="en-US" sz="1000" dirty="0"/>
          </a:p>
        </p:txBody>
      </p:sp>
      <p:pic>
        <p:nvPicPr>
          <p:cNvPr id="31" name="Image 6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548640" y="6318504"/>
            <a:ext cx="237744" cy="237744"/>
          </a:xfrm>
          <a:prstGeom prst="roundRect">
            <a:avLst>
              <a:gd name="adj" fmla="val 21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</a:t>
            </a:r>
            <a:endParaRPr lang="en-US" sz="950" dirty="0"/>
          </a:p>
        </p:txBody>
      </p:sp>
      <p:sp>
        <p:nvSpPr>
          <p:cNvPr id="34" name="Text 25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/ 10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 ·  MUAMMO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Homiladorlik davrida ma’lumotlarni </a:t>
            </a:r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joyda va vaqtida</a:t>
            </a:r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kuzatish zarur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 rot="-420000">
            <a:off x="685800" y="3246120"/>
            <a:ext cx="16002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sx="100000" sy="100000" kx="0" ky="0" algn="bl" rotWithShape="0" blurRad="203200" dist="50800" dir="5400000">
              <a:srgbClr val="0F172A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●  </a:t>
            </a:r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Analizlar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 rot="300000">
            <a:off x="2606040" y="3063240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sx="100000" sy="100000" kx="0" ky="0" algn="bl" rotWithShape="0" blurRad="203200" dist="50800" dir="5400000">
              <a:srgbClr val="0F172A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●  </a:t>
            </a:r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Qon bosimi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 rot="240000">
            <a:off x="1325880" y="4069080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sx="100000" sy="100000" kx="0" ky="0" algn="bl" rotWithShape="0" blurRad="203200" dist="50800" dir="5400000">
              <a:srgbClr val="0F172A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●  </a:t>
            </a:r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Harorat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 rot="-360000">
            <a:off x="3063240" y="3977640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sx="100000" sy="100000" kx="0" ky="0" algn="bl" rotWithShape="0" blurRad="203200" dist="50800" dir="5400000">
              <a:srgbClr val="0F172A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●  </a:t>
            </a:r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Simptomlar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 rot="-180000">
            <a:off x="731520" y="493776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sx="100000" sy="100000" kx="0" ky="0" algn="bl" rotWithShape="0" blurRad="203200" dist="50800" dir="5400000">
              <a:srgbClr val="0F172A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●  </a:t>
            </a:r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Homiladorlik haftasi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 rot="480000">
            <a:off x="3429000" y="4983480"/>
            <a:ext cx="12344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sx="100000" sy="100000" kx="0" ky="0" algn="bl" rotWithShape="0" blurRad="203200" dist="50800" dir="5400000">
              <a:srgbClr val="0F172A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●  </a:t>
            </a:r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Og‘riq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669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Bugun: har bir ko‘rsatkich alohida joyda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914400"/>
            <a:ext cx="301752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118872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16" name="Image 0" descr="C:\Users\user\AppData\Local\Temp\claude\C--Users-user\ecd937e0-60b9-45db-b06f-34b4379b9ec8\scratchpad\deck\assets\LuFiles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67" y="1314907"/>
            <a:ext cx="296266" cy="29626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58952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Ma’lumot tarqoq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22860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Analizlar va tibbiy ma’lumotlar turli joylarda saqlanadi.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567928" y="914400"/>
            <a:ext cx="301752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842248" y="118872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2" name="Image 1" descr="C:\Users\user\AppData\Local\Temp\claude\C--Users-user\ecd937e0-60b9-45db-b06f-34b4379b9ec8\scratchpad\deck\assets\LuEyeOff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35" y="1314907"/>
            <a:ext cx="296266" cy="29626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762488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842248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Holat ko‘rinmaydi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8842248" y="22860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Shifokor bemorning kundalik holatini doimiy ko‘ra olmaydi.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394960" y="3456432"/>
            <a:ext cx="301752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669280" y="3730752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8" name="Image 2" descr="C:\Users\user\AppData\Local\Temp\claude\C--Users-user\ecd937e0-60b9-45db-b06f-34b4379b9ec8\scratchpad\deck\assets\LuThermometer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467" y="3856939"/>
            <a:ext cx="296266" cy="29626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589520" y="37307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5669280" y="44439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Uy o‘lchovlari yo‘qoladi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5669280" y="482803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Uy sharoitidagi qon bosimi, harorat va simptomlar muntazam qayd etilmasligi mumkin.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567928" y="3456432"/>
            <a:ext cx="301752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8842248" y="3730752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FBEAE8"/>
          </a:solidFill>
          <a:ln/>
        </p:spPr>
      </p:sp>
      <p:pic>
        <p:nvPicPr>
          <p:cNvPr id="34" name="Image 3" descr="C:\Users\user\AppData\Local\Temp\claude\C--Users-user\ecd937e0-60b9-45db-b06f-34b4379b9ec8\scratchpad\deck\assets\LuSiren-qiz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8435" y="3856939"/>
            <a:ext cx="296266" cy="296266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762488" y="37307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8842248" y="44439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E3A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daqiqa muhim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8842248" y="482803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Xavfli belgi paydo bo‘lganda tezkor aloqa muhim.</a:t>
            </a:r>
            <a:endParaRPr lang="en-US" sz="1250" dirty="0"/>
          </a:p>
        </p:txBody>
      </p:sp>
      <p:pic>
        <p:nvPicPr>
          <p:cNvPr id="38" name="Image 4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·  BIZNING YECHIM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Bitta tizim — ayol, AI va shifokor bog‘langan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8" name="Image 0" descr="C:\Users\user\AppData\Local\Temp\claude\C--Users-user\ecd937e0-60b9-45db-b06f-34b4379b9ec8\scratchpad\deck\assets\LuGlobe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664940"/>
            <a:ext cx="199705" cy="199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49513" y="1572768"/>
            <a:ext cx="4220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57276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792224" y="1572768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12" name="Image 1" descr="C:\Users\user\AppData\Local\Temp\claude\C--Users-user\ecd937e0-60b9-45db-b06f-34b4379b9ec8\scratchpad\deck\assets\FaTelegramPlane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664940"/>
            <a:ext cx="199705" cy="199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93097" y="1572768"/>
            <a:ext cx="1080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Telegram bot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364992" y="157276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3694176" y="1572768"/>
            <a:ext cx="7132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16" name="Image 2" descr="C:\Users\user\AppData\Local\Temp\claude\C--Users-user\ecd937e0-60b9-45db-b06f-34b4379b9ec8\scratchpad\deck\assets\LuSparkles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1664940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095049" y="1572768"/>
            <a:ext cx="2209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407408" y="157276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736592" y="157276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20" name="Image 3" descr="C:\Users\user\AppData\Local\Temp\claude\C--Users-user\ecd937e0-60b9-45db-b06f-34b4379b9ec8\scratchpad\deck\assets\LuLayoutDashboard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664940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37465" y="1572768"/>
            <a:ext cx="13822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Shifokor kabineti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2286000"/>
            <a:ext cx="332841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2960" y="256032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4" name="Image 4" descr="C:\Users\user\AppData\Local\Temp\claude\C--Users-user\ecd937e0-60b9-45db-b06f-34b4379b9ec8\scratchpad\deck\assets\MdPregnantWoman-bra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" y="2686507"/>
            <a:ext cx="296266" cy="29626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08760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AYOL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15087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kiritadi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8680" y="344728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1088136" y="333756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Analizlar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868680" y="381304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1088136" y="370332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 bosimi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868680" y="417880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1088136" y="406908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Temperatura</a:t>
            </a:r>
            <a:endParaRPr 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868680" y="454456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1088136" y="44348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Og‘riq va simptomlar</a:t>
            </a:r>
            <a:endParaRPr lang="en-US" sz="1350" dirty="0"/>
          </a:p>
        </p:txBody>
      </p:sp>
      <p:sp>
        <p:nvSpPr>
          <p:cNvPr id="35" name="Shape 28"/>
          <p:cNvSpPr/>
          <p:nvPr/>
        </p:nvSpPr>
        <p:spPr>
          <a:xfrm>
            <a:off x="868680" y="491032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1088136" y="480060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Homiladorlik haftasi</a:t>
            </a:r>
            <a:endParaRPr lang="en-US" sz="1350" dirty="0"/>
          </a:p>
        </p:txBody>
      </p:sp>
      <p:sp>
        <p:nvSpPr>
          <p:cNvPr id="37" name="Shape 30"/>
          <p:cNvSpPr/>
          <p:nvPr/>
        </p:nvSpPr>
        <p:spPr>
          <a:xfrm>
            <a:off x="4430268" y="2286000"/>
            <a:ext cx="3328416" cy="29260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79400" dist="50800" dir="5400000">
              <a:srgbClr val="2563EB">
                <a:alpha val="2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4704588" y="256032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2563EB"/>
          </a:solidFill>
          <a:ln/>
        </p:spPr>
      </p:sp>
      <p:pic>
        <p:nvPicPr>
          <p:cNvPr id="39" name="Image 5" descr="C:\Users\user\AppData\Local\Temp\claude\C--Users-user\ecd937e0-60b9-45db-b06f-34b4379b9ec8\scratchpad\deck\assets\LuBrainCircuit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0775" y="2686507"/>
            <a:ext cx="296266" cy="296266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5390388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5390388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tahlil qiladi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4750308" y="333756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Kiritilgan ma’lumotlarni tahlil qilishga yordam beradi.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4750308" y="41879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HOLAT BAHOSI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4750308" y="4526280"/>
            <a:ext cx="841248" cy="347472"/>
          </a:xfrm>
          <a:prstGeom prst="roundRect">
            <a:avLst>
              <a:gd name="adj" fmla="val 50000"/>
            </a:avLst>
          </a:prstGeom>
          <a:solidFill>
            <a:srgbClr val="2C7A50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4896612" y="452628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Yashil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5664708" y="4526280"/>
            <a:ext cx="841248" cy="347472"/>
          </a:xfrm>
          <a:prstGeom prst="roundRect">
            <a:avLst>
              <a:gd name="adj" fmla="val 50000"/>
            </a:avLst>
          </a:prstGeom>
          <a:solidFill>
            <a:srgbClr val="B97609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5811012" y="452628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Sariq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6579108" y="4526280"/>
            <a:ext cx="841248" cy="347472"/>
          </a:xfrm>
          <a:prstGeom prst="roundRect">
            <a:avLst>
              <a:gd name="adj" fmla="val 50000"/>
            </a:avLst>
          </a:prstGeom>
          <a:solidFill>
            <a:srgbClr val="BE3A2B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6725412" y="452628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Qizil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8311896" y="2286000"/>
            <a:ext cx="332841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8586216" y="256032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52" name="Image 6" descr="C:\Users\user\AppData\Local\Temp\claude\C--Users-user\ecd937e0-60b9-45db-b06f-34b4379b9ec8\scratchpad\deck\assets\LuStethoscope-bra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2403" y="2686507"/>
            <a:ext cx="296266" cy="296266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9272016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SHIFOKOR</a:t>
            </a:r>
            <a:endParaRPr lang="en-US" sz="1300" dirty="0"/>
          </a:p>
        </p:txBody>
      </p:sp>
      <p:sp>
        <p:nvSpPr>
          <p:cNvPr id="54" name="Text 45"/>
          <p:cNvSpPr txBox="1"/>
          <p:nvPr/>
        </p:nvSpPr>
        <p:spPr>
          <a:xfrm>
            <a:off x="9272016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nazorat qiladi</a:t>
            </a:r>
            <a:endParaRPr lang="en-US" sz="1200" dirty="0"/>
          </a:p>
        </p:txBody>
      </p:sp>
      <p:sp>
        <p:nvSpPr>
          <p:cNvPr id="55" name="Shape 46"/>
          <p:cNvSpPr/>
          <p:nvPr/>
        </p:nvSpPr>
        <p:spPr>
          <a:xfrm>
            <a:off x="8631936" y="344728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8851392" y="333756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Bemor profili</a:t>
            </a:r>
            <a:endParaRPr lang="en-US" sz="1350" dirty="0"/>
          </a:p>
        </p:txBody>
      </p:sp>
      <p:sp>
        <p:nvSpPr>
          <p:cNvPr id="57" name="Shape 48"/>
          <p:cNvSpPr/>
          <p:nvPr/>
        </p:nvSpPr>
        <p:spPr>
          <a:xfrm>
            <a:off x="8631936" y="381304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8851392" y="370332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Analizlar tarixi</a:t>
            </a:r>
            <a:endParaRPr lang="en-US" sz="1350" dirty="0"/>
          </a:p>
        </p:txBody>
      </p:sp>
      <p:sp>
        <p:nvSpPr>
          <p:cNvPr id="59" name="Shape 50"/>
          <p:cNvSpPr/>
          <p:nvPr/>
        </p:nvSpPr>
        <p:spPr>
          <a:xfrm>
            <a:off x="8631936" y="417880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0" name="Text 51"/>
          <p:cNvSpPr txBox="1"/>
          <p:nvPr/>
        </p:nvSpPr>
        <p:spPr>
          <a:xfrm>
            <a:off x="8851392" y="406908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Holat dinamikasi</a:t>
            </a:r>
            <a:endParaRPr lang="en-US" sz="1350" dirty="0"/>
          </a:p>
        </p:txBody>
      </p:sp>
      <p:sp>
        <p:nvSpPr>
          <p:cNvPr id="61" name="Shape 52"/>
          <p:cNvSpPr/>
          <p:nvPr/>
        </p:nvSpPr>
        <p:spPr>
          <a:xfrm>
            <a:off x="8631936" y="454456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2" name="Text 53"/>
          <p:cNvSpPr txBox="1"/>
          <p:nvPr/>
        </p:nvSpPr>
        <p:spPr>
          <a:xfrm>
            <a:off x="8851392" y="44348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Xabarlar</a:t>
            </a:r>
            <a:endParaRPr lang="en-US" sz="1350" dirty="0"/>
          </a:p>
        </p:txBody>
      </p:sp>
      <p:sp>
        <p:nvSpPr>
          <p:cNvPr id="63" name="Shape 54"/>
          <p:cNvSpPr/>
          <p:nvPr/>
        </p:nvSpPr>
        <p:spPr>
          <a:xfrm>
            <a:off x="3942207" y="3538728"/>
            <a:ext cx="420624" cy="420624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03200" dist="50800" dir="5400000">
              <a:srgbClr val="2563EB">
                <a:alpha val="25000"/>
              </a:srgbClr>
            </a:outerShdw>
          </a:effectLst>
        </p:spPr>
      </p:sp>
      <p:pic>
        <p:nvPicPr>
          <p:cNvPr id="64" name="Image 7" descr="C:\Users\user\AppData\Local\Temp\claude\C--Users-user\ecd937e0-60b9-45db-b06f-34b4379b9ec8\scratchpad\deck\assets\LuArrowRight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3647" y="3630168"/>
            <a:ext cx="237744" cy="237744"/>
          </a:xfrm>
          <a:prstGeom prst="rect">
            <a:avLst/>
          </a:prstGeom>
        </p:spPr>
      </p:pic>
      <p:sp>
        <p:nvSpPr>
          <p:cNvPr id="65" name="Shape 55"/>
          <p:cNvSpPr/>
          <p:nvPr/>
        </p:nvSpPr>
        <p:spPr>
          <a:xfrm>
            <a:off x="7823835" y="3538728"/>
            <a:ext cx="420624" cy="420624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03200" dist="50800" dir="5400000">
              <a:srgbClr val="2563EB">
                <a:alpha val="25000"/>
              </a:srgbClr>
            </a:outerShdw>
          </a:effectLst>
        </p:spPr>
      </p:sp>
      <p:pic>
        <p:nvPicPr>
          <p:cNvPr id="66" name="Image 8" descr="C:\Users\user\AppData\Local\Temp\claude\C--Users-user\ecd937e0-60b9-45db-b06f-34b4379b9ec8\scratchpad\deck\assets\LuArrowRight-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5275" y="3630168"/>
            <a:ext cx="237744" cy="237744"/>
          </a:xfrm>
          <a:prstGeom prst="rect">
            <a:avLst/>
          </a:prstGeom>
        </p:spPr>
      </p:pic>
      <p:sp>
        <p:nvSpPr>
          <p:cNvPr id="67" name="Shape 56"/>
          <p:cNvSpPr/>
          <p:nvPr/>
        </p:nvSpPr>
        <p:spPr>
          <a:xfrm>
            <a:off x="548640" y="5440680"/>
            <a:ext cx="11091672" cy="658368"/>
          </a:xfrm>
          <a:prstGeom prst="roundRect">
            <a:avLst>
              <a:gd name="adj" fmla="val 19444"/>
            </a:avLst>
          </a:prstGeom>
          <a:solidFill>
            <a:srgbClr val="FBEAE8"/>
          </a:solidFill>
          <a:ln/>
        </p:spPr>
      </p:sp>
      <p:sp>
        <p:nvSpPr>
          <p:cNvPr id="68" name="Shape 57"/>
          <p:cNvSpPr/>
          <p:nvPr/>
        </p:nvSpPr>
        <p:spPr>
          <a:xfrm>
            <a:off x="713232" y="5541264"/>
            <a:ext cx="457200" cy="457200"/>
          </a:xfrm>
          <a:prstGeom prst="ellipse">
            <a:avLst/>
          </a:prstGeom>
          <a:solidFill>
            <a:srgbClr val="BE3A2B"/>
          </a:solidFill>
          <a:ln/>
        </p:spPr>
      </p:sp>
      <p:pic>
        <p:nvPicPr>
          <p:cNvPr id="69" name="Image 9" descr="C:\Users\user\AppData\Local\Temp\claude\C--Users-user\ecd937e0-60b9-45db-b06f-34b4379b9ec8\scratchpad\deck\assets\LuSiren-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388" y="5646420"/>
            <a:ext cx="246888" cy="246888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1325880" y="54406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E3A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TEZKOR    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Qizil holatda shifokorga xabar va zudlik bilan tibbiy yordamga yo‘naltirish.</a:t>
            </a:r>
            <a:endParaRPr lang="en-US" sz="1450" dirty="0"/>
          </a:p>
        </p:txBody>
      </p:sp>
      <p:pic>
        <p:nvPicPr>
          <p:cNvPr id="71" name="Image 10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72" name="Text 59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</a:t>
            </a:r>
            <a:endParaRPr lang="en-US" sz="950" dirty="0"/>
          </a:p>
        </p:txBody>
      </p:sp>
      <p:sp>
        <p:nvSpPr>
          <p:cNvPr id="73" name="Text 60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457200"/>
            <a:ext cx="3063240" cy="5760720"/>
          </a:xfrm>
          <a:prstGeom prst="roundRect">
            <a:avLst>
              <a:gd name="adj" fmla="val 1253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381000" dist="127000" dir="5400000">
              <a:srgbClr val="0F172A">
                <a:alpha val="2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78408" y="566928"/>
            <a:ext cx="2843784" cy="5541264"/>
          </a:xfrm>
          <a:prstGeom prst="roundRect">
            <a:avLst>
              <a:gd name="adj" fmla="val 1061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" y="1280160"/>
            <a:ext cx="2843784" cy="4343400"/>
          </a:xfrm>
          <a:prstGeom prst="rect">
            <a:avLst/>
          </a:prstGeom>
          <a:solidFill>
            <a:srgbClr val="E7EEF7"/>
          </a:solidFill>
          <a:ln/>
        </p:spPr>
      </p:sp>
      <p:pic>
        <p:nvPicPr>
          <p:cNvPr id="5" name="Image 0" descr="C:\Users\user\AppData\Local\Temp\claude\C--Users-user\ecd937e0-60b9-45db-b06f-34b4379b9ec8\scratchpad\deck\assets\logo-circle-1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589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55064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Muhim Davr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55064" y="969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115568" y="1463040"/>
            <a:ext cx="22860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225296" y="1463040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Ulandingiz. Endi o‘zingizni qanday his qilayotganingizni shu yerga yozishingiz mumkin.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96312" y="2313432"/>
            <a:ext cx="118872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606040" y="231343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bosim 120/80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115568" y="2798064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225296" y="2798064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Xabaringiz qabul qilindi va akusherkangizga yuborildi.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115568" y="3474720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225296" y="347472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 bosimi ko‘rsatkichingiz ham akusherkangizga yuborildi.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115568" y="4151376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1225296" y="4151376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Eslatma: 24.09.2026, payshanba kuni ko‘rigingiz bor (2 kundan keyin).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5650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Xabar yozing…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310128" y="56692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0" name="Image 1" descr="C:\Users\user\AppData\Local\Temp\claude\C--Users-user\ecd937e0-60b9-45db-b06f-34b4379b9ec8\scratchpad\deck\assets\FaTelegramPlan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5742432"/>
            <a:ext cx="219456" cy="21945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063240" y="4873752"/>
            <a:ext cx="224028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54000" dist="50800" dir="5400000">
              <a:srgbClr val="0F172A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0" y="500176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2" descr="C:\Users\user\AppData\Local\Temp\claude\C--Users-user\ecd937e0-60b9-45db-b06f-34b4379b9ec8\scratchpad\deck\assets\FaTelegramPlan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556" y="5106924"/>
            <a:ext cx="246888" cy="24688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749040" y="4956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Ilova shart emas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3749040" y="5212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yetarli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76072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27" name="Shape 22"/>
          <p:cNvSpPr/>
          <p:nvPr/>
        </p:nvSpPr>
        <p:spPr>
          <a:xfrm>
            <a:off x="591982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28" name="Shape 23"/>
          <p:cNvSpPr/>
          <p:nvPr/>
        </p:nvSpPr>
        <p:spPr>
          <a:xfrm>
            <a:off x="607893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345936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 ·  TELEGRAM BOT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5760720" y="896112"/>
            <a:ext cx="5897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Ayolga alohida ilova o‘rnatish shart emas — hammasi Telegram orqali</a:t>
            </a:r>
            <a:endParaRPr lang="en-US" sz="2800" dirty="0"/>
          </a:p>
        </p:txBody>
      </p:sp>
      <p:sp>
        <p:nvSpPr>
          <p:cNvPr id="31" name="Shape 26"/>
          <p:cNvSpPr/>
          <p:nvPr/>
        </p:nvSpPr>
        <p:spPr>
          <a:xfrm>
            <a:off x="5760720" y="2377440"/>
            <a:ext cx="286207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961888" y="262432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3" name="Image 3" descr="C:\Users\user\AppData\Local\Temp\claude\C--Users-user\ecd937e0-60b9-45db-b06f-34b4379b9ec8\scratchpad\deck\assets\MdPregnantWoman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663" y="2742103"/>
            <a:ext cx="276515" cy="27651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629400" y="24688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Homiladorlik haftasi va muhim ma’lumotlarni ko‘rish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8778240" y="2377440"/>
            <a:ext cx="286207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8979408" y="262432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7" name="Image 4" descr="C:\Users\user\AppData\Local\Temp\claude\C--Users-user\ecd937e0-60b9-45db-b06f-34b4379b9ec8\scratchpad\deck\assets\LuActivity-bra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183" y="2742103"/>
            <a:ext cx="276515" cy="27651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646920" y="24688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Qon bosimi va haroratni kiritish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5760720" y="3566160"/>
            <a:ext cx="286207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5961888" y="381304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41" name="Image 5" descr="C:\Users\user\AppData\Local\Temp\claude\C--Users-user\ecd937e0-60b9-45db-b06f-34b4379b9ec8\scratchpad\deck\assets\LuHeartPulse-bra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9663" y="3930823"/>
            <a:ext cx="276515" cy="27651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629400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Holat, og‘riq va shikoyatlarni yozish</a:t>
            </a:r>
            <a:endParaRPr lang="en-US" sz="1300" dirty="0"/>
          </a:p>
        </p:txBody>
      </p:sp>
      <p:sp>
        <p:nvSpPr>
          <p:cNvPr id="43" name="Shape 35"/>
          <p:cNvSpPr/>
          <p:nvPr/>
        </p:nvSpPr>
        <p:spPr>
          <a:xfrm>
            <a:off x="8778240" y="3566160"/>
            <a:ext cx="286207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8979408" y="381304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45" name="Image 6" descr="C:\Users\user\AppData\Local\Temp\claude\C--Users-user\ecd937e0-60b9-45db-b06f-34b4379b9ec8\scratchpad\deck\assets\LuFileText-bra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7183" y="3930823"/>
            <a:ext cx="276515" cy="276515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9646920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Analiz natijalarini bazada saqlash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5760720" y="4754880"/>
            <a:ext cx="286207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5961888" y="500176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49" name="Image 7" descr="C:\Users\user\AppData\Local\Temp\claude\C--Users-user\ecd937e0-60b9-45db-b06f-34b4379b9ec8\scratchpad\deck\assets\LuAlarmClock-bra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9663" y="5119543"/>
            <a:ext cx="276515" cy="276515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6629400" y="4846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Nazorat va tekshiruvlar uchun eslatmalar</a:t>
            </a:r>
            <a:endParaRPr lang="en-US" sz="1300" dirty="0"/>
          </a:p>
        </p:txBody>
      </p:sp>
      <p:sp>
        <p:nvSpPr>
          <p:cNvPr id="51" name="Shape 41"/>
          <p:cNvSpPr/>
          <p:nvPr/>
        </p:nvSpPr>
        <p:spPr>
          <a:xfrm>
            <a:off x="8778240" y="4754880"/>
            <a:ext cx="286207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52" name="Shape 42"/>
          <p:cNvSpPr/>
          <p:nvPr/>
        </p:nvSpPr>
        <p:spPr>
          <a:xfrm>
            <a:off x="8979408" y="500176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53" name="Image 8" descr="C:\Users\user\AppData\Local\Temp\claude\C--Users-user\ecd937e0-60b9-45db-b06f-34b4379b9ec8\scratchpad\deck\assets\LuBot-bran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7183" y="5119543"/>
            <a:ext cx="276515" cy="276515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9646920" y="4846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yordamchisi bilan muloqot</a:t>
            </a:r>
            <a:endParaRPr lang="en-US" sz="1300" dirty="0"/>
          </a:p>
        </p:txBody>
      </p:sp>
      <p:pic>
        <p:nvPicPr>
          <p:cNvPr id="55" name="Image 9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</a:t>
            </a:r>
            <a:endParaRPr lang="en-US" sz="950" dirty="0"/>
          </a:p>
        </p:txBody>
      </p:sp>
      <p:sp>
        <p:nvSpPr>
          <p:cNvPr id="57" name="Text 45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·  HOLATNI BAHOLASH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Ranglar foydalanuvchiga keyingi qadamni tushunishga yordam beradi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474720" cy="3840480"/>
          </a:xfrm>
          <a:prstGeom prst="roundRect">
            <a:avLst>
              <a:gd name="adj" fmla="val 5263"/>
            </a:avLst>
          </a:prstGeom>
          <a:solidFill>
            <a:srgbClr val="E7F3ED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423160"/>
            <a:ext cx="1097280" cy="1097280"/>
          </a:xfrm>
          <a:prstGeom prst="ellipse">
            <a:avLst/>
          </a:prstGeom>
          <a:solidFill>
            <a:srgbClr val="2C7A5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514600"/>
            <a:ext cx="914400" cy="914400"/>
          </a:xfrm>
          <a:prstGeom prst="ellipse">
            <a:avLst/>
          </a:prstGeom>
          <a:solidFill>
            <a:srgbClr val="2C7A50"/>
          </a:solidFill>
          <a:ln/>
          <a:effectLst>
            <a:outerShdw sx="100000" sy="100000" kx="0" ky="0" algn="bl" rotWithShape="0" blurRad="203200" dist="38100" dir="5400000">
              <a:srgbClr val="2C7A50">
                <a:alpha val="45000"/>
              </a:srgbClr>
            </a:outerShdw>
          </a:effectLst>
        </p:spPr>
      </p:sp>
      <p:pic>
        <p:nvPicPr>
          <p:cNvPr id="10" name="Image 0" descr="C:\Users\user\AppData\Local\Temp\claude\C--Users-user\ecd937e0-60b9-45db-b06f-34b4379b9ec8\scratchpad\deck\assets\LuCircle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432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10896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2C7A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00" kern="0" dirty="0">
                <a:solidFill>
                  <a:srgbClr val="2C7A5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YASHIL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178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Holat yaxshi.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454456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Rejalashtirilgan kuzatuv davom ettiriladi.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54406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C7A50"/>
          </a:solidFill>
          <a:ln/>
        </p:spPr>
      </p:sp>
      <p:pic>
        <p:nvPicPr>
          <p:cNvPr id="16" name="Image 1" descr="C:\Users\user\AppData\Local\Temp\claude\C--Users-user\ecd937e0-60b9-45db-b06f-34b4379b9ec8\scratchpad\deck\assets\LuCalendarHear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5528462"/>
            <a:ext cx="190195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60043" y="5440680"/>
            <a:ext cx="12545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Rejali kuzatuv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357116" y="2148840"/>
            <a:ext cx="3474720" cy="3840480"/>
          </a:xfrm>
          <a:prstGeom prst="roundRect">
            <a:avLst>
              <a:gd name="adj" fmla="val 5263"/>
            </a:avLst>
          </a:prstGeom>
          <a:solidFill>
            <a:srgbClr val="FCF1DF"/>
          </a:solidFill>
          <a:ln/>
        </p:spPr>
      </p:sp>
      <p:sp>
        <p:nvSpPr>
          <p:cNvPr id="19" name="Shape 15"/>
          <p:cNvSpPr/>
          <p:nvPr/>
        </p:nvSpPr>
        <p:spPr>
          <a:xfrm>
            <a:off x="4631436" y="2423160"/>
            <a:ext cx="1097280" cy="1097280"/>
          </a:xfrm>
          <a:prstGeom prst="ellipse">
            <a:avLst/>
          </a:prstGeom>
          <a:solidFill>
            <a:srgbClr val="B97609">
              <a:alpha val="18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4722876" y="2514600"/>
            <a:ext cx="914400" cy="914400"/>
          </a:xfrm>
          <a:prstGeom prst="ellipse">
            <a:avLst/>
          </a:prstGeom>
          <a:solidFill>
            <a:srgbClr val="B97609"/>
          </a:solidFill>
          <a:ln/>
          <a:effectLst>
            <a:outerShdw sx="100000" sy="100000" kx="0" ky="0" algn="bl" rotWithShape="0" blurRad="203200" dist="38100" dir="5400000">
              <a:srgbClr val="B97609">
                <a:alpha val="45000"/>
              </a:srgbClr>
            </a:outerShdw>
          </a:effectLst>
        </p:spPr>
      </p:sp>
      <p:pic>
        <p:nvPicPr>
          <p:cNvPr id="21" name="Image 2" descr="C:\Users\user\AppData\Local\Temp\claude\C--Users-user\ecd937e0-60b9-45db-b06f-34b4379b9ec8\scratchpad\deck\assets\LuTriangleAlert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476" y="274320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17436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B976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677156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00" kern="0" dirty="0">
                <a:solidFill>
                  <a:srgbClr val="B9760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SARIQ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4677156" y="4178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Kuzatuv kerak.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4677156" y="454456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Shifokor bilan bog‘lanish yoki qo‘shimcha maslahat tavsiya qilinadi.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677156" y="54406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B97609"/>
          </a:solidFill>
          <a:ln/>
        </p:spPr>
      </p:sp>
      <p:pic>
        <p:nvPicPr>
          <p:cNvPr id="27" name="Image 3" descr="C:\Users\user\AppData\Local\Temp\claude\C--Users-user\ecd937e0-60b9-45db-b06f-34b4379b9ec8\scratchpad\deck\assets\LuStethoscop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172" y="5528462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068519" y="5440680"/>
            <a:ext cx="1528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Shifokor maslahati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8165592" y="2148840"/>
            <a:ext cx="3474720" cy="3840480"/>
          </a:xfrm>
          <a:prstGeom prst="roundRect">
            <a:avLst>
              <a:gd name="adj" fmla="val 5263"/>
            </a:avLst>
          </a:prstGeom>
          <a:solidFill>
            <a:srgbClr val="FBEAE8"/>
          </a:solidFill>
          <a:ln/>
        </p:spPr>
      </p:sp>
      <p:sp>
        <p:nvSpPr>
          <p:cNvPr id="30" name="Shape 24"/>
          <p:cNvSpPr/>
          <p:nvPr/>
        </p:nvSpPr>
        <p:spPr>
          <a:xfrm>
            <a:off x="8439912" y="2423160"/>
            <a:ext cx="1097280" cy="1097280"/>
          </a:xfrm>
          <a:prstGeom prst="ellipse">
            <a:avLst/>
          </a:prstGeom>
          <a:solidFill>
            <a:srgbClr val="BE3A2B">
              <a:alpha val="18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8531352" y="2514600"/>
            <a:ext cx="914400" cy="914400"/>
          </a:xfrm>
          <a:prstGeom prst="ellipse">
            <a:avLst/>
          </a:prstGeom>
          <a:solidFill>
            <a:srgbClr val="BE3A2B"/>
          </a:solidFill>
          <a:ln/>
          <a:effectLst>
            <a:outerShdw sx="100000" sy="100000" kx="0" ky="0" algn="bl" rotWithShape="0" blurRad="203200" dist="38100" dir="5400000">
              <a:srgbClr val="BE3A2B">
                <a:alpha val="45000"/>
              </a:srgbClr>
            </a:outerShdw>
          </a:effectLst>
        </p:spPr>
      </p:sp>
      <p:pic>
        <p:nvPicPr>
          <p:cNvPr id="32" name="Image 4" descr="C:\Users\user\AppData\Local\Temp\claude\C--Users-user\ecd937e0-60b9-45db-b06f-34b4379b9ec8\scratchpad\deck\assets\LuSiren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9952" y="274320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725912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BE3A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8485632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00" kern="0" dirty="0">
                <a:solidFill>
                  <a:srgbClr val="BE3A2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QIZIL</a:t>
            </a:r>
            <a:endParaRPr lang="en-US" sz="2400" dirty="0"/>
          </a:p>
        </p:txBody>
      </p:sp>
      <p:sp>
        <p:nvSpPr>
          <p:cNvPr id="35" name="Text 28"/>
          <p:cNvSpPr txBox="1"/>
          <p:nvPr/>
        </p:nvSpPr>
        <p:spPr>
          <a:xfrm>
            <a:off x="8485632" y="4178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Xavf belgisi.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8485632" y="454456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Tizim shifokorga tezkor xabar beradi va shoshilinch tibbiy yordamga murojaat qilishni ko‘rsatadi.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8485632" y="54406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BE3A2B"/>
          </a:solidFill>
          <a:ln/>
        </p:spPr>
      </p:sp>
      <p:pic>
        <p:nvPicPr>
          <p:cNvPr id="38" name="Image 5" descr="C:\Users\user\AppData\Local\Temp\claude\C--Users-user\ecd937e0-60b9-45db-b06f-34b4379b9ec8\scratchpad\deck\assets\LuBellRing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648" y="5528462"/>
            <a:ext cx="190195" cy="19019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876995" y="5440680"/>
            <a:ext cx="19403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Shifokorga tezkor xabar</a:t>
            </a:r>
            <a:endParaRPr lang="en-US" sz="1100" dirty="0"/>
          </a:p>
        </p:txBody>
      </p:sp>
      <p:pic>
        <p:nvPicPr>
          <p:cNvPr id="40" name="Image 6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</a:t>
            </a:r>
            <a:endParaRPr lang="en-US" sz="950" dirty="0"/>
          </a:p>
        </p:txBody>
      </p:sp>
      <p:sp>
        <p:nvSpPr>
          <p:cNvPr id="42" name="Text 33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 ·  SHIFOKOR KABINETI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Bemorning ma’lumotlari yagona profilga bog‘lanadi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2563EB"/>
          </a:solidFill>
          <a:ln/>
        </p:spPr>
      </p:sp>
      <p:pic>
        <p:nvPicPr>
          <p:cNvPr id="8" name="Image 0" descr="C:\Users\user\AppData\Local\Temp\claude\C--Users-user\ecd937e0-60b9-45db-b06f-34b4379b9ec8\scratchpad\deck\assets\LuUserRoun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596530"/>
            <a:ext cx="256764" cy="2567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07008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Bemor profili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2743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Homiladorlik haftasi, analizlar tarixi, qon bosimi dinamikasi, temperatura, simptomlar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2563EB"/>
          </a:solidFill>
          <a:ln/>
        </p:spPr>
      </p:sp>
      <p:pic>
        <p:nvPicPr>
          <p:cNvPr id="12" name="Image 1" descr="C:\Users\user\AppData\Local\Temp\claude\C--Users-user\ecd937e0-60b9-45db-b06f-34b4379b9ec8\scratchpad\deck\assets\LuChartLin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584082"/>
            <a:ext cx="256764" cy="2567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07008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207008" y="37307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  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Kuzatuv kerak   </a:t>
            </a:r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Xavf signali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Tarix bo‘yicha o‘zgarishlarni ko‘rish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462272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2563EB"/>
          </a:solidFill>
          <a:ln/>
        </p:spPr>
      </p:sp>
      <p:pic>
        <p:nvPicPr>
          <p:cNvPr id="16" name="Image 2" descr="C:\Users\user\AppData\Local\Temp\claude\C--Users-user\ecd937e0-60b9-45db-b06f-34b4379b9ec8\scratchpad\deck\assets\LuBellR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2" y="4571634"/>
            <a:ext cx="256764" cy="2567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07008" y="4425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Tezkor aloqa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207008" y="47183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Qizil holatda bildirishnoma — shifokor bemor bilan bog‘lanadi.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468112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pic>
        <p:nvPicPr>
          <p:cNvPr id="20" name="Image 3" descr="C:\Users\user\AppData\Local\Temp\claude\C--Users-user\ecd937e0-60b9-45db-b06f-34b4379b9ec8\scratchpad\deck\assets\LuShieldCheck-brand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57784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87552" y="5468112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shifokorni almashtirmaydi.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257800" y="777240"/>
            <a:ext cx="6382512" cy="5120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0" dist="1778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458968" y="91440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4" name="Shape 18"/>
          <p:cNvSpPr/>
          <p:nvPr/>
        </p:nvSpPr>
        <p:spPr>
          <a:xfrm>
            <a:off x="5641848" y="91440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" name="Shape 19"/>
          <p:cNvSpPr/>
          <p:nvPr/>
        </p:nvSpPr>
        <p:spPr>
          <a:xfrm>
            <a:off x="5824728" y="91440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6" name="Shape 20"/>
          <p:cNvSpPr/>
          <p:nvPr/>
        </p:nvSpPr>
        <p:spPr>
          <a:xfrm>
            <a:off x="6720840" y="850392"/>
            <a:ext cx="347472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720840" y="850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Muhim Davr  ·  Shifokor kabineti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5257800" y="1161288"/>
            <a:ext cx="6382512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257800" y="1161288"/>
            <a:ext cx="1417320" cy="4608576"/>
          </a:xfrm>
          <a:prstGeom prst="rect">
            <a:avLst/>
          </a:prstGeom>
          <a:solidFill>
            <a:srgbClr val="F7F9FB"/>
          </a:solidFill>
          <a:ln/>
        </p:spPr>
      </p:sp>
      <p:pic>
        <p:nvPicPr>
          <p:cNvPr id="30" name="Image 4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2392" y="1325880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733288" y="1325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Muhim Davr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5458968" y="1737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5458968" y="21031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Reyestr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5458968" y="2468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Yo‘llanmalar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291072" y="2523744"/>
            <a:ext cx="237744" cy="182880"/>
          </a:xfrm>
          <a:prstGeom prst="roundRect">
            <a:avLst>
              <a:gd name="adj" fmla="val 50000"/>
            </a:avLst>
          </a:prstGeom>
          <a:solidFill>
            <a:srgbClr val="BE3A2B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6437376" y="2523744"/>
            <a:ext cx="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5349240" y="283464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5458968" y="2834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Bemorlar</a:t>
            </a:r>
            <a:endParaRPr lang="en-US" sz="950" dirty="0"/>
          </a:p>
        </p:txBody>
      </p:sp>
      <p:sp>
        <p:nvSpPr>
          <p:cNvPr id="39" name="Text 32"/>
          <p:cNvSpPr txBox="1"/>
          <p:nvPr/>
        </p:nvSpPr>
        <p:spPr>
          <a:xfrm>
            <a:off x="690372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Bemor profili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6903720" y="15087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Namunaviy bemor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6903720" y="18288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28-hafta  ·  Urganch tumani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10543032" y="155448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CF1DF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10689336" y="155448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76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SARIQ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6903720" y="2194560"/>
            <a:ext cx="141122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031736" y="2286000"/>
            <a:ext cx="122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 bosimi</a:t>
            </a:r>
            <a:endParaRPr lang="en-US" sz="850" dirty="0"/>
          </a:p>
        </p:txBody>
      </p:sp>
      <p:sp>
        <p:nvSpPr>
          <p:cNvPr id="46" name="Text 39"/>
          <p:cNvSpPr txBox="1"/>
          <p:nvPr/>
        </p:nvSpPr>
        <p:spPr>
          <a:xfrm>
            <a:off x="7031736" y="2505456"/>
            <a:ext cx="122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138/88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mm Hg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452104" y="2194560"/>
            <a:ext cx="141122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8580120" y="2286000"/>
            <a:ext cx="122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Harorat</a:t>
            </a:r>
            <a:endParaRPr lang="en-US" sz="850" dirty="0"/>
          </a:p>
        </p:txBody>
      </p:sp>
      <p:sp>
        <p:nvSpPr>
          <p:cNvPr id="49" name="Text 42"/>
          <p:cNvSpPr txBox="1"/>
          <p:nvPr/>
        </p:nvSpPr>
        <p:spPr>
          <a:xfrm>
            <a:off x="8580120" y="2505456"/>
            <a:ext cx="122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36,9°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</a:t>
            </a:r>
            <a:endParaRPr lang="en-US" sz="1700" dirty="0"/>
          </a:p>
        </p:txBody>
      </p:sp>
      <p:sp>
        <p:nvSpPr>
          <p:cNvPr id="50" name="Shape 43"/>
          <p:cNvSpPr/>
          <p:nvPr/>
        </p:nvSpPr>
        <p:spPr>
          <a:xfrm>
            <a:off x="10000488" y="2194560"/>
            <a:ext cx="141122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10128504" y="2286000"/>
            <a:ext cx="122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Gemoglobin</a:t>
            </a:r>
            <a:endParaRPr lang="en-US" sz="850" dirty="0"/>
          </a:p>
        </p:txBody>
      </p:sp>
      <p:sp>
        <p:nvSpPr>
          <p:cNvPr id="52" name="Text 45"/>
          <p:cNvSpPr txBox="1"/>
          <p:nvPr/>
        </p:nvSpPr>
        <p:spPr>
          <a:xfrm>
            <a:off x="10128504" y="2505456"/>
            <a:ext cx="122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g/L</a:t>
            </a:r>
            <a:endParaRPr lang="en-US" sz="1700" dirty="0"/>
          </a:p>
        </p:txBody>
      </p:sp>
      <p:graphicFrame>
        <p:nvGraphicFramePr>
          <p:cNvPr id="53" name="Chart 0" descr=""/>
          <p:cNvGraphicFramePr/>
          <p:nvPr/>
        </p:nvGraphicFramePr>
        <p:xfrm>
          <a:off x="6858000" y="3108960"/>
          <a:ext cx="4599432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4" name="Shape 46"/>
          <p:cNvSpPr/>
          <p:nvPr/>
        </p:nvSpPr>
        <p:spPr>
          <a:xfrm>
            <a:off x="8732520" y="5230368"/>
            <a:ext cx="283464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304800" dist="101600" dir="5400000">
              <a:srgbClr val="000000">
                <a:alpha val="35000"/>
              </a:srgbClr>
            </a:outerShdw>
          </a:effectLst>
        </p:spPr>
      </p:sp>
      <p:sp>
        <p:nvSpPr>
          <p:cNvPr id="55" name="Shape 47"/>
          <p:cNvSpPr/>
          <p:nvPr/>
        </p:nvSpPr>
        <p:spPr>
          <a:xfrm>
            <a:off x="8869680" y="5385816"/>
            <a:ext cx="457200" cy="457200"/>
          </a:xfrm>
          <a:prstGeom prst="ellipse">
            <a:avLst/>
          </a:prstGeom>
          <a:solidFill>
            <a:srgbClr val="BE3A2B"/>
          </a:solidFill>
          <a:ln/>
        </p:spPr>
      </p:sp>
      <p:pic>
        <p:nvPicPr>
          <p:cNvPr id="56" name="Image 5" descr="C:\Users\user\AppData\Local\Temp\claude\C--Users-user\ecd937e0-60b9-45db-b06f-34b4379b9ec8\scratchpad\deck\assets\LuBellRing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4836" y="5490972"/>
            <a:ext cx="246888" cy="246888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9436608" y="5330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Yangi yo‘llanma</a:t>
            </a:r>
            <a:endParaRPr lang="en-US" sz="1200" dirty="0"/>
          </a:p>
        </p:txBody>
      </p:sp>
      <p:sp>
        <p:nvSpPr>
          <p:cNvPr id="58" name="Text 49"/>
          <p:cNvSpPr txBox="1"/>
          <p:nvPr/>
        </p:nvSpPr>
        <p:spPr>
          <a:xfrm>
            <a:off x="9436608" y="5596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Qizil zona  ·  Telegram orqali</a:t>
            </a:r>
            <a:endParaRPr lang="en-US" sz="950" dirty="0"/>
          </a:p>
        </p:txBody>
      </p:sp>
      <p:pic>
        <p:nvPicPr>
          <p:cNvPr id="59" name="Image 6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60" name="Shape 50"/>
          <p:cNvSpPr/>
          <p:nvPr/>
        </p:nvSpPr>
        <p:spPr>
          <a:xfrm>
            <a:off x="548640" y="6318504"/>
            <a:ext cx="237744" cy="237744"/>
          </a:xfrm>
          <a:prstGeom prst="roundRect">
            <a:avLst>
              <a:gd name="adj" fmla="val 21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</a:t>
            </a:r>
            <a:endParaRPr lang="en-US" sz="950" dirty="0"/>
          </a:p>
        </p:txBody>
      </p:sp>
      <p:sp>
        <p:nvSpPr>
          <p:cNvPr id="62" name="Text 52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 ·  RAQOBATCHILAR VA FARQLANISH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Biz faqat ilova emas — ayol va shifokorni bog‘laymiz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179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Bozorda homiladorlikni kuzatuvchi va AI yordamchi xizmatlar mavjud.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246120" cy="361188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514600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F1F5F9"/>
          </a:solidFill>
          <a:ln/>
        </p:spPr>
      </p:sp>
      <p:pic>
        <p:nvPicPr>
          <p:cNvPr id="10" name="Image 0" descr="C:\Users\user\AppData\Local\Temp\claude\C--Users-user\ecd937e0-60b9-45db-b06f-34b4379b9ec8\scratchpad\deck\assets\LuSmartphone-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35" y="2632375"/>
            <a:ext cx="276515" cy="27651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3200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Dugonam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6576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Hayz sikli, homiladorlik, chilla va AI yordamchi funksiyalari.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22960" y="490118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9264" y="4901184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Hayz sikli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74520" y="490118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020824" y="4901184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Homiladorlik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528523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69264" y="528523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Chilla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554480" y="52852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700784" y="528523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yordamchi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023360" y="2240280"/>
            <a:ext cx="3246120" cy="361188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97680" y="2514600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F1F5F9"/>
          </a:solidFill>
          <a:ln/>
        </p:spPr>
      </p:sp>
      <p:pic>
        <p:nvPicPr>
          <p:cNvPr id="23" name="Image 1" descr="C:\Users\user\AppData\Local\Temp\claude\C--Users-user\ecd937e0-60b9-45db-b06f-34b4379b9ec8\scratchpad\deck\assets\LuSmartphone-mu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455" y="2632375"/>
            <a:ext cx="276515" cy="2765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297680" y="3200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HOMILA AI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4297680" y="36576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Homiladorlik davrida AI yordamida xavflarni baholash va maslahat.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4297680" y="528523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443984" y="528523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xavf baholash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852160" y="52852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998464" y="528523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Maslahat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498080" y="1965960"/>
            <a:ext cx="4142232" cy="411480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381000" dist="101600" dir="5400000">
              <a:srgbClr val="2563EB">
                <a:alpha val="3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10771632" y="2258568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10917936" y="2258568"/>
            <a:ext cx="356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BIZ</a:t>
            </a:r>
            <a:endParaRPr lang="en-US" sz="1000" dirty="0"/>
          </a:p>
        </p:txBody>
      </p:sp>
      <p:pic>
        <p:nvPicPr>
          <p:cNvPr id="33" name="Image 2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221992"/>
            <a:ext cx="457200" cy="45720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7818120" y="2221992"/>
            <a:ext cx="457200" cy="457200"/>
          </a:xfrm>
          <a:prstGeom prst="roundRect">
            <a:avLst>
              <a:gd name="adj" fmla="val 21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781812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Muhim Davr</a:t>
            </a:r>
            <a:endParaRPr lang="en-US" sz="2600" dirty="0"/>
          </a:p>
        </p:txBody>
      </p:sp>
      <p:sp>
        <p:nvSpPr>
          <p:cNvPr id="36" name="Text 31"/>
          <p:cNvSpPr txBox="1"/>
          <p:nvPr/>
        </p:nvSpPr>
        <p:spPr>
          <a:xfrm>
            <a:off x="7818120" y="32095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Ayol + AI + shifokor — bitta tizimda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7818120" y="368503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8" name="Image 3" descr="C:\Users\user\AppData\Local\Temp\claude\C--Users-user\ecd937e0-60b9-45db-b06f-34b4379b9ec8\scratchpad\deck\assets\LuChe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556" y="3744468"/>
            <a:ext cx="155448" cy="155448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229600" y="36576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Telegram orqali foydalanish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7818120" y="413308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1" name="Image 4" descr="C:\Users\user\AppData\Local\Temp\claude\C--Users-user\ecd937e0-60b9-45db-b06f-34b4379b9ec8\scratchpad\deck\assets\Lu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7556" y="4192524"/>
            <a:ext cx="155448" cy="155448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8229600" y="4105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Yagona tibbiy profil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7818120" y="458114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4" name="Image 5" descr="C:\Users\user\AppData\Local\Temp\claude\C--Users-user\ecd937e0-60b9-45db-b06f-34b4379b9ec8\scratchpad\deck\assets\LuCheck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7556" y="4640580"/>
            <a:ext cx="155448" cy="155448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8229600" y="45537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Kundalik monitoring</a:t>
            </a:r>
            <a:endParaRPr lang="en-US" sz="1400" dirty="0"/>
          </a:p>
        </p:txBody>
      </p:sp>
      <p:sp>
        <p:nvSpPr>
          <p:cNvPr id="46" name="Shape 38"/>
          <p:cNvSpPr/>
          <p:nvPr/>
        </p:nvSpPr>
        <p:spPr>
          <a:xfrm>
            <a:off x="7818120" y="50292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7" name="Image 6" descr="C:\Users\user\AppData\Local\Temp\claude\C--Users-user\ecd937e0-60b9-45db-b06f-34b4379b9ec8\scratchpad\deck\assets\LuCheck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7556" y="5088636"/>
            <a:ext cx="155448" cy="155448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8229600" y="50017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Shifokor kabineti</a:t>
            </a:r>
            <a:endParaRPr lang="en-US" sz="1400" dirty="0"/>
          </a:p>
        </p:txBody>
      </p:sp>
      <p:sp>
        <p:nvSpPr>
          <p:cNvPr id="49" name="Shape 40"/>
          <p:cNvSpPr/>
          <p:nvPr/>
        </p:nvSpPr>
        <p:spPr>
          <a:xfrm>
            <a:off x="7818120" y="547725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0" name="Image 7" descr="C:\Users\user\AppData\Local\Temp\claude\C--Users-user\ecd937e0-60b9-45db-b06f-34b4379b9ec8\scratchpad\deck\assets\LuCheck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7556" y="5536692"/>
            <a:ext cx="155448" cy="155448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8229600" y="54498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Rangli xavf signali</a:t>
            </a:r>
            <a:endParaRPr lang="en-US" sz="1400" dirty="0"/>
          </a:p>
        </p:txBody>
      </p:sp>
      <p:pic>
        <p:nvPicPr>
          <p:cNvPr id="52" name="Image 8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</a:t>
            </a:r>
            <a:endParaRPr lang="en-US" sz="950" dirty="0"/>
          </a:p>
        </p:txBody>
      </p:sp>
      <p:sp>
        <p:nvSpPr>
          <p:cNvPr id="54" name="Text 43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 ·  BIZNES MODEL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Kim foydalanadi? Kim pul to‘laydi?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157276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B2B2C biznes modeli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108960" cy="3611880"/>
          </a:xfrm>
          <a:prstGeom prst="roundRect">
            <a:avLst>
              <a:gd name="adj" fmla="val 5882"/>
            </a:avLst>
          </a:prstGeom>
          <a:solidFill>
            <a:srgbClr val="2563EB"/>
          </a:solidFill>
          <a:ln/>
          <a:effectLst>
            <a:outerShdw sx="100000" sy="100000" kx="0" ky="0" algn="bl" rotWithShape="0" blurRad="304800" dist="50800" dir="5400000">
              <a:srgbClr val="2563EB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240280" y="219456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0" dirty="0">
                <a:solidFill>
                  <a:srgbClr val="3B7AF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</a:t>
            </a:r>
            <a:endParaRPr lang="en-US" sz="12000" dirty="0"/>
          </a:p>
        </p:txBody>
      </p:sp>
      <p:sp>
        <p:nvSpPr>
          <p:cNvPr id="11" name="Shape 9"/>
          <p:cNvSpPr/>
          <p:nvPr/>
        </p:nvSpPr>
        <p:spPr>
          <a:xfrm>
            <a:off x="841248" y="256032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pic>
        <p:nvPicPr>
          <p:cNvPr id="12" name="Image 0" descr="C:\Users\user\AppData\Local\Temp\claude\C--Users-user\ecd937e0-60b9-45db-b06f-34b4379b9ec8\scratchpad\deck\assets\LuBuilding2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" y="2686507"/>
            <a:ext cx="296266" cy="29626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41248" y="3429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FDBF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TO‘LOVCHI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37216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Xususiy klinikalar va tibbiyot tashkilotlari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41248" y="5212080"/>
            <a:ext cx="2523744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87552" y="5212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Obuna  ·  Litsenziya  ·  Integratsiya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797046" y="3744468"/>
            <a:ext cx="603504" cy="603504"/>
          </a:xfrm>
          <a:prstGeom prst="ellipse">
            <a:avLst/>
          </a:prstGeom>
          <a:solidFill>
            <a:srgbClr val="0F172A"/>
          </a:solidFill>
          <a:ln/>
          <a:effectLst>
            <a:outerShdw sx="100000" sy="100000" kx="0" ky="0" algn="bl" rotWithShape="0" blurRad="203200" dist="50800" dir="5400000">
              <a:srgbClr val="0F172A">
                <a:alpha val="2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797046" y="37444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539996" y="2240280"/>
            <a:ext cx="3108960" cy="36118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231636" y="219456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0" dirty="0">
                <a:solidFill>
                  <a:srgbClr val="EFF6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</a:t>
            </a:r>
            <a:endParaRPr lang="en-US" sz="12000" dirty="0"/>
          </a:p>
        </p:txBody>
      </p:sp>
      <p:sp>
        <p:nvSpPr>
          <p:cNvPr id="21" name="Shape 18"/>
          <p:cNvSpPr/>
          <p:nvPr/>
        </p:nvSpPr>
        <p:spPr>
          <a:xfrm>
            <a:off x="4832604" y="256032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2" name="Image 1" descr="C:\Users\user\AppData\Local\Temp\claude\C--Users-user\ecd937e0-60b9-45db-b06f-34b4379b9ec8\scratchpad\deck\assets\LuStethoscope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791" y="2686507"/>
            <a:ext cx="296266" cy="29626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32604" y="3429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832604" y="37216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Akusher-ginekologlar, shifokorlar va klinikalar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4832604" y="52120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978908" y="521208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Shifokor kabineti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7788402" y="3744468"/>
            <a:ext cx="603504" cy="603504"/>
          </a:xfrm>
          <a:prstGeom prst="ellipse">
            <a:avLst/>
          </a:prstGeom>
          <a:solidFill>
            <a:srgbClr val="0F172A"/>
          </a:solidFill>
          <a:ln/>
          <a:effectLst>
            <a:outerShdw sx="100000" sy="100000" kx="0" ky="0" algn="bl" rotWithShape="0" blurRad="203200" dist="50800" dir="5400000">
              <a:srgbClr val="0F172A">
                <a:alpha val="2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7788402" y="37444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8531352" y="2240280"/>
            <a:ext cx="3108960" cy="36118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10222992" y="219456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0" dirty="0">
                <a:solidFill>
                  <a:srgbClr val="EFF6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</a:t>
            </a:r>
            <a:endParaRPr lang="en-US" sz="12000" dirty="0"/>
          </a:p>
        </p:txBody>
      </p:sp>
      <p:sp>
        <p:nvSpPr>
          <p:cNvPr id="31" name="Shape 27"/>
          <p:cNvSpPr/>
          <p:nvPr/>
        </p:nvSpPr>
        <p:spPr>
          <a:xfrm>
            <a:off x="8823960" y="256032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2" name="Image 2" descr="C:\Users\user\AppData\Local\Temp\claude\C--Users-user\ecd937e0-60b9-45db-b06f-34b4379b9ec8\scratchpad\deck\assets\MdPregnantWoman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0147" y="2686507"/>
            <a:ext cx="296266" cy="29626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823960" y="3429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FOYDALANUVCHI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8823960" y="37216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Homilador ayollar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8823960" y="4343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Asosiy funksiyalarning bepul yoki qulay tarifdagi versiyasi.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8823960" y="52120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970264" y="521208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Telegram bot</a:t>
            </a:r>
            <a:endParaRPr lang="en-US" sz="1050" dirty="0"/>
          </a:p>
        </p:txBody>
      </p:sp>
      <p:pic>
        <p:nvPicPr>
          <p:cNvPr id="38" name="Image 3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 ·  BOZORGA KIRISH VA O‘SISH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Kichik pilotdan katta platformagacha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2057400" cy="1280160"/>
          </a:xfrm>
          <a:prstGeom prst="roundRect">
            <a:avLst>
              <a:gd name="adj" fmla="val 11429"/>
            </a:avLst>
          </a:prstGeom>
          <a:solidFill>
            <a:srgbClr val="DEE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39867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C:\Users\user\AppData\Local\Temp\claude\C--Users-user\ecd937e0-60b9-45db-b06f-34b4379b9ec8\scratchpad\deck\assets\LuFlaskConical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04164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9808" y="44439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1–3 ta klinika bilan pilot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07208" y="3383280"/>
            <a:ext cx="2057400" cy="1737360"/>
          </a:xfrm>
          <a:prstGeom prst="roundRect">
            <a:avLst>
              <a:gd name="adj" fmla="val 8421"/>
            </a:avLst>
          </a:prstGeom>
          <a:solidFill>
            <a:srgbClr val="C5D5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008376" y="35295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02</a:t>
            </a:r>
            <a:endParaRPr lang="en-US" sz="2200" dirty="0"/>
          </a:p>
        </p:txBody>
      </p:sp>
      <p:pic>
        <p:nvPicPr>
          <p:cNvPr id="13" name="Image 1" descr="C:\Users\user\AppData\Local\Temp\claude\C--Users-user\ecd937e0-60b9-45db-b06f-34b4379b9ec8\scratchpad\deck\assets\LuUsers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35844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08376" y="39867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20–50 nafar foydalanuvchi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65776" y="2926080"/>
            <a:ext cx="2057400" cy="2194560"/>
          </a:xfrm>
          <a:prstGeom prst="roundRect">
            <a:avLst>
              <a:gd name="adj" fmla="val 7111"/>
            </a:avLst>
          </a:prstGeom>
          <a:solidFill>
            <a:srgbClr val="9FBAF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266944" y="30723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2200" dirty="0"/>
          </a:p>
        </p:txBody>
      </p:sp>
      <p:pic>
        <p:nvPicPr>
          <p:cNvPr id="17" name="Image 2" descr="C:\Users\user\AppData\Local\Temp\claude\C--Users-user\ecd937e0-60b9-45db-b06f-34b4379b9ec8\scratchpad\deck\assets\LuChartColumn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12724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66944" y="35295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Natijalarni o‘lchash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24344" y="2468880"/>
            <a:ext cx="2057400" cy="2651760"/>
          </a:xfrm>
          <a:prstGeom prst="roundRect">
            <a:avLst>
              <a:gd name="adj" fmla="val 7111"/>
            </a:avLst>
          </a:prstGeom>
          <a:solidFill>
            <a:srgbClr val="6490F0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525512" y="26151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2200" dirty="0"/>
          </a:p>
        </p:txBody>
      </p:sp>
      <p:pic>
        <p:nvPicPr>
          <p:cNvPr id="21" name="Image 3" descr="C:\Users\user\AppData\Local\Temp\claude\C--Users-user\ecd937e0-60b9-45db-b06f-34b4379b9ec8\scratchpad\deck\assets\LuBuilding2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824" y="267004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25512" y="30723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Ko‘proq klinikalarga chiqish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9582912" y="2011680"/>
            <a:ext cx="2057400" cy="3108960"/>
          </a:xfrm>
          <a:prstGeom prst="roundRect">
            <a:avLst>
              <a:gd name="adj" fmla="val 7111"/>
            </a:avLst>
          </a:prstGeom>
          <a:solidFill>
            <a:srgbClr val="2563EB"/>
          </a:solidFill>
          <a:ln/>
          <a:effectLst>
            <a:outerShdw sx="100000" sy="100000" kx="0" ky="0" algn="bl" rotWithShape="0" blurRad="254000" dist="50800" dir="5400000">
              <a:srgbClr val="2563EB">
                <a:alpha val="30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9784080" y="21579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05</a:t>
            </a:r>
            <a:endParaRPr lang="en-US" sz="2200" dirty="0"/>
          </a:p>
        </p:txBody>
      </p:sp>
      <p:pic>
        <p:nvPicPr>
          <p:cNvPr id="25" name="Image 4" descr="C:\Users\user\AppData\Local\Temp\claude\C--Users-user\ecd937e0-60b9-45db-b06f-34b4379b9ec8\scratchpad\deck\assets\LuMap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2212848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84080" y="26151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Viloyatlar va O‘zbekiston bo‘ylab kengayish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48640" y="5440680"/>
            <a:ext cx="731520" cy="54864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694944" y="5440680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KPI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1417320" y="5440680"/>
            <a:ext cx="245287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30" name="Image 5" descr="C:\Users\user\AppData\Local\Temp\claude\C--Users-user\ecd937e0-60b9-45db-b06f-34b4379b9ec8\scratchpad\deck\assets\LuUserCheck-bra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1912" y="557784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965960" y="5440680"/>
            <a:ext cx="18127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Faol foydalanuvchilar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4007358" y="5440680"/>
            <a:ext cx="245287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33" name="Image 6" descr="C:\Users\user\AppData\Local\Temp\claude\C--Users-user\ecd937e0-60b9-45db-b06f-34b4379b9ec8\scratchpad\deck\assets\LuRepeat-bra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1950" y="557784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555998" y="5440680"/>
            <a:ext cx="18127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Ma’lumot kiritish chastotasi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6597396" y="5440680"/>
            <a:ext cx="245287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36" name="Image 7" descr="C:\Users\user\AppData\Local\Temp\claude\C--Users-user\ecd937e0-60b9-45db-b06f-34b4379b9ec8\scratchpad\deck\assets\LuTimer-bra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1988" y="5577840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146036" y="5440680"/>
            <a:ext cx="18127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Shifokor javob vaqti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9187434" y="5440680"/>
            <a:ext cx="245287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39" name="Image 8" descr="C:\Users\user\AppData\Local\Temp\claude\C--Users-user\ecd937e0-60b9-45db-b06f-34b4379b9ec8\scratchpad\deck\assets\LuSmile-bran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2026" y="5577840"/>
            <a:ext cx="274320" cy="27432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9736074" y="5440680"/>
            <a:ext cx="18127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Foydalanuvchi qoniqishi</a:t>
            </a:r>
            <a:endParaRPr lang="en-US" sz="1150" dirty="0"/>
          </a:p>
        </p:txBody>
      </p:sp>
      <p:pic>
        <p:nvPicPr>
          <p:cNvPr id="41" name="Image 9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</a:t>
            </a:r>
            <a:endParaRPr lang="en-US" sz="950" dirty="0"/>
          </a:p>
        </p:txBody>
      </p:sp>
      <p:sp>
        <p:nvSpPr>
          <p:cNvPr id="43" name="Text 31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 ·  KELAJAKDAGI RIVOJLANISH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Muhim Davr</a:t>
            </a:r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ona va bola salomatligi uchun raqamli ekotizim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51660" y="2240280"/>
            <a:ext cx="848563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1660" y="2240280"/>
            <a:ext cx="2828544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13916" y="2002536"/>
            <a:ext cx="475488" cy="475488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32788" y="2121408"/>
            <a:ext cx="237744" cy="23774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06040"/>
            <a:ext cx="2606040" cy="2240280"/>
          </a:xfrm>
          <a:prstGeom prst="roundRect">
            <a:avLst>
              <a:gd name="adj" fmla="val 6531"/>
            </a:avLst>
          </a:prstGeom>
          <a:solidFill>
            <a:srgbClr val="2563EB">
              <a:alpha val="28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</p:sp>
      <p:pic>
        <p:nvPicPr>
          <p:cNvPr id="12" name="Image 0" descr="C:\Users\user\AppData\Local\Temp\claude\C--Users-user\ecd937e0-60b9-45db-b06f-34b4379b9ec8\scratchpad\deck\assets\MdPregnantWoma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3464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61872" y="2852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BUGUN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355848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Homiladorlik monitoringi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bot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yordamchi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Shifokor kabineti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61332" y="2121408"/>
            <a:ext cx="237744" cy="237744"/>
          </a:xfrm>
          <a:prstGeom prst="ellipse">
            <a:avLst/>
          </a:prstGeom>
          <a:solidFill>
            <a:srgbClr val="0F172A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77184" y="2606040"/>
            <a:ext cx="2606040" cy="2240280"/>
          </a:xfrm>
          <a:prstGeom prst="roundRect">
            <a:avLst>
              <a:gd name="adj" fmla="val 65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17" name="Image 1" descr="C:\Users\user\AppData\Local\Temp\claude\C--Users-user\ecd937e0-60b9-45db-b06f-34b4379b9ec8\scratchpad\deck\assets\LuBaby-brand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784" y="28346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090416" y="2852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KEYIN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3605784" y="3355848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Chaqaloq monitoringi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Emizish va parvarish eslatmalari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Rivojlanish kuzatuvi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389876" y="2121408"/>
            <a:ext cx="237744" cy="237744"/>
          </a:xfrm>
          <a:prstGeom prst="ellipse">
            <a:avLst/>
          </a:prstGeom>
          <a:solidFill>
            <a:srgbClr val="0F172A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05728" y="2606040"/>
            <a:ext cx="2606040" cy="2240280"/>
          </a:xfrm>
          <a:prstGeom prst="roundRect">
            <a:avLst>
              <a:gd name="adj" fmla="val 65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2" name="Image 2" descr="C:\Users\user\AppData\Local\Temp\claude\C--Users-user\ecd937e0-60b9-45db-b06f-34b4379b9ec8\scratchpad\deck\assets\LuHospital-brand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328" y="283464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918960" y="2852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KENGAYISH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6434328" y="3355848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Ko‘proq klinikalar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Tibbiy statistika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Integratsiyalar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10218420" y="2121408"/>
            <a:ext cx="237744" cy="237744"/>
          </a:xfrm>
          <a:prstGeom prst="ellipse">
            <a:avLst/>
          </a:prstGeom>
          <a:solidFill>
            <a:srgbClr val="0F172A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034272" y="2606040"/>
            <a:ext cx="2606040" cy="2240280"/>
          </a:xfrm>
          <a:prstGeom prst="roundRect">
            <a:avLst>
              <a:gd name="adj" fmla="val 65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7" name="Image 3" descr="C:\Users\user\AppData\Local\Temp\claude\C--Users-user\ecd937e0-60b9-45db-b06f-34b4379b9ec8\scratchpad\deck\assets\LuTarget-brand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72" y="283464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747504" y="2852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MAQSAD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9262872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Ona va bola salomatligi uchun yagona raqamli platforma</a:t>
            </a:r>
            <a:endParaRPr lang="en-US" sz="1450" dirty="0"/>
          </a:p>
        </p:txBody>
      </p:sp>
      <p:pic>
        <p:nvPicPr>
          <p:cNvPr id="30" name="Image 4" descr="C:\Users\user\AppData\Local\Temp\claude\C--Users-user\ecd937e0-60b9-45db-b06f-34b4379b9ec8\scratchpad\deck\assets\LuMapPin-brand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872" y="4343400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546336" y="4306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O‘zbekiston bo‘ylab</a:t>
            </a:r>
            <a:endParaRPr lang="en-US" sz="1150" dirty="0"/>
          </a:p>
        </p:txBody>
      </p:sp>
      <p:pic>
        <p:nvPicPr>
          <p:cNvPr id="32" name="Image 5" descr="C:\Users\user\AppData\Local\Temp\claude\C--Users-user\ecd937e0-60b9-45db-b06f-34b4379b9ec8\scratchpad\deck\assets\LuQuote-brand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30368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188720" y="5138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 bir ona — </a:t>
            </a:r>
            <a:pPr indent="0" marL="0">
              <a:buNone/>
            </a:pPr>
            <a:r>
              <a:rPr lang="en-US" sz="2200" i="1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nazoratda.</a:t>
            </a:r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Har bir xavf — imkon qadar </a:t>
            </a:r>
            <a:pPr indent="0" marL="0">
              <a:buNone/>
            </a:pPr>
            <a:r>
              <a:rPr lang="en-US" sz="2200" i="1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erta aniqlansin.</a:t>
            </a:r>
            <a:endParaRPr lang="en-US" sz="2200" dirty="0"/>
          </a:p>
        </p:txBody>
      </p:sp>
      <p:pic>
        <p:nvPicPr>
          <p:cNvPr id="34" name="Image 6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548640" y="6318504"/>
            <a:ext cx="237744" cy="237744"/>
          </a:xfrm>
          <a:prstGeom prst="roundRect">
            <a:avLst>
              <a:gd name="adj" fmla="val 21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</a:t>
            </a:r>
            <a:endParaRPr lang="en-US" sz="950" dirty="0"/>
          </a:p>
        </p:txBody>
      </p:sp>
      <p:sp>
        <p:nvSpPr>
          <p:cNvPr id="37" name="Text 28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Muhim Davr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Muhim Davr — Pitch</dc:title>
  <dc:subject>PptxGenJS Presentation</dc:subject>
  <dc:creator>PptxGenJS</dc:creator>
  <cp:lastModifiedBy>PptxGenJS</cp:lastModifiedBy>
  <cp:revision>1</cp:revision>
  <dcterms:created xsi:type="dcterms:W3CDTF">2026-09-19T05:57:40Z</dcterms:created>
  <dcterms:modified xsi:type="dcterms:W3CDTF">2026-09-19T05:57:40Z</dcterms:modified>
</cp:coreProperties>
</file>