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7.png"/><Relationship Id="rId9" Type="http://schemas.openxmlformats.org/officeDocument/2006/relationships/image" Target="../media/image-7-7.png"/><Relationship Id="rId10" Type="http://schemas.openxmlformats.org/officeDocument/2006/relationships/image" Target="../media/image-7-7.png"/><Relationship Id="rId11" Type="http://schemas.openxmlformats.org/officeDocument/2006/relationships/image" Target="../media/image-7-11.png"/><Relationship Id="rId12" Type="http://schemas.openxmlformats.org/officeDocument/2006/relationships/image" Target="../media/image-7-11.png"/><Relationship Id="rId13" Type="http://schemas.openxmlformats.org/officeDocument/2006/relationships/image" Target="../media/image-7-11.png"/><Relationship Id="rId14" Type="http://schemas.openxmlformats.org/officeDocument/2006/relationships/image" Target="../media/image-7-11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AppData\Local\Temp\claude\C--Users-user\ecd937e0-60b9-45db-b06f-34b4379b9ec8\scratchpad\deck\assets\logo-mark-512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86968"/>
            <a:ext cx="713232" cy="71323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886968"/>
            <a:ext cx="713232" cy="713232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627632" y="105156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2563EB">
              <a:alpha val="22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773936" y="10515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TEXNIK TAQDIMOT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676656" y="1572768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Muhim Davr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88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CBD5E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Arxitektura, 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pPr indent="0" marL="0">
              <a:buNone/>
            </a:pPr>
            <a:r>
              <a:rPr lang="en-US" sz="2300" dirty="0">
                <a:solidFill>
                  <a:srgbClr val="CBD5E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va </a:t>
            </a:r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kod</a:t>
            </a:r>
            <a:pPr indent="0" marL="0">
              <a:buNone/>
            </a:pPr>
            <a:r>
              <a:rPr lang="en-US" sz="2300" dirty="0">
                <a:solidFill>
                  <a:srgbClr val="CBD5E1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 — ichkaridan ko‘rinish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731520" y="40690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563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846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hammasi o‘tdi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06040" y="40690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88920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441/441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4846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ajratgan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maydon to‘g‘ri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406908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7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63440" y="42336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0A5FA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4663440" y="48463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o‘ylab topilgan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qiymat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46520" y="1188720"/>
            <a:ext cx="5193792" cy="4206240"/>
          </a:xfrm>
          <a:prstGeom prst="roundRect">
            <a:avLst>
              <a:gd name="adj" fmla="val 3043"/>
            </a:avLst>
          </a:prstGeom>
          <a:solidFill>
            <a:srgbClr val="0B1222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457200" dist="152400" dir="5400000">
              <a:srgbClr val="000000">
                <a:alpha val="5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47688" y="1344168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9" name="Shape 16"/>
          <p:cNvSpPr/>
          <p:nvPr/>
        </p:nvSpPr>
        <p:spPr>
          <a:xfrm>
            <a:off x="6830568" y="1344168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20" name="Shape 17"/>
          <p:cNvSpPr/>
          <p:nvPr/>
        </p:nvSpPr>
        <p:spPr>
          <a:xfrm>
            <a:off x="7013448" y="1344168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315200" y="126187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src/lib/risk.ts  (qisqartirilgan)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46520" y="1600200"/>
            <a:ext cx="5193792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47688" y="1737360"/>
            <a:ext cx="487375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Sof funksiya: I/O yo‘q, tasodif yo‘q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scoreAssessment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(a) {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(gte(a.bp_systolic,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160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||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gte(a.bp_diastolic,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fire(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'severe_hypertension'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(isTrue(a.proteinuria) &amp;&amp; (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gte(a.bp_systolic,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140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|| gte(a.bp_diastolic,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fire(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A5B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'preeclampsia_suspected'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… yana 17 ta qoida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(hasAbsoluteFlag) zone =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'qizil'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 &gt;=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zone =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'qizil'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if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(score &gt;=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zone =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'sariq'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 =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'yashil'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score, zone, firedFactors, 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rulesVersion }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</a:t>
            </a:r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pic>
        <p:nvPicPr>
          <p:cNvPr id="24" name="Image 1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48640" y="6318504"/>
            <a:ext cx="237744" cy="237744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27" name="Text 23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/ 12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·  UMUMIY KO‘RINISH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Uch interfeys — bitta klinik yadro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56616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5740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9" name="Image 0" descr="C:\Users\user\AppData\Local\Temp\claude\C--Users-user\ecd937e0-60b9-45db-b06f-34b4379b9ec8\scratchpad\deck\assets\LuMonitorSmartphone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7" y="2183587"/>
            <a:ext cx="296266" cy="29626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36192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AKUSHERKA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536192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Veb-ilova, telefon uchun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2807208"/>
            <a:ext cx="3017520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14400" y="28072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/entry  /patients/new  /visits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68680" y="340614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88136" y="329184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Bemorni ro‘yxatga oladi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8680" y="384505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88136" y="373075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Ko‘rik yozadi yoki tahlil varaqasini yuklaydi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8680" y="428396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1088136" y="416966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to‘ldirgan maydonlarni tekshiradi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68680" y="472287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88136" y="46085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Zona, omillar, WHO ko‘rik jadvali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311396" y="1783080"/>
            <a:ext cx="356616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85716" y="205740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4" name="Image 1" descr="C:\Users\user\AppData\Local\Temp\claude\C--Users-user\ecd937e0-60b9-45db-b06f-34b4379b9ec8\scratchpad\deck\assets\LuLayers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903" y="2183587"/>
            <a:ext cx="296266" cy="29626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98948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OVABMU MUTAXASSISI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5298948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Veb-dashboard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85716" y="2807208"/>
            <a:ext cx="3017520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677156" y="28072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  /registry  /escalations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631436" y="340614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850892" y="329184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Barcha tumanlar — real vaqtda</a:t>
            </a:r>
            <a:endParaRPr lang="en-US" sz="1250" dirty="0"/>
          </a:p>
        </p:txBody>
      </p:sp>
      <p:sp>
        <p:nvSpPr>
          <p:cNvPr id="31" name="Shape 27"/>
          <p:cNvSpPr/>
          <p:nvPr/>
        </p:nvSpPr>
        <p:spPr>
          <a:xfrm>
            <a:off x="4631436" y="384505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4850892" y="373075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Tuman → zona → bemor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4631436" y="428396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4850892" y="416966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Yo‘llanmalar: qabul qilish, yopish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4631436" y="472287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4850892" y="46085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Toast, ovoz, Telegram ogohlantirish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8074152" y="1783080"/>
            <a:ext cx="3566160" cy="352044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8348472" y="205740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9" name="Image 2" descr="C:\Users\user\AppData\Local\Temp\claude\C--Users-user\ecd937e0-60b9-45db-b06f-34b4379b9ec8\scratchpad\deck\assets\SiTelegram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4659" y="2183587"/>
            <a:ext cx="296266" cy="296266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9061704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 AYOL</a:t>
            </a:r>
            <a:endParaRPr lang="en-US" sz="1200" dirty="0"/>
          </a:p>
        </p:txBody>
      </p:sp>
      <p:sp>
        <p:nvSpPr>
          <p:cNvPr id="41" name="Text 36"/>
          <p:cNvSpPr txBox="1"/>
          <p:nvPr/>
        </p:nvSpPr>
        <p:spPr>
          <a:xfrm>
            <a:off x="9061704" y="2331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Faqat Telegram — ilova yo‘q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8348472" y="2807208"/>
            <a:ext cx="3017520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8439912" y="28072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 A3F91C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8394192" y="3406140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5" name="Text 40"/>
          <p:cNvSpPr txBox="1"/>
          <p:nvPr/>
        </p:nvSpPr>
        <p:spPr>
          <a:xfrm>
            <a:off x="8613648" y="3291840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belgili kod bilan ulanadi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8394192" y="3845052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8613648" y="3730752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Holati va qon bosimini yozadi</a:t>
            </a:r>
            <a:endParaRPr lang="en-US" sz="1250" dirty="0"/>
          </a:p>
        </p:txBody>
      </p:sp>
      <p:sp>
        <p:nvSpPr>
          <p:cNvPr id="48" name="Shape 43"/>
          <p:cNvSpPr/>
          <p:nvPr/>
        </p:nvSpPr>
        <p:spPr>
          <a:xfrm>
            <a:off x="8394192" y="4283964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9" name="Text 44"/>
          <p:cNvSpPr txBox="1"/>
          <p:nvPr/>
        </p:nvSpPr>
        <p:spPr>
          <a:xfrm>
            <a:off x="8613648" y="4169664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 belgisi → mutaxassis navbati</a:t>
            </a:r>
            <a:endParaRPr lang="en-US" sz="1250" dirty="0"/>
          </a:p>
        </p:txBody>
      </p:sp>
      <p:sp>
        <p:nvSpPr>
          <p:cNvPr id="50" name="Shape 45"/>
          <p:cNvSpPr/>
          <p:nvPr/>
        </p:nvSpPr>
        <p:spPr>
          <a:xfrm>
            <a:off x="8394192" y="4722876"/>
            <a:ext cx="82296" cy="8229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8613648" y="4608576"/>
            <a:ext cx="2706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Ko‘rikdan oldin eslatmalar</a:t>
            </a:r>
            <a:endParaRPr lang="en-US" sz="1250" dirty="0"/>
          </a:p>
        </p:txBody>
      </p:sp>
      <p:sp>
        <p:nvSpPr>
          <p:cNvPr id="52" name="Shape 47"/>
          <p:cNvSpPr/>
          <p:nvPr/>
        </p:nvSpPr>
        <p:spPr>
          <a:xfrm>
            <a:off x="548640" y="5486400"/>
            <a:ext cx="11091672" cy="603504"/>
          </a:xfrm>
          <a:prstGeom prst="roundRect">
            <a:avLst>
              <a:gd name="adj" fmla="val 21212"/>
            </a:avLst>
          </a:prstGeom>
          <a:solidFill>
            <a:srgbClr val="0F172A"/>
          </a:solidFill>
          <a:ln/>
        </p:spPr>
      </p:sp>
      <p:sp>
        <p:nvSpPr>
          <p:cNvPr id="53" name="Shape 48"/>
          <p:cNvSpPr/>
          <p:nvPr/>
        </p:nvSpPr>
        <p:spPr>
          <a:xfrm>
            <a:off x="822960" y="5742432"/>
            <a:ext cx="91440" cy="91440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54" name="Shape 49"/>
          <p:cNvSpPr/>
          <p:nvPr/>
        </p:nvSpPr>
        <p:spPr>
          <a:xfrm>
            <a:off x="955548" y="5742432"/>
            <a:ext cx="91440" cy="91440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55" name="Shape 50"/>
          <p:cNvSpPr/>
          <p:nvPr/>
        </p:nvSpPr>
        <p:spPr>
          <a:xfrm>
            <a:off x="1088136" y="5742432"/>
            <a:ext cx="91440" cy="91440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1325880" y="5486400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Umumiy yadro: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PostgreSQL  ·  qoidalar dvigateli risk.ts  ·  Realtime  ·  Claude ekstraksiyasi</a:t>
            </a:r>
            <a:endParaRPr lang="en-US" sz="1400" dirty="0"/>
          </a:p>
        </p:txBody>
      </p:sp>
      <p:pic>
        <p:nvPicPr>
          <p:cNvPr id="57" name="Image 3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59" name="Text 53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·  ARXITEKTURA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Tizim qanday qurilgan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8346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5740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9" name="Image 0" descr="C:\Users\user\AppData\Local\Temp\claude\C--Users-user\ecd937e0-60b9-45db-b06f-34b4379b9ec8\scratchpad\deck\assets\LuMonitorSmartphone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27" y="2183587"/>
            <a:ext cx="296266" cy="29626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81328" y="20025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Veb-ilova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81328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· TypeScript · Vite 8 · Tailwind 4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77156" y="1783080"/>
            <a:ext cx="2834640" cy="118872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905756" y="205740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pic>
        <p:nvPicPr>
          <p:cNvPr id="14" name="Image 1" descr="C:\Users\user\AppData\Local\Temp\claude\C--Users-user\ecd937e0-60b9-45db-b06f-34b4379b9ec8\scratchpad\deck\assets\LuServer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943" y="2183587"/>
            <a:ext cx="296266" cy="29626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09844" y="20025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/api/extract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5609844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serverless funksiya · Node.js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805672" y="1783080"/>
            <a:ext cx="2834640" cy="118872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79400" dist="50800" dir="5400000">
              <a:srgbClr val="2563EB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034272" y="205740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19" name="Image 2" descr="C:\Users\user\AppData\Local\Temp\claude\C--Users-user\ecd937e0-60b9-45db-b06f-34b4379b9ec8\scratchpad\deck\assets\LuBrainCircuit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459" y="2183587"/>
            <a:ext cx="296266" cy="29626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738360" y="20025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Haiku 4.5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9738360" y="23317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API · matn, rasm, PDF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931920"/>
            <a:ext cx="28346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420624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4" name="Image 3" descr="C:\Users\user\AppData\Local\Temp\claude\C--Users-user\ecd937e0-60b9-45db-b06f-34b4379b9ec8\scratchpad\deck\assets\LuDatabase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" y="4332427"/>
            <a:ext cx="296266" cy="29626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81328" y="4151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1481328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· Auth · Realtime · Storage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677156" y="3931920"/>
            <a:ext cx="28346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905756" y="420624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9" name="Image 4" descr="C:\Users\user\AppData\Local\Temp\claude\C--Users-user\ecd937e0-60b9-45db-b06f-34b4379b9ec8\scratchpad\deck\assets\LuBot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1943" y="4332427"/>
            <a:ext cx="296266" cy="29626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609844" y="4151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5609844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· long polling · 24/7 jarayon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8805672" y="3931920"/>
            <a:ext cx="28346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9034272" y="4206240"/>
            <a:ext cx="548640" cy="54864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4" name="Image 5" descr="C:\Users\user\AppData\Local\Temp\claude\C--Users-user\ecd937e0-60b9-45db-b06f-34b4379b9ec8\scratchpad\deck\assets\SiTelegram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0459" y="4332427"/>
            <a:ext cx="296266" cy="296266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38360" y="41513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Homilador ayol</a:t>
            </a:r>
            <a:endParaRPr lang="en-US" sz="1500" dirty="0"/>
          </a:p>
        </p:txBody>
      </p:sp>
      <p:sp>
        <p:nvSpPr>
          <p:cNvPr id="36" name="Text 28"/>
          <p:cNvSpPr txBox="1"/>
          <p:nvPr/>
        </p:nvSpPr>
        <p:spPr>
          <a:xfrm>
            <a:off x="9738360" y="44805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ilovasi — boshqa hech narsa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3383280" y="2377440"/>
            <a:ext cx="129387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8" name="Text 30"/>
          <p:cNvSpPr txBox="1"/>
          <p:nvPr/>
        </p:nvSpPr>
        <p:spPr>
          <a:xfrm>
            <a:off x="3456432" y="1920240"/>
            <a:ext cx="11475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sessiya tokeni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7511796" y="2377440"/>
            <a:ext cx="129387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0" name="Text 32"/>
          <p:cNvSpPr txBox="1"/>
          <p:nvPr/>
        </p:nvSpPr>
        <p:spPr>
          <a:xfrm>
            <a:off x="7584948" y="1920240"/>
            <a:ext cx="11475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 Schema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3383280" y="4526280"/>
            <a:ext cx="129387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42" name="Text 34"/>
          <p:cNvSpPr txBox="1"/>
          <p:nvPr/>
        </p:nvSpPr>
        <p:spPr>
          <a:xfrm>
            <a:off x="3456432" y="4069080"/>
            <a:ext cx="11475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yozadi / o‘qiydi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7511796" y="4526280"/>
            <a:ext cx="129387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44" name="Text 36"/>
          <p:cNvSpPr txBox="1"/>
          <p:nvPr/>
        </p:nvSpPr>
        <p:spPr>
          <a:xfrm>
            <a:off x="7584948" y="4069080"/>
            <a:ext cx="11475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 API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1965960" y="2971800"/>
            <a:ext cx="0" cy="96012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headEnd type="triangle"/>
            <a:tailEnd type="triangle"/>
          </a:ln>
        </p:spPr>
      </p:sp>
      <p:sp>
        <p:nvSpPr>
          <p:cNvPr id="46" name="Text 38"/>
          <p:cNvSpPr txBox="1"/>
          <p:nvPr/>
        </p:nvSpPr>
        <p:spPr>
          <a:xfrm>
            <a:off x="2103120" y="3246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+ RLS  ·  Realtime push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6094476" y="2971800"/>
            <a:ext cx="0" cy="96012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48" name="Text 40"/>
          <p:cNvSpPr txBox="1"/>
          <p:nvPr/>
        </p:nvSpPr>
        <p:spPr>
          <a:xfrm>
            <a:off x="6231636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handleExtract() — bir xil kod, in-process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548640" y="5504688"/>
            <a:ext cx="3593592" cy="566928"/>
          </a:xfrm>
          <a:prstGeom prst="roundRect">
            <a:avLst>
              <a:gd name="adj" fmla="val 19355"/>
            </a:avLst>
          </a:prstGeom>
          <a:solidFill>
            <a:srgbClr val="EFF6FF"/>
          </a:solidFill>
          <a:ln/>
        </p:spPr>
      </p:sp>
      <p:pic>
        <p:nvPicPr>
          <p:cNvPr id="50" name="Image 6" descr="C:\Users\user\AppData\Local\Temp\claude\C--Users-user\ecd937e0-60b9-45db-b06f-34b4379b9ec8\scratchpad\deck\assets\LuKeyRound-bra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5650992"/>
            <a:ext cx="274320" cy="27432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1097280" y="550468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Kalitlar faqat serverda (VITE_ prefikssiz)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4297680" y="5504688"/>
            <a:ext cx="3593592" cy="566928"/>
          </a:xfrm>
          <a:prstGeom prst="roundRect">
            <a:avLst>
              <a:gd name="adj" fmla="val 19355"/>
            </a:avLst>
          </a:prstGeom>
          <a:solidFill>
            <a:srgbClr val="EFF6FF"/>
          </a:solidFill>
          <a:ln/>
        </p:spPr>
      </p:sp>
      <p:pic>
        <p:nvPicPr>
          <p:cNvPr id="53" name="Image 7" descr="C:\Users\user\AppData\Local\Temp\claude\C--Users-user\ecd937e0-60b9-45db-b06f-34b4379b9ec8\scratchpad\deck\assets\LuLock-bra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2272" y="5650992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4846320" y="550468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/api/extract faqat jonli sessiyaga javob beradi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8046720" y="5504688"/>
            <a:ext cx="3593592" cy="566928"/>
          </a:xfrm>
          <a:prstGeom prst="roundRect">
            <a:avLst>
              <a:gd name="adj" fmla="val 19355"/>
            </a:avLst>
          </a:prstGeom>
          <a:solidFill>
            <a:srgbClr val="EFF6FF"/>
          </a:solidFill>
          <a:ln/>
        </p:spPr>
      </p:sp>
      <p:pic>
        <p:nvPicPr>
          <p:cNvPr id="56" name="Image 8" descr="C:\Users\user\AppData\Local\Temp\claude\C--Users-user\ecd937e0-60b9-45db-b06f-34b4379b9ec8\scratchpad\deck\assets\LuRadio-bran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1312" y="5650992"/>
            <a:ext cx="274320" cy="274320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8595360" y="5504688"/>
            <a:ext cx="2953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Bot: long polling, webhook shart emas</a:t>
            </a:r>
            <a:endParaRPr lang="en-US" sz="1100" dirty="0"/>
          </a:p>
        </p:txBody>
      </p:sp>
      <p:pic>
        <p:nvPicPr>
          <p:cNvPr id="58" name="Image 9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9" name="Text 47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60" name="Text 48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·  TEXNOLOGIYALAR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Texnologiyalar steki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651760" cy="3611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9" name="Image 0" descr="C:\Users\user\AppData\Local\Temp\claude\C--Users-user\ecd937e0-60b9-45db-b06f-34b4379b9ec8\scratchpad\deck\assets\LuMonitorSmartphone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071116"/>
            <a:ext cx="246888" cy="24688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77240" y="2670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12" name="Image 1" descr="C:\Users\user\AppData\Local\Temp\claude\C--Users-user\ecd937e0-60b9-45db-b06f-34b4379b9ec8\scratchpad\deck\assets\SiReac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74320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325880" y="26426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React 19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325880" y="28895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komponentlari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7240" y="33284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16" name="Image 2" descr="C:\Users\user\AppData\Local\Temp\claude\C--Users-user\ecd937e0-60b9-45db-b06f-34b4379b9ec8\scratchpad\deck\assets\SiTypescript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4015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300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TypeScript 6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qat’iy tiplar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77240" y="39867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20" name="Image 3" descr="C:\Users\user\AppData\Local\Temp\claude\C--Users-user\ecd937e0-60b9-45db-b06f-34b4379b9ec8\scratchpad\deck\assets\SiVite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4059936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959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Vite 8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1325880" y="4206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va dev server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777240" y="46451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24" name="Image 4" descr="C:\Users\user\AppData\Local\Temp\claude\C--Users-user\ecd937e0-60b9-45db-b06f-34b4379b9ec8\scratchpad\deck\assets\SiTailwindcss-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4718304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25880" y="46177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Tailwind CSS 4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1325880" y="48646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dizayn tokenlari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361944" y="1737360"/>
            <a:ext cx="2651760" cy="3611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3590544" y="196596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9" name="Image 5" descr="C:\Users\user\AppData\Local\Temp\claude\C--Users-user\ecd937e0-60b9-45db-b06f-34b4379b9ec8\scratchpad\deck\assets\LuDatabase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5700" y="2071116"/>
            <a:ext cx="246888" cy="24688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4184904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3590544" y="2670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32" name="Image 6" descr="C:\Users\user\AppData\Local\Temp\claude\C--Users-user\ecd937e0-60b9-45db-b06f-34b4379b9ec8\scratchpad\deck\assets\SiSupabase-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3696" y="2743200"/>
            <a:ext cx="274320" cy="27432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4139184" y="26426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Supabase</a:t>
            </a:r>
            <a:endParaRPr lang="en-US" sz="1250" dirty="0"/>
          </a:p>
        </p:txBody>
      </p:sp>
      <p:sp>
        <p:nvSpPr>
          <p:cNvPr id="34" name="Text 25"/>
          <p:cNvSpPr txBox="1"/>
          <p:nvPr/>
        </p:nvSpPr>
        <p:spPr>
          <a:xfrm>
            <a:off x="4139184" y="28895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· Realtime · Storage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3590544" y="33284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36" name="Image 7" descr="C:\Users\user\AppData\Local\Temp\claude\C--Users-user\ecd937e0-60b9-45db-b06f-34b4379b9ec8\scratchpad\deck\assets\SiPostgresql-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3696" y="3401568"/>
            <a:ext cx="274320" cy="27432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139184" y="3300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38" name="Text 28"/>
          <p:cNvSpPr txBox="1"/>
          <p:nvPr/>
        </p:nvSpPr>
        <p:spPr>
          <a:xfrm>
            <a:off x="4139184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RLS, trigger, view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3590544" y="39867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40" name="Image 8" descr="C:\Users\user\AppData\Local\Temp\claude\C--Users-user\ecd937e0-60b9-45db-b06f-34b4379b9ec8\scratchpad\deck\assets\SiVercel-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63696" y="4059936"/>
            <a:ext cx="274320" cy="27432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139184" y="3959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Vercel</a:t>
            </a:r>
            <a:endParaRPr lang="en-US" sz="1250" dirty="0"/>
          </a:p>
        </p:txBody>
      </p:sp>
      <p:sp>
        <p:nvSpPr>
          <p:cNvPr id="42" name="Text 31"/>
          <p:cNvSpPr txBox="1"/>
          <p:nvPr/>
        </p:nvSpPr>
        <p:spPr>
          <a:xfrm>
            <a:off x="4139184" y="4206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/api/extract</a:t>
            </a:r>
            <a:endParaRPr lang="en-US" sz="1000" dirty="0"/>
          </a:p>
        </p:txBody>
      </p:sp>
      <p:sp>
        <p:nvSpPr>
          <p:cNvPr id="43" name="Shape 32"/>
          <p:cNvSpPr/>
          <p:nvPr/>
        </p:nvSpPr>
        <p:spPr>
          <a:xfrm>
            <a:off x="6175248" y="1737360"/>
            <a:ext cx="2651760" cy="3611880"/>
          </a:xfrm>
          <a:prstGeom prst="roundRect">
            <a:avLst>
              <a:gd name="adj" fmla="val 551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79400" dist="50800" dir="5400000">
              <a:srgbClr val="2563EB">
                <a:alpha val="25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6403848" y="196596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45" name="Image 9" descr="C:\Users\user\AppData\Local\Temp\claude\C--Users-user\ecd937e0-60b9-45db-b06f-34b4379b9ec8\scratchpad\deck\assets\LuSparkles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9004" y="2071116"/>
            <a:ext cx="246888" cy="24688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6998208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1600" dirty="0"/>
          </a:p>
        </p:txBody>
      </p:sp>
      <p:sp>
        <p:nvSpPr>
          <p:cNvPr id="47" name="Shape 35"/>
          <p:cNvSpPr/>
          <p:nvPr/>
        </p:nvSpPr>
        <p:spPr>
          <a:xfrm>
            <a:off x="6403848" y="2670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E293B"/>
          </a:solidFill>
          <a:ln/>
        </p:spPr>
      </p:sp>
      <p:pic>
        <p:nvPicPr>
          <p:cNvPr id="48" name="Image 10" descr="C:\Users\user\AppData\Local\Temp\claude\C--Users-user\ecd937e0-60b9-45db-b06f-34b4379b9ec8\scratchpad\deck\assets\SiAnthropic-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77000" y="2743200"/>
            <a:ext cx="274320" cy="274320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6952488" y="26426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Claude Haiku 4.5</a:t>
            </a:r>
            <a:endParaRPr lang="en-US" sz="1250" dirty="0"/>
          </a:p>
        </p:txBody>
      </p:sp>
      <p:sp>
        <p:nvSpPr>
          <p:cNvPr id="50" name="Text 37"/>
          <p:cNvSpPr txBox="1"/>
          <p:nvPr/>
        </p:nvSpPr>
        <p:spPr>
          <a:xfrm>
            <a:off x="6952488" y="28895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matn + rasm + PDF</a:t>
            </a:r>
            <a:endParaRPr lang="en-US" sz="1000" dirty="0"/>
          </a:p>
        </p:txBody>
      </p:sp>
      <p:sp>
        <p:nvSpPr>
          <p:cNvPr id="51" name="Shape 38"/>
          <p:cNvSpPr/>
          <p:nvPr/>
        </p:nvSpPr>
        <p:spPr>
          <a:xfrm>
            <a:off x="6403848" y="33284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E293B"/>
          </a:solidFill>
          <a:ln/>
        </p:spPr>
      </p:sp>
      <p:pic>
        <p:nvPicPr>
          <p:cNvPr id="52" name="Image 11" descr="C:\Users\user\AppData\Local\Temp\claude\C--Users-user\ecd937e0-60b9-45db-b06f-34b4379b9ec8\scratchpad\deck\assets\LuBraces-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3401568"/>
            <a:ext cx="274320" cy="27432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6952488" y="3300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Structured Outputs</a:t>
            </a:r>
            <a:endParaRPr lang="en-US" sz="1250" dirty="0"/>
          </a:p>
        </p:txBody>
      </p:sp>
      <p:sp>
        <p:nvSpPr>
          <p:cNvPr id="54" name="Text 40"/>
          <p:cNvSpPr txBox="1"/>
          <p:nvPr/>
        </p:nvSpPr>
        <p:spPr>
          <a:xfrm>
            <a:off x="6952488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qat’iy JSON Schema</a:t>
            </a:r>
            <a:endParaRPr lang="en-US" sz="1000" dirty="0"/>
          </a:p>
        </p:txBody>
      </p:sp>
      <p:sp>
        <p:nvSpPr>
          <p:cNvPr id="55" name="Shape 41"/>
          <p:cNvSpPr/>
          <p:nvPr/>
        </p:nvSpPr>
        <p:spPr>
          <a:xfrm>
            <a:off x="6403848" y="39867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E293B"/>
          </a:solidFill>
          <a:ln/>
        </p:spPr>
      </p:sp>
      <p:pic>
        <p:nvPicPr>
          <p:cNvPr id="56" name="Image 12" descr="C:\Users\user\AppData\Local\Temp\claude\C--Users-user\ecd937e0-60b9-45db-b06f-34b4379b9ec8\scratchpad\deck\assets\LuSquareCode-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4059936"/>
            <a:ext cx="274320" cy="274320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6952488" y="3959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@anthropic-ai/sdk</a:t>
            </a:r>
            <a:endParaRPr lang="en-US" sz="1250" dirty="0"/>
          </a:p>
        </p:txBody>
      </p:sp>
      <p:sp>
        <p:nvSpPr>
          <p:cNvPr id="58" name="Text 43"/>
          <p:cNvSpPr txBox="1"/>
          <p:nvPr/>
        </p:nvSpPr>
        <p:spPr>
          <a:xfrm>
            <a:off x="6952488" y="4206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rasmiy SDK</a:t>
            </a:r>
            <a:endParaRPr lang="en-US" sz="1000" dirty="0"/>
          </a:p>
        </p:txBody>
      </p:sp>
      <p:sp>
        <p:nvSpPr>
          <p:cNvPr id="59" name="Shape 44"/>
          <p:cNvSpPr/>
          <p:nvPr/>
        </p:nvSpPr>
        <p:spPr>
          <a:xfrm>
            <a:off x="8988552" y="1737360"/>
            <a:ext cx="2651760" cy="3611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60" name="Shape 45"/>
          <p:cNvSpPr/>
          <p:nvPr/>
        </p:nvSpPr>
        <p:spPr>
          <a:xfrm>
            <a:off x="9217152" y="196596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61" name="Image 13" descr="C:\Users\user\AppData\Local\Temp\claude\C--Users-user\ecd937e0-60b9-45db-b06f-34b4379b9ec8\scratchpad\deck\assets\LuBot-bran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2308" y="2071116"/>
            <a:ext cx="246888" cy="246888"/>
          </a:xfrm>
          <a:prstGeom prst="rect">
            <a:avLst/>
          </a:prstGeom>
        </p:spPr>
      </p:pic>
      <p:sp>
        <p:nvSpPr>
          <p:cNvPr id="62" name="Text 46"/>
          <p:cNvSpPr txBox="1"/>
          <p:nvPr/>
        </p:nvSpPr>
        <p:spPr>
          <a:xfrm>
            <a:off x="9811512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va sifat</a:t>
            </a:r>
            <a:endParaRPr lang="en-US" sz="1600" dirty="0"/>
          </a:p>
        </p:txBody>
      </p:sp>
      <p:sp>
        <p:nvSpPr>
          <p:cNvPr id="63" name="Shape 47"/>
          <p:cNvSpPr/>
          <p:nvPr/>
        </p:nvSpPr>
        <p:spPr>
          <a:xfrm>
            <a:off x="9217152" y="26700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64" name="Image 14" descr="C:\Users\user\AppData\Local\Temp\claude\C--Users-user\ecd937e0-60b9-45db-b06f-34b4379b9ec8\scratchpad\deck\assets\SiTelegram-navy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0304" y="2743200"/>
            <a:ext cx="274320" cy="274320"/>
          </a:xfrm>
          <a:prstGeom prst="rect">
            <a:avLst/>
          </a:prstGeom>
        </p:spPr>
      </p:pic>
      <p:sp>
        <p:nvSpPr>
          <p:cNvPr id="65" name="Text 48"/>
          <p:cNvSpPr txBox="1"/>
          <p:nvPr/>
        </p:nvSpPr>
        <p:spPr>
          <a:xfrm>
            <a:off x="9765792" y="26426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Telegram Bot API</a:t>
            </a:r>
            <a:endParaRPr lang="en-US" sz="1250" dirty="0"/>
          </a:p>
        </p:txBody>
      </p:sp>
      <p:sp>
        <p:nvSpPr>
          <p:cNvPr id="66" name="Text 49"/>
          <p:cNvSpPr txBox="1"/>
          <p:nvPr/>
        </p:nvSpPr>
        <p:spPr>
          <a:xfrm>
            <a:off x="9765792" y="288950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 polling</a:t>
            </a:r>
            <a:endParaRPr lang="en-US" sz="1000" dirty="0"/>
          </a:p>
        </p:txBody>
      </p:sp>
      <p:sp>
        <p:nvSpPr>
          <p:cNvPr id="67" name="Shape 50"/>
          <p:cNvSpPr/>
          <p:nvPr/>
        </p:nvSpPr>
        <p:spPr>
          <a:xfrm>
            <a:off x="9217152" y="332841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68" name="Image 15" descr="C:\Users\user\AppData\Local\Temp\claude\C--Users-user\ecd937e0-60b9-45db-b06f-34b4379b9ec8\scratchpad\deck\assets\SiNodedotjs-navy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90304" y="3401568"/>
            <a:ext cx="274320" cy="274320"/>
          </a:xfrm>
          <a:prstGeom prst="rect">
            <a:avLst/>
          </a:prstGeom>
        </p:spPr>
      </p:pic>
      <p:sp>
        <p:nvSpPr>
          <p:cNvPr id="69" name="Text 51"/>
          <p:cNvSpPr txBox="1"/>
          <p:nvPr/>
        </p:nvSpPr>
        <p:spPr>
          <a:xfrm>
            <a:off x="9765792" y="3300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Node.js</a:t>
            </a:r>
            <a:endParaRPr lang="en-US" sz="1250" dirty="0"/>
          </a:p>
        </p:txBody>
      </p:sp>
      <p:sp>
        <p:nvSpPr>
          <p:cNvPr id="70" name="Text 52"/>
          <p:cNvSpPr txBox="1"/>
          <p:nvPr/>
        </p:nvSpPr>
        <p:spPr>
          <a:xfrm>
            <a:off x="9765792" y="35478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jarayoni</a:t>
            </a:r>
            <a:endParaRPr lang="en-US" sz="1000" dirty="0"/>
          </a:p>
        </p:txBody>
      </p:sp>
      <p:sp>
        <p:nvSpPr>
          <p:cNvPr id="71" name="Shape 53"/>
          <p:cNvSpPr/>
          <p:nvPr/>
        </p:nvSpPr>
        <p:spPr>
          <a:xfrm>
            <a:off x="9217152" y="398678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72" name="Image 16" descr="C:\Users\user\AppData\Local\Temp\claude\C--Users-user\ecd937e0-60b9-45db-b06f-34b4379b9ec8\scratchpad\deck\assets\SiVitest-navy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0304" y="4059936"/>
            <a:ext cx="274320" cy="274320"/>
          </a:xfrm>
          <a:prstGeom prst="rect">
            <a:avLst/>
          </a:prstGeom>
        </p:spPr>
      </p:pic>
      <p:sp>
        <p:nvSpPr>
          <p:cNvPr id="73" name="Text 54"/>
          <p:cNvSpPr txBox="1"/>
          <p:nvPr/>
        </p:nvSpPr>
        <p:spPr>
          <a:xfrm>
            <a:off x="9765792" y="39593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Vitest</a:t>
            </a:r>
            <a:endParaRPr lang="en-US" sz="1250" dirty="0"/>
          </a:p>
        </p:txBody>
      </p:sp>
      <p:sp>
        <p:nvSpPr>
          <p:cNvPr id="74" name="Text 55"/>
          <p:cNvSpPr txBox="1"/>
          <p:nvPr/>
        </p:nvSpPr>
        <p:spPr>
          <a:xfrm>
            <a:off x="9765792" y="42062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563 ta test</a:t>
            </a:r>
            <a:endParaRPr lang="en-US" sz="1000" dirty="0"/>
          </a:p>
        </p:txBody>
      </p:sp>
      <p:sp>
        <p:nvSpPr>
          <p:cNvPr id="75" name="Shape 56"/>
          <p:cNvSpPr/>
          <p:nvPr/>
        </p:nvSpPr>
        <p:spPr>
          <a:xfrm>
            <a:off x="9217152" y="464515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1F5F9"/>
          </a:solidFill>
          <a:ln/>
        </p:spPr>
      </p:sp>
      <p:pic>
        <p:nvPicPr>
          <p:cNvPr id="76" name="Image 17" descr="C:\Users\user\AppData\Local\Temp\claude\C--Users-user\ecd937e0-60b9-45db-b06f-34b4379b9ec8\scratchpad\deck\assets\LuListChecks-navy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90304" y="4718304"/>
            <a:ext cx="274320" cy="274320"/>
          </a:xfrm>
          <a:prstGeom prst="rect">
            <a:avLst/>
          </a:prstGeom>
        </p:spPr>
      </p:pic>
      <p:sp>
        <p:nvSpPr>
          <p:cNvPr id="77" name="Text 57"/>
          <p:cNvSpPr txBox="1"/>
          <p:nvPr/>
        </p:nvSpPr>
        <p:spPr>
          <a:xfrm>
            <a:off x="9765792" y="461772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oxlint + tsc</a:t>
            </a:r>
            <a:endParaRPr lang="en-US" sz="1250" dirty="0"/>
          </a:p>
        </p:txBody>
      </p:sp>
      <p:sp>
        <p:nvSpPr>
          <p:cNvPr id="78" name="Text 58"/>
          <p:cNvSpPr txBox="1"/>
          <p:nvPr/>
        </p:nvSpPr>
        <p:spPr>
          <a:xfrm>
            <a:off x="9765792" y="486460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lint va tip tekshiruvi</a:t>
            </a:r>
            <a:endParaRPr lang="en-US" sz="1000" dirty="0"/>
          </a:p>
        </p:txBody>
      </p:sp>
      <p:sp>
        <p:nvSpPr>
          <p:cNvPr id="79" name="Shape 59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EFF6FF"/>
          </a:solidFill>
          <a:ln/>
        </p:spPr>
      </p:sp>
      <p:pic>
        <p:nvPicPr>
          <p:cNvPr id="80" name="Image 18" descr="C:\Users\user\AppData\Local\Temp\claude\C--Users-user\ecd937e0-60b9-45db-b06f-34b4379b9ec8\scratchpad\deck\assets\LuZap-bran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1520" y="5678424"/>
            <a:ext cx="274320" cy="274320"/>
          </a:xfrm>
          <a:prstGeom prst="rect">
            <a:avLst/>
          </a:prstGeom>
        </p:spPr>
      </p:pic>
      <p:sp>
        <p:nvSpPr>
          <p:cNvPr id="81" name="Text 60"/>
          <p:cNvSpPr txBox="1"/>
          <p:nvPr/>
        </p:nvSpPr>
        <p:spPr>
          <a:xfrm>
            <a:off x="1143000" y="553212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Nega Haiku 4.5?  </a:t>
            </a:r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Qisqa ekstraksiya uchun tez (median 2,2 s, 8 s limit ichida), arzon, o‘zbek va rus tilidagi yozuvlarni tushunadi.</a:t>
            </a:r>
            <a:endParaRPr lang="en-US" sz="1250" dirty="0"/>
          </a:p>
        </p:txBody>
      </p:sp>
      <p:pic>
        <p:nvPicPr>
          <p:cNvPr id="82" name="Image 19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83" name="Text 61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84" name="Text 62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·  QANDAY ISHLAYDI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Yomonlashgan natija mutaxassisga qanday yetib boradi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1984248"/>
            <a:ext cx="10543032" cy="0"/>
          </a:xfrm>
          <a:prstGeom prst="line">
            <a:avLst/>
          </a:prstGeom>
          <a:noFill/>
          <a:ln w="25400">
            <a:solidFill>
              <a:srgbClr val="BFDB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2057400" cy="29260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783080"/>
            <a:ext cx="402336" cy="402336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2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3152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12" name="Image 0" descr="C:\Users\user\AppData\Local\Temp\claude\C--Users-user\ecd937e0-60b9-45db-b06f-34b4379b9ec8\scratchpad\deck\assets\LuPencilLine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619756"/>
            <a:ext cx="246888" cy="24688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3152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Akusherka saqlaydi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593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 saqlanganda qoidalar dvigateli zonani hisoblaydi.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4782312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77240" y="47823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scoreAssessment() → 'qizil'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807208" y="2286000"/>
            <a:ext cx="2057400" cy="29260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990088" y="1783080"/>
            <a:ext cx="402336" cy="402336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20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299008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990088" y="25146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1" name="Image 1" descr="C:\Users\user\AppData\Local\Temp\claude\C--Users-user\ecd937e0-60b9-45db-b06f-34b4379b9ec8\scratchpad\deck\assets\LuDatabase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244" y="2619756"/>
            <a:ext cx="246888" cy="24688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2990088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Bazaga yoziladi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2990088" y="3593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Baho faqat qo‘shiladi — trigger tahrir va o‘chirishni rad etadi. Yo‘llanma unga composite FK bilan bog‘lanadi.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944368" y="4782312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035808" y="47823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assessments + escalations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065776" y="2286000"/>
            <a:ext cx="2057400" cy="29260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248656" y="1783080"/>
            <a:ext cx="402336" cy="402336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2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524865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248656" y="25146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0" name="Image 2" descr="C:\Users\user\AppData\Local\Temp\claude\C--Users-user\ecd937e0-60b9-45db-b06f-34b4379b9ec8\scratchpad\deck\assets\LuRadio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3812" y="2619756"/>
            <a:ext cx="246888" cy="24688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48656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</a:t>
            </a:r>
            <a:endParaRPr lang="en-US" sz="1350" dirty="0"/>
          </a:p>
        </p:txBody>
      </p:sp>
      <p:sp>
        <p:nvSpPr>
          <p:cNvPr id="32" name="Text 27"/>
          <p:cNvSpPr txBox="1"/>
          <p:nvPr/>
        </p:nvSpPr>
        <p:spPr>
          <a:xfrm>
            <a:off x="5248656" y="3593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Realtime barcha ochiq ekranlarga yuboradi: karta qizaradi, navbat, qo‘ng‘iroqcha, ovoz.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5202936" y="4782312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294376" y="47823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yangilash shart emas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7324344" y="2286000"/>
            <a:ext cx="2057400" cy="29260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507224" y="1783080"/>
            <a:ext cx="402336" cy="402336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20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7507224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3"/>
          <p:cNvSpPr/>
          <p:nvPr/>
        </p:nvSpPr>
        <p:spPr>
          <a:xfrm>
            <a:off x="7507224" y="25146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9" name="Image 3" descr="C:\Users\user\AppData\Local\Temp\claude\C--Users-user\ecd937e0-60b9-45db-b06f-34b4379b9ec8\scratchpad\deck\assets\LuUserCheck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380" y="2619756"/>
            <a:ext cx="246888" cy="246888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507224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Mutaxassis javob beradi</a:t>
            </a:r>
            <a:endParaRPr lang="en-US" sz="1350" dirty="0"/>
          </a:p>
        </p:txBody>
      </p:sp>
      <p:sp>
        <p:nvSpPr>
          <p:cNvPr id="41" name="Text 35"/>
          <p:cNvSpPr txBox="1"/>
          <p:nvPr/>
        </p:nvSpPr>
        <p:spPr>
          <a:xfrm>
            <a:off x="7507224" y="3593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Qabul qiladi, keyin izoh bilan yopadi. Qabul qilish vaqti o‘lchanadi.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7461504" y="4782312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7552944" y="47823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ochiq → qabul → yopiq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9582912" y="2286000"/>
            <a:ext cx="2057400" cy="29260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9765792" y="1783080"/>
            <a:ext cx="402336" cy="402336"/>
          </a:xfrm>
          <a:prstGeom prst="ellipse">
            <a:avLst/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2563EB">
                <a:alpha val="20000"/>
              </a:srgbClr>
            </a:outerShdw>
          </a:effectLst>
        </p:spPr>
      </p:sp>
      <p:sp>
        <p:nvSpPr>
          <p:cNvPr id="46" name="Text 40"/>
          <p:cNvSpPr txBox="1"/>
          <p:nvPr/>
        </p:nvSpPr>
        <p:spPr>
          <a:xfrm>
            <a:off x="976579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Shape 41"/>
          <p:cNvSpPr/>
          <p:nvPr/>
        </p:nvSpPr>
        <p:spPr>
          <a:xfrm>
            <a:off x="9765792" y="2514600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8" name="Image 4" descr="C:\Users\user\AppData\Local\Temp\claude\C--Users-user\ecd937e0-60b9-45db-b06f-34b4379b9ec8\scratchpad\deck\assets\LuSend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948" y="2619756"/>
            <a:ext cx="246888" cy="246888"/>
          </a:xfrm>
          <a:prstGeom prst="rect">
            <a:avLst/>
          </a:prstGeom>
        </p:spPr>
      </p:pic>
      <p:sp>
        <p:nvSpPr>
          <p:cNvPr id="49" name="Text 42"/>
          <p:cNvSpPr txBox="1"/>
          <p:nvPr/>
        </p:nvSpPr>
        <p:spPr>
          <a:xfrm>
            <a:off x="9765792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ogohlantirish</a:t>
            </a:r>
            <a:endParaRPr lang="en-US" sz="1350" dirty="0"/>
          </a:p>
        </p:txBody>
      </p:sp>
      <p:sp>
        <p:nvSpPr>
          <p:cNvPr id="50" name="Text 43"/>
          <p:cNvSpPr txBox="1"/>
          <p:nvPr/>
        </p:nvSpPr>
        <p:spPr>
          <a:xfrm>
            <a:off x="9765792" y="3593592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Ixtiyoriy: mutaxassis telefoniga qisqa xabar — tuman, manba, sabab. Bemor ismi yo‘q.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9720072" y="4782312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9811512" y="47823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STAFF_ALERTS=send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548640" y="5504688"/>
            <a:ext cx="11091672" cy="585216"/>
          </a:xfrm>
          <a:prstGeom prst="roundRect">
            <a:avLst>
              <a:gd name="adj" fmla="val 18750"/>
            </a:avLst>
          </a:prstGeom>
          <a:solidFill>
            <a:srgbClr val="FBEAE8"/>
          </a:solidFill>
          <a:ln/>
        </p:spPr>
      </p:sp>
      <p:sp>
        <p:nvSpPr>
          <p:cNvPr id="54" name="Shape 47"/>
          <p:cNvSpPr/>
          <p:nvPr/>
        </p:nvSpPr>
        <p:spPr>
          <a:xfrm>
            <a:off x="685800" y="5568696"/>
            <a:ext cx="457200" cy="457200"/>
          </a:xfrm>
          <a:prstGeom prst="ellipse">
            <a:avLst/>
          </a:prstGeom>
          <a:solidFill>
            <a:srgbClr val="BE3A2B"/>
          </a:solidFill>
          <a:ln/>
        </p:spPr>
      </p:sp>
      <p:pic>
        <p:nvPicPr>
          <p:cNvPr id="55" name="Image 5" descr="C:\Users\user\AppData\Local\Temp\claude\C--Users-user\ecd937e0-60b9-45db-b06f-34b4379b9ec8\scratchpad\deck\assets\SiTelegram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" y="5673852"/>
            <a:ext cx="246888" cy="246888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1280160" y="5504688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Xuddi shu yo‘l ayolning o‘zi Telegram’da xavf belgisini yozganda ham ishlaydi — navbatda «Telegram orqali» deb belgilanadi.</a:t>
            </a:r>
            <a:endParaRPr lang="en-US" sz="1250" dirty="0"/>
          </a:p>
        </p:txBody>
      </p:sp>
      <p:pic>
        <p:nvPicPr>
          <p:cNvPr id="57" name="Image 6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59" name="Text 50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 ·  AI TURLARI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Qaysi turdagi AI ishlatdik?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623560" cy="438912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SUN’IY INTELLEKT (AI)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2240280"/>
            <a:ext cx="2240280" cy="3657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242316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2C7A50"/>
          </a:solidFill>
          <a:ln/>
        </p:spPr>
      </p:sp>
      <p:pic>
        <p:nvPicPr>
          <p:cNvPr id="11" name="Image 0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2488997"/>
            <a:ext cx="142646" cy="14264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303934" y="2423160"/>
            <a:ext cx="707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BIZDA BOR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280720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Qoidaga asoslangan tizim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33741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Ekspert tizim · simvolik AI · deterministik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39044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risk.ts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11480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 bali va zona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43799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danger-signs.ts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459028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xavf belgilari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48554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schedule.ts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506577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ko‘rik jadvali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533095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medicine.ts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960120" y="554126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dori savoli filtri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0" y="2240280"/>
            <a:ext cx="2743200" cy="3657600"/>
          </a:xfrm>
          <a:prstGeom prst="roundRect">
            <a:avLst>
              <a:gd name="adj" fmla="val 5333"/>
            </a:avLst>
          </a:prstGeom>
          <a:solidFill>
            <a:srgbClr val="DBEAF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364992" y="2368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MASHINAVIY O‘RGANISH (ML)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337560" y="2743200"/>
            <a:ext cx="2468880" cy="3017520"/>
          </a:xfrm>
          <a:prstGeom prst="roundRect">
            <a:avLst>
              <a:gd name="adj" fmla="val 5185"/>
            </a:avLst>
          </a:prstGeom>
          <a:solidFill>
            <a:srgbClr val="BFDBFE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502152" y="2852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CHUQUR O‘RGANISH (DL)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3502152" y="30906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neyron tarmoqlar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474720" y="3456432"/>
            <a:ext cx="2194560" cy="2167128"/>
          </a:xfrm>
          <a:prstGeom prst="roundRect">
            <a:avLst>
              <a:gd name="adj" fmla="val 506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28600" dist="50800" dir="5400000">
              <a:srgbClr val="2563EB">
                <a:alpha val="3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3639312" y="35935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TRANSFORMER · LLM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3639312" y="38679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Claude Haiku 4.5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3639312" y="42611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Multimodal: matn, rasm, PDF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639312" y="516636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2C7A50"/>
          </a:solidFill>
          <a:ln/>
        </p:spPr>
      </p:sp>
      <p:pic>
        <p:nvPicPr>
          <p:cNvPr id="33" name="Image 1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5232197"/>
            <a:ext cx="142646" cy="142646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3983126" y="5166360"/>
            <a:ext cx="7077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BIZDA BOR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492240" y="1691640"/>
            <a:ext cx="51480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693408" y="189280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7" name="Image 2" descr="C:\Users\user\AppData\Local\Temp\claude\C--Users-user\ecd937e0-60b9-45db-b06f-34b4379b9ec8\scratchpad\deck\assets\LuBrainCircuit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1997964"/>
            <a:ext cx="246888" cy="246888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7296912" y="185623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Haiku 4.5 — bu Deep Learning</a:t>
            </a:r>
            <a:endParaRPr lang="en-US" sz="1350" dirty="0"/>
          </a:p>
        </p:txBody>
      </p:sp>
      <p:sp>
        <p:nvSpPr>
          <p:cNvPr id="39" name="Text 34"/>
          <p:cNvSpPr txBox="1"/>
          <p:nvPr/>
        </p:nvSpPr>
        <p:spPr>
          <a:xfrm>
            <a:off x="7296912" y="2167128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Transformer arxitekturasidagi katta neyron tarmoq (LLM). Anthropic tomonidan oldindan o‘qitilgan. Matnni (NLP) va rasm/PDF’ni (kompyuter ko‘rishi) tushunadi.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492240" y="3172968"/>
            <a:ext cx="51480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693408" y="3374136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2" name="Image 3" descr="C:\Users\user\AppData\Local\Temp\claude\C--Users-user\ecd937e0-60b9-45db-b06f-34b4379b9ec8\scratchpad\deck\assets\LuBraces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564" y="3479292"/>
            <a:ext cx="246888" cy="246888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7296912" y="3337560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Biz uni qanday ishlatamiz</a:t>
            </a:r>
            <a:endParaRPr lang="en-US" sz="1350" dirty="0"/>
          </a:p>
        </p:txBody>
      </p:sp>
      <p:sp>
        <p:nvSpPr>
          <p:cNvPr id="44" name="Text 38"/>
          <p:cNvSpPr txBox="1"/>
          <p:nvPr/>
        </p:nvSpPr>
        <p:spPr>
          <a:xfrm>
            <a:off x="7296912" y="3648456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Vazifa — ma’lumot ajratib olish (information extraction), generatsiya emas. Usul: prompt engineering (o‘zbekcha ko‘rsatma + ishlangan misollar) va Structured Outputs — javob faqat JSON Schema’ga mos.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6492240" y="4654296"/>
            <a:ext cx="51480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6693408" y="4855464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FCF1DF"/>
          </a:solidFill>
          <a:ln/>
        </p:spPr>
      </p:sp>
      <p:pic>
        <p:nvPicPr>
          <p:cNvPr id="47" name="Image 4" descr="C:\Users\user\AppData\Local\Temp\claude\C--Users-user\ecd937e0-60b9-45db-b06f-34b4379b9ec8\scratchpad\deck\assets\LuScale-sariq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564" y="4960620"/>
            <a:ext cx="246888" cy="246888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7296912" y="481888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 o‘z modelimizni o‘qitmadik?</a:t>
            </a:r>
            <a:endParaRPr lang="en-US" sz="1350" dirty="0"/>
          </a:p>
        </p:txBody>
      </p:sp>
      <p:sp>
        <p:nvSpPr>
          <p:cNvPr id="49" name="Text 42"/>
          <p:cNvSpPr txBox="1"/>
          <p:nvPr/>
        </p:nvSpPr>
        <p:spPr>
          <a:xfrm>
            <a:off x="7296912" y="5129784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Belgilangan (labelled) mahalliy klinik ma’lumot yo‘q, tibbiy qaror esa tushuntiriladigan bo‘lishi shart. Shuning uchun qaror — shaffof qoidalarda, model faqat o‘qiydi.</a:t>
            </a:r>
            <a:endParaRPr lang="en-US" sz="1050" dirty="0"/>
          </a:p>
        </p:txBody>
      </p:sp>
      <p:pic>
        <p:nvPicPr>
          <p:cNvPr id="50" name="Image 5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52" name="Text 44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 ·  AI XAVFSIZLIK DIZAYNI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Ikki qatlam: model o‘qiydi — qoidalar qaror qiladi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92024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20240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9" name="Image 0" descr="C:\Users\user\AppData\Local\Temp\claude\C--Users-user\ecd937e0-60b9-45db-b06f-34b4379b9ec8\scratchpad\deck\assets\LuFileText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57" y="2012777"/>
            <a:ext cx="217261" cy="21726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2359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Kirish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78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Yozuv, varaqa, xabar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23744" y="2286000"/>
            <a:ext cx="26289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841498" y="1737360"/>
            <a:ext cx="1920240" cy="10972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024378" y="1920240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15" name="Image 1" descr="C:\Users\user\AppData\Local\Temp\claude\C--Users-user\ecd937e0-60b9-45db-b06f-34b4379b9ec8\scratchpad\deck\assets\LuBrainCircuit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15" y="2012777"/>
            <a:ext cx="217261" cy="21726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024378" y="2359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ajratadi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3024378" y="2578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2-qatlam: faqat maydonlar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816602" y="2286000"/>
            <a:ext cx="26289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5134356" y="1737360"/>
            <a:ext cx="192024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17236" y="1920240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1" name="Image 2" descr="C:\Users\user\AppData\Local\Temp\claude\C--Users-user\ecd937e0-60b9-45db-b06f-34b4379b9ec8\scratchpad\deck\assets\LuUserCheck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773" y="2012777"/>
            <a:ext cx="217261" cy="21726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317236" y="2359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Inson tekshiradi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317236" y="2578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bir AI maydoni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7109460" y="2286000"/>
            <a:ext cx="26289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427214" y="1737360"/>
            <a:ext cx="1920240" cy="10972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610094" y="1920240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/>
        </p:spPr>
      </p:sp>
      <p:pic>
        <p:nvPicPr>
          <p:cNvPr id="27" name="Image 3" descr="C:\Users\user\AppData\Local\Temp\claude\C--Users-user\ecd937e0-60b9-45db-b06f-34b4379b9ec8\scratchpad\deck\assets\LuScale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2631" y="2012777"/>
            <a:ext cx="217261" cy="21726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610094" y="2359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risk.ts qaror qiladi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610094" y="2578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1-qatlam: shaffof qoidalar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9402318" y="2286000"/>
            <a:ext cx="262890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9720072" y="1737360"/>
            <a:ext cx="1920240" cy="1097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902952" y="1920240"/>
            <a:ext cx="402336" cy="402336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3" name="Image 4" descr="C:\Users\user\AppData\Local\Temp\claude\C--Users-user\ecd937e0-60b9-45db-b06f-34b4379b9ec8\scratchpad\deck\assets\LuSiren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5489" y="2012777"/>
            <a:ext cx="217261" cy="21726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902952" y="23591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Zona + omillar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902952" y="25786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Mutaxassis hal qiladi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48640" y="3108960"/>
            <a:ext cx="5440680" cy="2240280"/>
          </a:xfrm>
          <a:prstGeom prst="roundRect">
            <a:avLst>
              <a:gd name="adj" fmla="val 6531"/>
            </a:avLst>
          </a:prstGeom>
          <a:solidFill>
            <a:srgbClr val="E7F3ED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822960" y="331012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C7A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nima qiladi</a:t>
            </a:r>
            <a:endParaRPr lang="en-US" sz="1500" dirty="0"/>
          </a:p>
        </p:txBody>
      </p:sp>
      <p:sp>
        <p:nvSpPr>
          <p:cNvPr id="38" name="Shape 31"/>
          <p:cNvSpPr/>
          <p:nvPr/>
        </p:nvSpPr>
        <p:spPr>
          <a:xfrm>
            <a:off x="822960" y="3803904"/>
            <a:ext cx="237744" cy="237744"/>
          </a:xfrm>
          <a:prstGeom prst="ellipse">
            <a:avLst/>
          </a:prstGeom>
          <a:solidFill>
            <a:srgbClr val="2C7A50"/>
          </a:solidFill>
          <a:ln/>
        </p:spPr>
      </p:sp>
      <p:pic>
        <p:nvPicPr>
          <p:cNvPr id="39" name="Image 5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641" y="3858585"/>
            <a:ext cx="128382" cy="12838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170432" y="3767328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Akusherka yozuvini o‘qiydi (o‘zbek, rus)</a:t>
            </a:r>
            <a:endParaRPr lang="en-US" sz="1250" dirty="0"/>
          </a:p>
        </p:txBody>
      </p:sp>
      <p:sp>
        <p:nvSpPr>
          <p:cNvPr id="41" name="Shape 33"/>
          <p:cNvSpPr/>
          <p:nvPr/>
        </p:nvSpPr>
        <p:spPr>
          <a:xfrm>
            <a:off x="822960" y="4187952"/>
            <a:ext cx="237744" cy="237744"/>
          </a:xfrm>
          <a:prstGeom prst="ellipse">
            <a:avLst/>
          </a:prstGeom>
          <a:solidFill>
            <a:srgbClr val="2C7A50"/>
          </a:solidFill>
          <a:ln/>
        </p:spPr>
      </p:sp>
      <p:pic>
        <p:nvPicPr>
          <p:cNvPr id="42" name="Image 6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641" y="4242633"/>
            <a:ext cx="128382" cy="128382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170432" y="41513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Tahlil varaqasi rasmi yoki PDF’ini o‘qiydi</a:t>
            </a:r>
            <a:endParaRPr lang="en-US" sz="1250" dirty="0"/>
          </a:p>
        </p:txBody>
      </p:sp>
      <p:sp>
        <p:nvSpPr>
          <p:cNvPr id="44" name="Shape 35"/>
          <p:cNvSpPr/>
          <p:nvPr/>
        </p:nvSpPr>
        <p:spPr>
          <a:xfrm>
            <a:off x="822960" y="4572000"/>
            <a:ext cx="237744" cy="237744"/>
          </a:xfrm>
          <a:prstGeom prst="ellipse">
            <a:avLst/>
          </a:prstGeom>
          <a:solidFill>
            <a:srgbClr val="2C7A50"/>
          </a:solidFill>
          <a:ln/>
        </p:spPr>
      </p:sp>
      <p:pic>
        <p:nvPicPr>
          <p:cNvPr id="45" name="Image 7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641" y="4626681"/>
            <a:ext cx="128382" cy="128382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170432" y="453542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Ayol xabaridan xavf belgilarini topadi</a:t>
            </a:r>
            <a:endParaRPr lang="en-US" sz="1250" dirty="0"/>
          </a:p>
        </p:txBody>
      </p:sp>
      <p:sp>
        <p:nvSpPr>
          <p:cNvPr id="47" name="Shape 37"/>
          <p:cNvSpPr/>
          <p:nvPr/>
        </p:nvSpPr>
        <p:spPr>
          <a:xfrm>
            <a:off x="822960" y="4956048"/>
            <a:ext cx="237744" cy="237744"/>
          </a:xfrm>
          <a:prstGeom prst="ellipse">
            <a:avLst/>
          </a:prstGeom>
          <a:solidFill>
            <a:srgbClr val="2C7A50"/>
          </a:solidFill>
          <a:ln/>
        </p:spPr>
      </p:sp>
      <p:pic>
        <p:nvPicPr>
          <p:cNvPr id="48" name="Image 8" descr="C:\Users\user\AppData\Local\Temp\claude\C--Users-user\ecd937e0-60b9-45db-b06f-34b4379b9ec8\scratchpad\deck\assets\LuCheck-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641" y="5010729"/>
            <a:ext cx="128382" cy="128382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170432" y="4919472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bir maydon: true / false / not_mentioned</a:t>
            </a:r>
            <a:endParaRPr lang="en-US" sz="1250" dirty="0"/>
          </a:p>
        </p:txBody>
      </p:sp>
      <p:sp>
        <p:nvSpPr>
          <p:cNvPr id="50" name="Shape 39"/>
          <p:cNvSpPr/>
          <p:nvPr/>
        </p:nvSpPr>
        <p:spPr>
          <a:xfrm>
            <a:off x="6199632" y="3108960"/>
            <a:ext cx="5440680" cy="2240280"/>
          </a:xfrm>
          <a:prstGeom prst="roundRect">
            <a:avLst>
              <a:gd name="adj" fmla="val 6531"/>
            </a:avLst>
          </a:prstGeom>
          <a:solidFill>
            <a:srgbClr val="FBEAE8"/>
          </a:solidFill>
          <a:ln/>
        </p:spPr>
      </p:sp>
      <p:sp>
        <p:nvSpPr>
          <p:cNvPr id="51" name="Text 40"/>
          <p:cNvSpPr txBox="1"/>
          <p:nvPr/>
        </p:nvSpPr>
        <p:spPr>
          <a:xfrm>
            <a:off x="6473952" y="331012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E3A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hech qachon qilmaydi</a:t>
            </a:r>
            <a:endParaRPr lang="en-US" sz="1500" dirty="0"/>
          </a:p>
        </p:txBody>
      </p:sp>
      <p:sp>
        <p:nvSpPr>
          <p:cNvPr id="52" name="Shape 41"/>
          <p:cNvSpPr/>
          <p:nvPr/>
        </p:nvSpPr>
        <p:spPr>
          <a:xfrm>
            <a:off x="6473952" y="3803904"/>
            <a:ext cx="237744" cy="237744"/>
          </a:xfrm>
          <a:prstGeom prst="ellipse">
            <a:avLst/>
          </a:prstGeom>
          <a:solidFill>
            <a:srgbClr val="BE3A2B"/>
          </a:solidFill>
          <a:ln/>
        </p:spPr>
      </p:sp>
      <p:pic>
        <p:nvPicPr>
          <p:cNvPr id="53" name="Image 9" descr="C:\Users\user\AppData\Local\Temp\claude\C--Users-user\ecd937e0-60b9-45db-b06f-34b4379b9ec8\scratchpad\deck\assets\LuCircleX-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28633" y="3858585"/>
            <a:ext cx="128382" cy="128382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6821424" y="3767328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Ball bermaydi, zona tanlamaydi</a:t>
            </a:r>
            <a:endParaRPr lang="en-US" sz="1250" dirty="0"/>
          </a:p>
        </p:txBody>
      </p:sp>
      <p:sp>
        <p:nvSpPr>
          <p:cNvPr id="55" name="Shape 43"/>
          <p:cNvSpPr/>
          <p:nvPr/>
        </p:nvSpPr>
        <p:spPr>
          <a:xfrm>
            <a:off x="6473952" y="4187952"/>
            <a:ext cx="237744" cy="237744"/>
          </a:xfrm>
          <a:prstGeom prst="ellipse">
            <a:avLst/>
          </a:prstGeom>
          <a:solidFill>
            <a:srgbClr val="BE3A2B"/>
          </a:solidFill>
          <a:ln/>
        </p:spPr>
      </p:sp>
      <p:pic>
        <p:nvPicPr>
          <p:cNvPr id="56" name="Image 10" descr="C:\Users\user\AppData\Local\Temp\claude\C--Users-user\ecd937e0-60b9-45db-b06f-34b4379b9ec8\scratchpad\deck\assets\LuCircleX-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28633" y="4242633"/>
            <a:ext cx="128382" cy="128382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6821424" y="415137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Triaj qilmaydi — shoshilinchlik WHO ro‘yxatida</a:t>
            </a:r>
            <a:endParaRPr lang="en-US" sz="1250" dirty="0"/>
          </a:p>
        </p:txBody>
      </p:sp>
      <p:sp>
        <p:nvSpPr>
          <p:cNvPr id="58" name="Shape 45"/>
          <p:cNvSpPr/>
          <p:nvPr/>
        </p:nvSpPr>
        <p:spPr>
          <a:xfrm>
            <a:off x="6473952" y="4572000"/>
            <a:ext cx="237744" cy="237744"/>
          </a:xfrm>
          <a:prstGeom prst="ellipse">
            <a:avLst/>
          </a:prstGeom>
          <a:solidFill>
            <a:srgbClr val="BE3A2B"/>
          </a:solidFill>
          <a:ln/>
        </p:spPr>
      </p:sp>
      <p:pic>
        <p:nvPicPr>
          <p:cNvPr id="59" name="Image 11" descr="C:\Users\user\AppData\Local\Temp\claude\C--Users-user\ecd937e0-60b9-45db-b06f-34b4379b9ec8\scratchpad\deck\assets\LuCircleX-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8633" y="4626681"/>
            <a:ext cx="128382" cy="128382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6821424" y="4535424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Sana yoki dori tanlamaydi</a:t>
            </a:r>
            <a:endParaRPr lang="en-US" sz="1250" dirty="0"/>
          </a:p>
        </p:txBody>
      </p:sp>
      <p:sp>
        <p:nvSpPr>
          <p:cNvPr id="61" name="Shape 47"/>
          <p:cNvSpPr/>
          <p:nvPr/>
        </p:nvSpPr>
        <p:spPr>
          <a:xfrm>
            <a:off x="6473952" y="4956048"/>
            <a:ext cx="237744" cy="237744"/>
          </a:xfrm>
          <a:prstGeom prst="ellipse">
            <a:avLst/>
          </a:prstGeom>
          <a:solidFill>
            <a:srgbClr val="BE3A2B"/>
          </a:solidFill>
          <a:ln/>
        </p:spPr>
      </p:sp>
      <p:pic>
        <p:nvPicPr>
          <p:cNvPr id="62" name="Image 12" descr="C:\Users\user\AppData\Local\Temp\claude\C--Users-user\ecd937e0-60b9-45db-b06f-34b4379b9ec8\scratchpad\deck\assets\LuCircleX-whit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28633" y="5010729"/>
            <a:ext cx="128382" cy="128382"/>
          </a:xfrm>
          <a:prstGeom prst="rect">
            <a:avLst/>
          </a:prstGeom>
        </p:spPr>
      </p:pic>
      <p:sp>
        <p:nvSpPr>
          <p:cNvPr id="63" name="Text 48"/>
          <p:cNvSpPr txBox="1"/>
          <p:nvPr/>
        </p:nvSpPr>
        <p:spPr>
          <a:xfrm>
            <a:off x="6821424" y="4919472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Bemorga yozmaydi — bot faqat tayyor matn yuboradi</a:t>
            </a:r>
            <a:endParaRPr lang="en-US" sz="1250" dirty="0"/>
          </a:p>
        </p:txBody>
      </p:sp>
      <p:sp>
        <p:nvSpPr>
          <p:cNvPr id="64" name="Shape 49"/>
          <p:cNvSpPr/>
          <p:nvPr/>
        </p:nvSpPr>
        <p:spPr>
          <a:xfrm>
            <a:off x="548640" y="553212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0F172A"/>
          </a:solidFill>
          <a:ln/>
        </p:spPr>
      </p:sp>
      <p:sp>
        <p:nvSpPr>
          <p:cNvPr id="65" name="Text 50"/>
          <p:cNvSpPr txBox="1"/>
          <p:nvPr/>
        </p:nvSpPr>
        <p:spPr>
          <a:xfrm>
            <a:off x="822960" y="55321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BOOLEAN_ENUM = ['true', 'false', 'not_mentioned']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Tekshirilmagan ≠ normal: yozilmagan topilma hech qachon «yo‘q» deb saqlanmaydi.</a:t>
            </a:r>
            <a:endParaRPr lang="en-US" sz="1200" dirty="0"/>
          </a:p>
        </p:txBody>
      </p:sp>
      <p:pic>
        <p:nvPicPr>
          <p:cNvPr id="66" name="Image 13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67" name="Text 51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68" name="Text 52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 ·  HUJJATDAN FORMAGA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Ha, bor: </a:t>
            </a:r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varaqani yuklang — AI o‘qiydi va formani to‘ldiradi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463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Savol: shifokor tahlil hujjatini yuklasa, AI uni o‘qib formani to‘ldira oladimi?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057400" cy="26974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920240" y="22128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11" name="Image 0" descr="C:\Users\user\AppData\Local\Temp\claude\C--Users-user\ecd937e0-60b9-45db-b06f-34b4379b9ec8\scratchpad\deck\assets\LuUpload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882" y="2303922"/>
            <a:ext cx="256764" cy="2567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31520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Yuklash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1089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Rasm (JPG, PNG, WEBP) yoki PDF — telefon kamerasidan ham.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" y="427939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Varaqani yuklash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642616" y="3360420"/>
            <a:ext cx="12801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807208" y="2011680"/>
            <a:ext cx="2057400" cy="26974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178808" y="22128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90088" y="219456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0" name="Image 1" descr="C:\Users\user\AppData\Local\Temp\claude\C--Users-user\ecd937e0-60b9-45db-b06f-34b4379b9ec8\scratchpad\deck\assets\LuEraser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450" y="2303922"/>
            <a:ext cx="256764" cy="25676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990088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Brauzerda tayyorlash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2990088" y="31089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Rasm 2000 px gacha qayta chiziladi: 3–12 MB → bir necha yuz KB. GPS metama’lumoti o‘chadi.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2944368" y="427939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035808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≤ 3 MB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901184" y="3360420"/>
            <a:ext cx="12801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065776" y="2011680"/>
            <a:ext cx="2057400" cy="26974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7" name="Text 23"/>
          <p:cNvSpPr txBox="1"/>
          <p:nvPr/>
        </p:nvSpPr>
        <p:spPr>
          <a:xfrm>
            <a:off x="6437376" y="22128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248656" y="219456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9" name="Image 2" descr="C:\Users\user\AppData\Local\Temp\claude\C--Users-user\ecd937e0-60b9-45db-b06f-34b4379b9ec8\scratchpad\deck\assets\LuLock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018" y="2303922"/>
            <a:ext cx="256764" cy="25676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5248656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Xavfsiz so‘rov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5248656" y="31089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/api/extract faqat jonli Supabase sessiyasiga javob beradi. API kaliti serverda.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5202936" y="427939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5294376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 Bearer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7159752" y="3360420"/>
            <a:ext cx="12801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7324344" y="2011680"/>
            <a:ext cx="2057400" cy="2697480"/>
          </a:xfrm>
          <a:prstGeom prst="roundRect">
            <a:avLst>
              <a:gd name="adj" fmla="val 7111"/>
            </a:avLst>
          </a:prstGeom>
          <a:solidFill>
            <a:srgbClr val="0F172A"/>
          </a:solidFill>
          <a:ln/>
          <a:effectLst>
            <a:outerShdw sx="100000" sy="100000" kx="0" ky="0" algn="bl" rotWithShape="0" blurRad="279400" dist="50800" dir="5400000">
              <a:srgbClr val="2563EB">
                <a:alpha val="25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8695944" y="22128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7507224" y="219456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2563EB"/>
          </a:solidFill>
          <a:ln/>
        </p:spPr>
      </p:sp>
      <p:pic>
        <p:nvPicPr>
          <p:cNvPr id="38" name="Image 3" descr="C:\Users\user\AppData\Local\Temp\claude\C--Users-user\ecd937e0-60b9-45db-b06f-34b4379b9ec8\scratchpad\deck\assets\LuScanText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586" y="2303922"/>
            <a:ext cx="256764" cy="25676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7507224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o‘qiydi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7507224" y="31089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Vision: fayl image yoki document bloki + hujjat qoidalari. Javob — qat’iy JSON Schema.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461504" y="427939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7552944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claude-haiku-4-5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9418320" y="3360420"/>
            <a:ext cx="128016" cy="0"/>
          </a:xfrm>
          <a:prstGeom prst="line">
            <a:avLst/>
          </a:prstGeom>
          <a:noFill/>
          <a:ln w="22225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9582912" y="2011680"/>
            <a:ext cx="2057400" cy="269748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5" name="Text 39"/>
          <p:cNvSpPr txBox="1"/>
          <p:nvPr/>
        </p:nvSpPr>
        <p:spPr>
          <a:xfrm>
            <a:off x="10954512" y="22128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9765792" y="219456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7" name="Image 4" descr="C:\Users\user\AppData\Local\Temp\claude\C--Users-user\ecd937e0-60b9-45db-b06f-34b4379b9ec8\scratchpad\deck\assets\LuUserCheck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154" y="2303922"/>
            <a:ext cx="256764" cy="256764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9765792" y="27889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Inson tasdiqlaydi</a:t>
            </a:r>
            <a:endParaRPr lang="en-US" sz="1350" dirty="0"/>
          </a:p>
        </p:txBody>
      </p:sp>
      <p:sp>
        <p:nvSpPr>
          <p:cNvPr id="49" name="Text 42"/>
          <p:cNvSpPr txBox="1"/>
          <p:nvPr/>
        </p:nvSpPr>
        <p:spPr>
          <a:xfrm>
            <a:off x="9765792" y="31089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bir to‘ldirilgan maydonda AI belgisi. Akusherka tekshiradi, tuzatadi, saqlaydi.</a:t>
            </a:r>
            <a:endParaRPr lang="en-US" sz="1050" dirty="0"/>
          </a:p>
        </p:txBody>
      </p:sp>
      <p:sp>
        <p:nvSpPr>
          <p:cNvPr id="50" name="Shape 43"/>
          <p:cNvSpPr/>
          <p:nvPr/>
        </p:nvSpPr>
        <p:spPr>
          <a:xfrm>
            <a:off x="9720072" y="4279392"/>
            <a:ext cx="1783080" cy="292608"/>
          </a:xfrm>
          <a:prstGeom prst="roundRect">
            <a:avLst>
              <a:gd name="adj" fmla="val 18750"/>
            </a:avLst>
          </a:prstGeom>
          <a:solidFill>
            <a:srgbClr val="EFF6FF"/>
          </a:solidFill>
          <a:ln/>
        </p:spPr>
      </p:sp>
      <p:sp>
        <p:nvSpPr>
          <p:cNvPr id="51" name="Text 44"/>
          <p:cNvSpPr txBox="1"/>
          <p:nvPr/>
        </p:nvSpPr>
        <p:spPr>
          <a:xfrm>
            <a:off x="9811512" y="4279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zonani risk.ts hisoblaydi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548640" y="4983480"/>
            <a:ext cx="3593592" cy="1097280"/>
          </a:xfrm>
          <a:prstGeom prst="roundRect">
            <a:avLst>
              <a:gd name="adj" fmla="val 11667"/>
            </a:avLst>
          </a:prstGeom>
          <a:solidFill>
            <a:srgbClr val="EFF6FF"/>
          </a:solidFill>
          <a:ln/>
        </p:spPr>
      </p:sp>
      <p:pic>
        <p:nvPicPr>
          <p:cNvPr id="53" name="Image 5" descr="C:\Users\user\AppData\Local\Temp\claude\C--Users-user\ecd937e0-60b9-45db-b06f-34b4379b9ec8\scratchpad\deck\assets\LuFileCheck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166360"/>
            <a:ext cx="310896" cy="310896"/>
          </a:xfrm>
          <a:prstGeom prst="rect">
            <a:avLst/>
          </a:prstGeom>
        </p:spPr>
      </p:pic>
      <p:sp>
        <p:nvSpPr>
          <p:cNvPr id="54" name="Text 46"/>
          <p:cNvSpPr txBox="1"/>
          <p:nvPr/>
        </p:nvSpPr>
        <p:spPr>
          <a:xfrm>
            <a:off x="1152144" y="512978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Fayl saqlanadi</a:t>
            </a:r>
            <a:endParaRPr lang="en-US" sz="1300" dirty="0"/>
          </a:p>
        </p:txBody>
      </p:sp>
      <p:sp>
        <p:nvSpPr>
          <p:cNvPr id="55" name="Text 47"/>
          <p:cNvSpPr txBox="1"/>
          <p:nvPr/>
        </p:nvSpPr>
        <p:spPr>
          <a:xfrm>
            <a:off x="1152144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Ko‘rik bilan birga yopiq Storage bucket’da (patient-documents); bemor sahifasida ko‘rinadi.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4297680" y="4983480"/>
            <a:ext cx="3593592" cy="1097280"/>
          </a:xfrm>
          <a:prstGeom prst="roundRect">
            <a:avLst>
              <a:gd name="adj" fmla="val 11667"/>
            </a:avLst>
          </a:prstGeom>
          <a:solidFill>
            <a:srgbClr val="EFF6FF"/>
          </a:solidFill>
          <a:ln/>
        </p:spPr>
      </p:sp>
      <p:pic>
        <p:nvPicPr>
          <p:cNvPr id="57" name="Image 6" descr="C:\Users\user\AppData\Local\Temp\claude\C--Users-user\ecd937e0-60b9-45db-b06f-34b4379b9ec8\scratchpad\deck\assets\LuHistory-bran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5166360"/>
            <a:ext cx="310896" cy="310896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4901184" y="512978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izi</a:t>
            </a:r>
            <a:endParaRPr lang="en-US" sz="1300" dirty="0"/>
          </a:p>
        </p:txBody>
      </p:sp>
      <p:sp>
        <p:nvSpPr>
          <p:cNvPr id="59" name="Text 50"/>
          <p:cNvSpPr txBox="1"/>
          <p:nvPr/>
        </p:nvSpPr>
        <p:spPr>
          <a:xfrm>
            <a:off x="4901184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extracted_json — modelning xom javobi va inson uni o‘zgartirganmi — bazada qoladi.</a:t>
            </a:r>
            <a:endParaRPr lang="en-US" sz="1050" dirty="0"/>
          </a:p>
        </p:txBody>
      </p:sp>
      <p:sp>
        <p:nvSpPr>
          <p:cNvPr id="60" name="Shape 51"/>
          <p:cNvSpPr/>
          <p:nvPr/>
        </p:nvSpPr>
        <p:spPr>
          <a:xfrm>
            <a:off x="8046720" y="4983480"/>
            <a:ext cx="3593592" cy="1097280"/>
          </a:xfrm>
          <a:prstGeom prst="roundRect">
            <a:avLst>
              <a:gd name="adj" fmla="val 11667"/>
            </a:avLst>
          </a:prstGeom>
          <a:solidFill>
            <a:srgbClr val="EFF6FF"/>
          </a:solidFill>
          <a:ln/>
        </p:spPr>
      </p:sp>
      <p:pic>
        <p:nvPicPr>
          <p:cNvPr id="61" name="Image 7" descr="C:\Users\user\AppData\Local\Temp\claude\C--Users-user\ecd937e0-60b9-45db-b06f-34b4379b9ec8\scratchpad\deck\assets\LuShieldCheck-bra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5166360"/>
            <a:ext cx="310896" cy="310896"/>
          </a:xfrm>
          <a:prstGeom prst="rect">
            <a:avLst/>
          </a:prstGeom>
        </p:spPr>
      </p:pic>
      <p:sp>
        <p:nvSpPr>
          <p:cNvPr id="62" name="Text 52"/>
          <p:cNvSpPr txBox="1"/>
          <p:nvPr/>
        </p:nvSpPr>
        <p:spPr>
          <a:xfrm>
            <a:off x="8650224" y="5129784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Zaxira yo‘l</a:t>
            </a:r>
            <a:endParaRPr lang="en-US" sz="1300" dirty="0"/>
          </a:p>
        </p:txBody>
      </p:sp>
      <p:sp>
        <p:nvSpPr>
          <p:cNvPr id="63" name="Text 53"/>
          <p:cNvSpPr txBox="1"/>
          <p:nvPr/>
        </p:nvSpPr>
        <p:spPr>
          <a:xfrm>
            <a:off x="8650224" y="544068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javob bermasa (30 s limit) yoki xato bo‘lsa — forma oddiy qo‘lda kiritish bilan ishlaydi.</a:t>
            </a:r>
            <a:endParaRPr lang="en-US" sz="1050" dirty="0"/>
          </a:p>
        </p:txBody>
      </p:sp>
      <p:pic>
        <p:nvPicPr>
          <p:cNvPr id="64" name="Image 8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66" name="Text 55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07  ·  HUJJATDAN FORMAGA — QOIDALAR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Varaqa chalg‘itishi mumkin — shuning uchun qat’iy qoidalar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837944"/>
            <a:ext cx="438912" cy="438912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8" name="Image 0" descr="C:\Users\user\AppData\Local\Temp\claude\C--Users-user\ecd937e0-60b9-45db-b06f-34b4379b9ec8\scratchpad\deck\assets\LuBan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1938894"/>
            <a:ext cx="237012" cy="2370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52144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 ≠ natija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" y="20574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«Norma: 120–140» kabi qiymat hech qachon qaytarilmaydi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523744"/>
            <a:ext cx="438912" cy="438912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12" name="Image 1" descr="C:\Users\user\AppData\Local\Temp\claude\C--Users-user\ecd937e0-60b9-45db-b06f-34b4379b9ec8\scratchpad\deck\assets\LuPencilLine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2624694"/>
            <a:ext cx="237012" cy="2370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52144" y="2468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Noaniq qo‘lyozma → bo‘sh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152144" y="27432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raqam aniq o‘qilmasa, akusherka o‘zi yozadi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209544"/>
            <a:ext cx="438912" cy="438912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16" name="Image 2" descr="C:\Users\user\AppData\Local\Temp\claude\C--Users-user\ecd937e0-60b9-45db-b06f-34b4379b9ec8\scratchpad\deck\assets\LuHistory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3310494"/>
            <a:ext cx="237012" cy="2370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52144" y="3154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 nechta natija → bo‘sh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52144" y="34290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Turli sanalar bo‘lsa, akusherka tanlaydi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95344"/>
            <a:ext cx="438912" cy="438912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0" name="Image 3" descr="C:\Users\user\AppData\Local\Temp\claude\C--Users-user\ecd937e0-60b9-45db-b06f-34b4379b9ec8\scratchpad\deck\assets\LuScale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3996294"/>
            <a:ext cx="237012" cy="23701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52144" y="3840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Birliklar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1152144" y="41148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Gemoglobin g/dL → g/L (10,5 → 105); noaniq birlik → bo‘sh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4581144"/>
            <a:ext cx="438912" cy="438912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4" name="Image 4" descr="C:\Users\user\AppData\Local\Temp\claude\C--Users-user\ecd937e0-60b9-45db-b06f-34b4379b9ec8\scratchpad\deck\assets\LuLanguages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4682094"/>
            <a:ext cx="237012" cy="23701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152144" y="4526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Ruscha yorliqlar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152144" y="48006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«Гемоглобин», «Белок в моче», «АД» ham o‘qiladi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48640" y="5266944"/>
            <a:ext cx="438912" cy="438912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8" name="Image 5" descr="C:\Users\user\AppData\Local\Temp\claude\C--Users-user\ecd937e0-60b9-45db-b06f-34b4379b9ec8\scratchpad\deck\assets\LuCircleX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0" y="5367894"/>
            <a:ext cx="237012" cy="23701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152144" y="5212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O‘tkazilmagan ≠ manfiy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152144" y="548640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«не проводился» → not_mentioned; «abs», «–» → false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5532120" y="1783080"/>
            <a:ext cx="2606040" cy="39319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54000" dist="76200" dir="5400000">
              <a:srgbClr val="0F172A">
                <a:alpha val="16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5733288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Результаты анализов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5733288" y="2295144"/>
            <a:ext cx="1554480" cy="109728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/>
        </p:spPr>
      </p:sp>
      <p:sp>
        <p:nvSpPr>
          <p:cNvPr id="34" name="Shape 26"/>
          <p:cNvSpPr/>
          <p:nvPr/>
        </p:nvSpPr>
        <p:spPr>
          <a:xfrm>
            <a:off x="5733288" y="2560320"/>
            <a:ext cx="2203704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5733288" y="2697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Гемоглобин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903720" y="267919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6976872" y="2679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10,5 g/dL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5733288" y="2971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норма 12–14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6464808" y="2980944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BEAE8"/>
          </a:solidFill>
          <a:ln/>
        </p:spPr>
      </p:sp>
      <p:sp>
        <p:nvSpPr>
          <p:cNvPr id="40" name="Text 32"/>
          <p:cNvSpPr txBox="1"/>
          <p:nvPr/>
        </p:nvSpPr>
        <p:spPr>
          <a:xfrm>
            <a:off x="6611112" y="2980944"/>
            <a:ext cx="539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E3A2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e’tiborsiz</a:t>
            </a:r>
            <a:endParaRPr lang="en-US" sz="750" dirty="0"/>
          </a:p>
        </p:txBody>
      </p:sp>
      <p:sp>
        <p:nvSpPr>
          <p:cNvPr id="41" name="Text 33"/>
          <p:cNvSpPr txBox="1"/>
          <p:nvPr/>
        </p:nvSpPr>
        <p:spPr>
          <a:xfrm>
            <a:off x="5733288" y="324612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Белок в моче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6903720" y="322783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6976872" y="3227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++</a:t>
            </a:r>
            <a:endParaRPr lang="en-US" sz="1000" dirty="0"/>
          </a:p>
        </p:txBody>
      </p:sp>
      <p:sp>
        <p:nvSpPr>
          <p:cNvPr id="44" name="Text 36"/>
          <p:cNvSpPr txBox="1"/>
          <p:nvPr/>
        </p:nvSpPr>
        <p:spPr>
          <a:xfrm>
            <a:off x="5733288" y="37947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АД</a:t>
            </a:r>
            <a:endParaRPr lang="en-US" sz="950" dirty="0"/>
          </a:p>
        </p:txBody>
      </p:sp>
      <p:sp>
        <p:nvSpPr>
          <p:cNvPr id="45" name="Shape 37"/>
          <p:cNvSpPr/>
          <p:nvPr/>
        </p:nvSpPr>
        <p:spPr>
          <a:xfrm>
            <a:off x="6903720" y="37764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/>
        </p:spPr>
      </p:sp>
      <p:sp>
        <p:nvSpPr>
          <p:cNvPr id="46" name="Text 38"/>
          <p:cNvSpPr txBox="1"/>
          <p:nvPr/>
        </p:nvSpPr>
        <p:spPr>
          <a:xfrm>
            <a:off x="6976872" y="3776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145/95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5733288" y="43434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 берем.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6903720" y="432511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6976872" y="4325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32 нед.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5733288" y="48920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Глюкоза</a:t>
            </a:r>
            <a:endParaRPr lang="en-US" sz="950" dirty="0"/>
          </a:p>
        </p:txBody>
      </p:sp>
      <p:sp>
        <p:nvSpPr>
          <p:cNvPr id="51" name="Shape 43"/>
          <p:cNvSpPr/>
          <p:nvPr/>
        </p:nvSpPr>
        <p:spPr>
          <a:xfrm>
            <a:off x="6903720" y="487375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/>
        </p:spPr>
      </p:sp>
      <p:sp>
        <p:nvSpPr>
          <p:cNvPr id="52" name="Text 44"/>
          <p:cNvSpPr txBox="1"/>
          <p:nvPr/>
        </p:nvSpPr>
        <p:spPr>
          <a:xfrm>
            <a:off x="6976872" y="4873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 пров.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5532120" y="578815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Namunaviy varaqa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8275320" y="3502152"/>
            <a:ext cx="502920" cy="502920"/>
          </a:xfrm>
          <a:prstGeom prst="ellipse">
            <a:avLst/>
          </a:prstGeom>
          <a:solidFill>
            <a:srgbClr val="0F172A"/>
          </a:solidFill>
          <a:ln/>
          <a:effectLst>
            <a:outerShdw sx="100000" sy="100000" kx="0" ky="0" algn="bl" rotWithShape="0" blurRad="203200" dist="50800" dir="5400000">
              <a:srgbClr val="2563EB">
                <a:alpha val="30000"/>
              </a:srgbClr>
            </a:outerShdw>
          </a:effectLst>
        </p:spPr>
      </p:sp>
      <p:pic>
        <p:nvPicPr>
          <p:cNvPr id="55" name="Image 6" descr="C:\Users\user\AppData\Local\Temp\claude\C--Users-user\ecd937e0-60b9-45db-b06f-34b4379b9ec8\scratchpad\deck\assets\LuSparkles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4192" y="3621024"/>
            <a:ext cx="265176" cy="265176"/>
          </a:xfrm>
          <a:prstGeom prst="rect">
            <a:avLst/>
          </a:prstGeom>
        </p:spPr>
      </p:pic>
      <p:sp>
        <p:nvSpPr>
          <p:cNvPr id="56" name="Shape 47"/>
          <p:cNvSpPr/>
          <p:nvPr/>
        </p:nvSpPr>
        <p:spPr>
          <a:xfrm>
            <a:off x="8915400" y="1783080"/>
            <a:ext cx="2724912" cy="393192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54000" dist="50800" dir="5400000">
              <a:srgbClr val="0F172A">
                <a:alpha val="14000"/>
              </a:srgbClr>
            </a:outerShdw>
          </a:effectLst>
        </p:spPr>
      </p:sp>
      <p:pic>
        <p:nvPicPr>
          <p:cNvPr id="57" name="Image 7" descr="C:\Users\user\AppData\Local\Temp\claude\C--Users-user\ecd937e0-60b9-45db-b06f-34b4379b9ec8\scratchpad\deck\assets\LuSparkles-bran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8280" y="1965960"/>
            <a:ext cx="219456" cy="219456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937260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yordamchi</a:t>
            </a:r>
            <a:endParaRPr lang="en-US" sz="1100" dirty="0"/>
          </a:p>
        </p:txBody>
      </p:sp>
      <p:sp>
        <p:nvSpPr>
          <p:cNvPr id="59" name="Shape 49"/>
          <p:cNvSpPr/>
          <p:nvPr/>
        </p:nvSpPr>
        <p:spPr>
          <a:xfrm>
            <a:off x="9079992" y="2313432"/>
            <a:ext cx="2395728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/>
        </p:spPr>
      </p:sp>
      <p:sp>
        <p:nvSpPr>
          <p:cNvPr id="60" name="Text 50"/>
          <p:cNvSpPr txBox="1"/>
          <p:nvPr/>
        </p:nvSpPr>
        <p:spPr>
          <a:xfrm>
            <a:off x="9171432" y="2313432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varaqadan 4 ta qiymatni o‘qidi — har birini tekshiring.</a:t>
            </a:r>
            <a:endParaRPr lang="en-US" sz="850" dirty="0"/>
          </a:p>
        </p:txBody>
      </p:sp>
      <p:sp>
        <p:nvSpPr>
          <p:cNvPr id="61" name="Text 51"/>
          <p:cNvSpPr txBox="1"/>
          <p:nvPr/>
        </p:nvSpPr>
        <p:spPr>
          <a:xfrm>
            <a:off x="9098280" y="29535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Gemoglobin, g/L</a:t>
            </a:r>
            <a:endParaRPr lang="en-US" sz="850" dirty="0"/>
          </a:p>
        </p:txBody>
      </p:sp>
      <p:sp>
        <p:nvSpPr>
          <p:cNvPr id="62" name="Shape 52"/>
          <p:cNvSpPr/>
          <p:nvPr/>
        </p:nvSpPr>
        <p:spPr>
          <a:xfrm>
            <a:off x="10177272" y="29535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10241280" y="29535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105</a:t>
            </a:r>
            <a:endParaRPr lang="en-US" sz="1000" dirty="0"/>
          </a:p>
        </p:txBody>
      </p:sp>
      <p:sp>
        <p:nvSpPr>
          <p:cNvPr id="64" name="Shape 54"/>
          <p:cNvSpPr/>
          <p:nvPr/>
        </p:nvSpPr>
        <p:spPr>
          <a:xfrm>
            <a:off x="11201400" y="3008376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5" name="Text 55"/>
          <p:cNvSpPr txBox="1"/>
          <p:nvPr/>
        </p:nvSpPr>
        <p:spPr>
          <a:xfrm>
            <a:off x="11201400" y="30083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endParaRPr lang="en-US" sz="750" dirty="0"/>
          </a:p>
        </p:txBody>
      </p:sp>
      <p:sp>
        <p:nvSpPr>
          <p:cNvPr id="66" name="Text 56"/>
          <p:cNvSpPr txBox="1"/>
          <p:nvPr/>
        </p:nvSpPr>
        <p:spPr>
          <a:xfrm>
            <a:off x="9098280" y="34107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Siydikda oqsil</a:t>
            </a:r>
            <a:endParaRPr lang="en-US" sz="850" dirty="0"/>
          </a:p>
        </p:txBody>
      </p:sp>
      <p:sp>
        <p:nvSpPr>
          <p:cNvPr id="67" name="Shape 57"/>
          <p:cNvSpPr/>
          <p:nvPr/>
        </p:nvSpPr>
        <p:spPr>
          <a:xfrm>
            <a:off x="10177272" y="34107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68" name="Text 58"/>
          <p:cNvSpPr txBox="1"/>
          <p:nvPr/>
        </p:nvSpPr>
        <p:spPr>
          <a:xfrm>
            <a:off x="10241280" y="34107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</a:t>
            </a:r>
            <a:endParaRPr lang="en-US" sz="1000" dirty="0"/>
          </a:p>
        </p:txBody>
      </p:sp>
      <p:sp>
        <p:nvSpPr>
          <p:cNvPr id="69" name="Shape 59"/>
          <p:cNvSpPr/>
          <p:nvPr/>
        </p:nvSpPr>
        <p:spPr>
          <a:xfrm>
            <a:off x="11201400" y="3465576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0" name="Text 60"/>
          <p:cNvSpPr txBox="1"/>
          <p:nvPr/>
        </p:nvSpPr>
        <p:spPr>
          <a:xfrm>
            <a:off x="11201400" y="34655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endParaRPr lang="en-US" sz="750" dirty="0"/>
          </a:p>
        </p:txBody>
      </p:sp>
      <p:sp>
        <p:nvSpPr>
          <p:cNvPr id="71" name="Text 61"/>
          <p:cNvSpPr txBox="1"/>
          <p:nvPr/>
        </p:nvSpPr>
        <p:spPr>
          <a:xfrm>
            <a:off x="9098280" y="38679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Qon bosimi</a:t>
            </a:r>
            <a:endParaRPr lang="en-US" sz="850" dirty="0"/>
          </a:p>
        </p:txBody>
      </p:sp>
      <p:sp>
        <p:nvSpPr>
          <p:cNvPr id="72" name="Shape 62"/>
          <p:cNvSpPr/>
          <p:nvPr/>
        </p:nvSpPr>
        <p:spPr>
          <a:xfrm>
            <a:off x="10177272" y="38679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73" name="Text 63"/>
          <p:cNvSpPr txBox="1"/>
          <p:nvPr/>
        </p:nvSpPr>
        <p:spPr>
          <a:xfrm>
            <a:off x="10241280" y="38679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145 / 95</a:t>
            </a:r>
            <a:endParaRPr lang="en-US" sz="1000" dirty="0"/>
          </a:p>
        </p:txBody>
      </p:sp>
      <p:sp>
        <p:nvSpPr>
          <p:cNvPr id="74" name="Shape 64"/>
          <p:cNvSpPr/>
          <p:nvPr/>
        </p:nvSpPr>
        <p:spPr>
          <a:xfrm>
            <a:off x="11201400" y="3922776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5" name="Text 65"/>
          <p:cNvSpPr txBox="1"/>
          <p:nvPr/>
        </p:nvSpPr>
        <p:spPr>
          <a:xfrm>
            <a:off x="11201400" y="39227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endParaRPr lang="en-US" sz="750" dirty="0"/>
          </a:p>
        </p:txBody>
      </p:sp>
      <p:sp>
        <p:nvSpPr>
          <p:cNvPr id="76" name="Text 66"/>
          <p:cNvSpPr txBox="1"/>
          <p:nvPr/>
        </p:nvSpPr>
        <p:spPr>
          <a:xfrm>
            <a:off x="9098280" y="43251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Muddat, hafta</a:t>
            </a:r>
            <a:endParaRPr lang="en-US" sz="850" dirty="0"/>
          </a:p>
        </p:txBody>
      </p:sp>
      <p:sp>
        <p:nvSpPr>
          <p:cNvPr id="77" name="Shape 67"/>
          <p:cNvSpPr/>
          <p:nvPr/>
        </p:nvSpPr>
        <p:spPr>
          <a:xfrm>
            <a:off x="10177272" y="43251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78" name="Text 68"/>
          <p:cNvSpPr txBox="1"/>
          <p:nvPr/>
        </p:nvSpPr>
        <p:spPr>
          <a:xfrm>
            <a:off x="10241280" y="43251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32</a:t>
            </a:r>
            <a:endParaRPr lang="en-US" sz="1000" dirty="0"/>
          </a:p>
        </p:txBody>
      </p:sp>
      <p:sp>
        <p:nvSpPr>
          <p:cNvPr id="79" name="Shape 69"/>
          <p:cNvSpPr/>
          <p:nvPr/>
        </p:nvSpPr>
        <p:spPr>
          <a:xfrm>
            <a:off x="11201400" y="4379976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0" name="Text 70"/>
          <p:cNvSpPr txBox="1"/>
          <p:nvPr/>
        </p:nvSpPr>
        <p:spPr>
          <a:xfrm>
            <a:off x="11201400" y="4379976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</a:t>
            </a:r>
            <a:endParaRPr lang="en-US" sz="750" dirty="0"/>
          </a:p>
        </p:txBody>
      </p:sp>
      <p:sp>
        <p:nvSpPr>
          <p:cNvPr id="81" name="Text 71"/>
          <p:cNvSpPr txBox="1"/>
          <p:nvPr/>
        </p:nvSpPr>
        <p:spPr>
          <a:xfrm>
            <a:off x="9098280" y="478231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Shish</a:t>
            </a:r>
            <a:endParaRPr lang="en-US" sz="850" dirty="0"/>
          </a:p>
        </p:txBody>
      </p:sp>
      <p:sp>
        <p:nvSpPr>
          <p:cNvPr id="82" name="Shape 72"/>
          <p:cNvSpPr/>
          <p:nvPr/>
        </p:nvSpPr>
        <p:spPr>
          <a:xfrm>
            <a:off x="10177272" y="4782312"/>
            <a:ext cx="960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</p:spPr>
      </p:sp>
      <p:sp>
        <p:nvSpPr>
          <p:cNvPr id="83" name="Text 73"/>
          <p:cNvSpPr txBox="1"/>
          <p:nvPr/>
        </p:nvSpPr>
        <p:spPr>
          <a:xfrm>
            <a:off x="10241280" y="4782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Tekshirilmagan</a:t>
            </a:r>
            <a:endParaRPr lang="en-US" sz="800" dirty="0"/>
          </a:p>
        </p:txBody>
      </p:sp>
      <p:sp>
        <p:nvSpPr>
          <p:cNvPr id="84" name="Shape 74"/>
          <p:cNvSpPr/>
          <p:nvPr/>
        </p:nvSpPr>
        <p:spPr>
          <a:xfrm>
            <a:off x="9098280" y="5212080"/>
            <a:ext cx="2359152" cy="34747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5" name="Text 75"/>
          <p:cNvSpPr txBox="1"/>
          <p:nvPr/>
        </p:nvSpPr>
        <p:spPr>
          <a:xfrm>
            <a:off x="9244584" y="5212080"/>
            <a:ext cx="2121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Saqlash</a:t>
            </a:r>
            <a:endParaRPr lang="en-US" sz="1100" dirty="0"/>
          </a:p>
        </p:txBody>
      </p:sp>
      <p:pic>
        <p:nvPicPr>
          <p:cNvPr id="86" name="Image 8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87" name="Text 76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88" name="Text 77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08  ·  XAVF BAHOLASH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Qoidalar dvigateli: har bir ball tushuntiriladi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46120" cy="4343400"/>
          </a:xfrm>
          <a:prstGeom prst="roundRect">
            <a:avLst>
              <a:gd name="adj" fmla="val 4507"/>
            </a:avLst>
          </a:prstGeom>
          <a:solidFill>
            <a:srgbClr val="FBEA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19385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E3A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Mutlaq belgilar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2402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biri o‘zi QIZIL qiladi (+8)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2880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971800"/>
            <a:ext cx="128016" cy="128016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2697480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Sistolik ≥ 160 yoki diastolik ≥ 110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502152"/>
            <a:ext cx="2880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776472"/>
            <a:ext cx="128016" cy="128016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502152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Siydikda oqsil + QB ≥ 140/90 — preeklampsiya shubhasi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306824"/>
            <a:ext cx="2880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96112" y="4581144"/>
            <a:ext cx="128016" cy="128016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430682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Gemoglobin &lt; 70 g/L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111496"/>
            <a:ext cx="288036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112" y="5385816"/>
            <a:ext cx="128016" cy="128016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143000" y="5111496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Homiladorlikda qon ketishi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023360" y="1737360"/>
            <a:ext cx="4754880" cy="4343400"/>
          </a:xfrm>
          <a:prstGeom prst="roundRect">
            <a:avLst>
              <a:gd name="adj" fmla="val 336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279392" y="193852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Qo‘shimcha omillar — ballar qo‘shiladi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23957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Gipertenziya ≥ 140/90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97880" y="2478024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044184" y="2478024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279392" y="284378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Oldingi preeklampsiya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97880" y="2926080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44184" y="2926080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+4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279392" y="329184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Surunkali kasallik: QB, diabet, buyrak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97880" y="3374136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44184" y="3374136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+4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279392" y="373989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Oldingi o‘lik tug‘ish / chaqaloq o‘limi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97880" y="3822192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044184" y="3822192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+3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279392" y="418795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Ko‘p homilalik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97880" y="4270248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044184" y="4270248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4279392" y="463600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Anemiya (Hb 70–109)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97880" y="4718304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44184" y="4718304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+2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4279392" y="508406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Yosh &lt; 18 yoki &gt; 35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97880" y="5166360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044184" y="5166360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+2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279392" y="553212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Oldingi kesar kesish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97880" y="5614416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044184" y="5614416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+2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6492240" y="239572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Ko‘p tug‘gan (≥ 5)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110728" y="2478024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257032" y="2478024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+2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492240" y="284378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Muassasagacha &gt; 60 daqiqa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10728" y="2926080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257032" y="2926080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+2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6492240" y="329184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 2 ko‘rik o‘tkazib yuborilgan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110728" y="3374136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257032" y="3374136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+2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6492240" y="3739896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Birinchi homiladorlik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110728" y="3822192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257032" y="3822192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+1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6492240" y="4187952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Semizlik (BMI ≥ 30)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110728" y="4270248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257032" y="4270248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+1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6492240" y="463600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Oilada preeklampsiya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110728" y="4718304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8257032" y="4718304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+1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6492240" y="5084064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Tug‘ruqlar orasi &lt; 24 oy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110728" y="5166360"/>
            <a:ext cx="411480" cy="237744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8257032" y="5166360"/>
            <a:ext cx="173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+1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006840" y="1737360"/>
            <a:ext cx="2633472" cy="713232"/>
          </a:xfrm>
          <a:prstGeom prst="roundRect">
            <a:avLst>
              <a:gd name="adj" fmla="val 17949"/>
            </a:avLst>
          </a:prstGeom>
          <a:solidFill>
            <a:srgbClr val="BE3A2B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9235440" y="181051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QIZIL</a:t>
            </a:r>
            <a:endParaRPr lang="en-US" sz="1500" dirty="0"/>
          </a:p>
        </p:txBody>
      </p:sp>
      <p:sp>
        <p:nvSpPr>
          <p:cNvPr id="71" name="Text 69"/>
          <p:cNvSpPr txBox="1"/>
          <p:nvPr/>
        </p:nvSpPr>
        <p:spPr>
          <a:xfrm>
            <a:off x="9235440" y="2121408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 7 ball yoki mutlaq belgi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006840" y="2578608"/>
            <a:ext cx="2633472" cy="713232"/>
          </a:xfrm>
          <a:prstGeom prst="roundRect">
            <a:avLst>
              <a:gd name="adj" fmla="val 17949"/>
            </a:avLst>
          </a:prstGeom>
          <a:solidFill>
            <a:srgbClr val="B97609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9235440" y="265176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SARIQ</a:t>
            </a:r>
            <a:endParaRPr lang="en-US" sz="1500" dirty="0"/>
          </a:p>
        </p:txBody>
      </p:sp>
      <p:sp>
        <p:nvSpPr>
          <p:cNvPr id="74" name="Text 72"/>
          <p:cNvSpPr txBox="1"/>
          <p:nvPr/>
        </p:nvSpPr>
        <p:spPr>
          <a:xfrm>
            <a:off x="9235440" y="296265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3–6 ball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9006840" y="3419856"/>
            <a:ext cx="2633472" cy="713232"/>
          </a:xfrm>
          <a:prstGeom prst="roundRect">
            <a:avLst>
              <a:gd name="adj" fmla="val 17949"/>
            </a:avLst>
          </a:prstGeom>
          <a:solidFill>
            <a:srgbClr val="2C7A50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9235440" y="349300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YASHIL</a:t>
            </a:r>
            <a:endParaRPr lang="en-US" sz="1500" dirty="0"/>
          </a:p>
        </p:txBody>
      </p:sp>
      <p:sp>
        <p:nvSpPr>
          <p:cNvPr id="77" name="Text 75"/>
          <p:cNvSpPr txBox="1"/>
          <p:nvPr/>
        </p:nvSpPr>
        <p:spPr>
          <a:xfrm>
            <a:off x="9235440" y="38039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0–2 ball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9006840" y="4315968"/>
            <a:ext cx="2633472" cy="1764792"/>
          </a:xfrm>
          <a:prstGeom prst="roundRect">
            <a:avLst>
              <a:gd name="adj" fmla="val 7254"/>
            </a:avLst>
          </a:prstGeom>
          <a:solidFill>
            <a:srgbClr val="0F172A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9208008" y="4462272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RULES_VERSION = '1.0.0'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9208008" y="4773168"/>
            <a:ext cx="2267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bir baho kirish ma’lumotlari va versiya bilan saqlanadi — yillar o‘tib ham qayta tiklanadi. Yo‘q ma’lumot = «noma’lum xavf», yashil emas.</a:t>
            </a:r>
            <a:endParaRPr lang="en-US" sz="1000" dirty="0"/>
          </a:p>
        </p:txBody>
      </p:sp>
      <p:pic>
        <p:nvPicPr>
          <p:cNvPr id="81" name="Image 0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82" name="Text 79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83" name="Text 80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563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09  ·  SIFAT VA XAVFSIZLIK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O‘lchangan, sinovdan o‘tgan, himoyalangan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093976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1801368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563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test — hammasi o‘tdi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98064" y="1691640"/>
            <a:ext cx="2093976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999232" y="1801368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23/23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999232" y="23957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sinov holati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47488" y="1691640"/>
            <a:ext cx="2093976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48656" y="1801368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441/441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23957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maydon to‘g‘ri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96912" y="1691640"/>
            <a:ext cx="2093976" cy="118872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  <a:effectLst>
            <a:outerShdw sx="100000" sy="100000" kx="0" ky="0" algn="bl" rotWithShape="0" blurRad="203200" dist="50800" dir="5400000">
              <a:srgbClr val="2563EB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0" y="1801368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23957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o‘ylab topilgan qiymat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46336" y="1691640"/>
            <a:ext cx="2093976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747504" y="1801368"/>
            <a:ext cx="1819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563EB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2,2 s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747504" y="2395728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javob vaqti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29443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eval:ai — o‘zbek va rus tilidagi akusherka yozuvlari va bemor xabarlari, Claude Haiku 4.5, ikki marta ishga tushirildi.  npm run test:run — 563 ta test.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401568"/>
            <a:ext cx="359359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358444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25" name="Image 0" descr="C:\Users\user\AppData\Local\Temp\claude\C--Users-user\ecd937e0-60b9-45db-b06f-34b4379b9ec8\scratchpad\deck\assets\LuKeyRound-bra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" y="3689604"/>
            <a:ext cx="246888" cy="24688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325880" y="349300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Kalitlar faqat serverda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376732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VITE_ prefiksi yo‘q; bot tokenning VITE_ nusxasini topsa ishga tushmaydi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297680" y="3401568"/>
            <a:ext cx="359359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62272" y="358444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0" name="Image 1" descr="C:\Users\user\AppData\Local\Temp\claude\C--Users-user\ecd937e0-60b9-45db-b06f-34b4379b9ec8\scratchpad\deck\assets\LuLock-br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3689604"/>
            <a:ext cx="246888" cy="246888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074920" y="349300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Himoyalangan endpoint</a:t>
            </a:r>
            <a:endParaRPr lang="en-US" sz="1250" dirty="0"/>
          </a:p>
        </p:txBody>
      </p:sp>
      <p:sp>
        <p:nvSpPr>
          <p:cNvPr id="32" name="Text 28"/>
          <p:cNvSpPr txBox="1"/>
          <p:nvPr/>
        </p:nvSpPr>
        <p:spPr>
          <a:xfrm>
            <a:off x="5074920" y="376732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/api/extract faqat jonli sessiyaga javob beradi — kalitni begona sarflay olmaydi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8046720" y="3401568"/>
            <a:ext cx="359359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211312" y="358444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35" name="Image 2" descr="C:\Users\user\AppData\Local\Temp\claude\C--Users-user\ecd937e0-60b9-45db-b06f-34b4379b9ec8\scratchpad\deck\assets\LuHistory-bra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6468" y="3689604"/>
            <a:ext cx="246888" cy="24688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823960" y="349300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Faqat qo‘shiladigan yozuv</a:t>
            </a:r>
            <a:endParaRPr lang="en-US" sz="1250" dirty="0"/>
          </a:p>
        </p:txBody>
      </p:sp>
      <p:sp>
        <p:nvSpPr>
          <p:cNvPr id="37" name="Text 32"/>
          <p:cNvSpPr txBox="1"/>
          <p:nvPr/>
        </p:nvSpPr>
        <p:spPr>
          <a:xfrm>
            <a:off x="8823960" y="376732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baholarni tahrirlash va o‘chirishni rad etadi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548640" y="4361688"/>
            <a:ext cx="359359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713232" y="454456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0" name="Image 3" descr="C:\Users\user\AppData\Local\Temp\claude\C--Users-user\ecd937e0-60b9-45db-b06f-34b4379b9ec8\scratchpad\deck\assets\LuLink2-br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" y="4649724"/>
            <a:ext cx="246888" cy="246888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1325880" y="445312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foreign key</a:t>
            </a:r>
            <a:endParaRPr lang="en-US" sz="1250" dirty="0"/>
          </a:p>
        </p:txBody>
      </p:sp>
      <p:sp>
        <p:nvSpPr>
          <p:cNvPr id="42" name="Text 36"/>
          <p:cNvSpPr txBox="1"/>
          <p:nvPr/>
        </p:nvSpPr>
        <p:spPr>
          <a:xfrm>
            <a:off x="1325880" y="472744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Yo‘llanma hech qachon boshqa bemorga yozilib qolmaydi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297680" y="4361688"/>
            <a:ext cx="359359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4" name="Shape 38"/>
          <p:cNvSpPr/>
          <p:nvPr/>
        </p:nvSpPr>
        <p:spPr>
          <a:xfrm>
            <a:off x="4462272" y="454456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45" name="Image 4" descr="C:\Users\user\AppData\Local\Temp\claude\C--Users-user\ecd937e0-60b9-45db-b06f-34b4379b9ec8\scratchpad\deck\assets\LuBot-bra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4649724"/>
            <a:ext cx="246888" cy="246888"/>
          </a:xfrm>
          <a:prstGeom prst="rect">
            <a:avLst/>
          </a:prstGeom>
        </p:spPr>
      </p:pic>
      <p:sp>
        <p:nvSpPr>
          <p:cNvPr id="46" name="Text 39"/>
          <p:cNvSpPr txBox="1"/>
          <p:nvPr/>
        </p:nvSpPr>
        <p:spPr>
          <a:xfrm>
            <a:off x="5074920" y="445312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 generatsiya qilmaydi</a:t>
            </a:r>
            <a:endParaRPr lang="en-US" sz="1250" dirty="0"/>
          </a:p>
        </p:txBody>
      </p:sp>
      <p:sp>
        <p:nvSpPr>
          <p:cNvPr id="47" name="Text 40"/>
          <p:cNvSpPr txBox="1"/>
          <p:nvPr/>
        </p:nvSpPr>
        <p:spPr>
          <a:xfrm>
            <a:off x="5074920" y="472744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 bir javob — bot/messages.ts dagi tayyor matn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8046720" y="4361688"/>
            <a:ext cx="3593592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E3E8EF"/>
            </a:solidFill>
            <a:prstDash val="solid"/>
          </a:ln>
          <a:effectLst>
            <a:outerShdw sx="100000" sy="100000" kx="0" ky="0" algn="bl" rotWithShape="0" blurRad="203200" dist="50800" dir="5400000">
              <a:srgbClr val="0F172A">
                <a:alpha val="8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8211312" y="4544568"/>
            <a:ext cx="457200" cy="457200"/>
          </a:xfrm>
          <a:prstGeom prst="roundRect">
            <a:avLst>
              <a:gd name="adj" fmla="val 26000"/>
            </a:avLst>
          </a:prstGeom>
          <a:solidFill>
            <a:srgbClr val="EFF6FF"/>
          </a:solidFill>
          <a:ln/>
        </p:spPr>
      </p:sp>
      <p:pic>
        <p:nvPicPr>
          <p:cNvPr id="50" name="Image 5" descr="C:\Users\user\AppData\Local\Temp\claude\C--Users-user\ecd937e0-60b9-45db-b06f-34b4379b9ec8\scratchpad\deck\assets\LuEraser-bran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6468" y="4649724"/>
            <a:ext cx="246888" cy="246888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8823960" y="445312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Maxfiylik</a:t>
            </a:r>
            <a:endParaRPr lang="en-US" sz="1250" dirty="0"/>
          </a:p>
        </p:txBody>
      </p:sp>
      <p:sp>
        <p:nvSpPr>
          <p:cNvPr id="52" name="Text 44"/>
          <p:cNvSpPr txBox="1"/>
          <p:nvPr/>
        </p:nvSpPr>
        <p:spPr>
          <a:xfrm>
            <a:off x="8823960" y="4727448"/>
            <a:ext cx="2679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Rasmdan GPS o‘chiriladi; mutaxassis alertida bemor ismi yo‘q</a:t>
            </a:r>
            <a:endParaRPr lang="en-US" sz="950" dirty="0"/>
          </a:p>
        </p:txBody>
      </p:sp>
      <p:sp>
        <p:nvSpPr>
          <p:cNvPr id="53" name="Shape 45"/>
          <p:cNvSpPr/>
          <p:nvPr/>
        </p:nvSpPr>
        <p:spPr>
          <a:xfrm>
            <a:off x="548640" y="5440680"/>
            <a:ext cx="11091672" cy="658368"/>
          </a:xfrm>
          <a:prstGeom prst="roundRect">
            <a:avLst>
              <a:gd name="adj" fmla="val 16667"/>
            </a:avLst>
          </a:prstGeom>
          <a:solidFill>
            <a:srgbClr val="FCF1DF"/>
          </a:solidFill>
          <a:ln/>
        </p:spPr>
      </p:sp>
      <p:sp>
        <p:nvSpPr>
          <p:cNvPr id="54" name="Shape 46"/>
          <p:cNvSpPr/>
          <p:nvPr/>
        </p:nvSpPr>
        <p:spPr>
          <a:xfrm>
            <a:off x="685800" y="5541264"/>
            <a:ext cx="457200" cy="457200"/>
          </a:xfrm>
          <a:prstGeom prst="ellipse">
            <a:avLst/>
          </a:prstGeom>
          <a:solidFill>
            <a:srgbClr val="B97609"/>
          </a:solidFill>
          <a:ln/>
        </p:spPr>
      </p:sp>
      <p:pic>
        <p:nvPicPr>
          <p:cNvPr id="55" name="Image 6" descr="C:\Users\user\AppData\Local\Temp\claude\C--Users-user\ecd937e0-60b9-45db-b06f-34b4379b9ec8\scratchpad\deck\assets\LuTriangleAlert-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" y="5646420"/>
            <a:ext cx="246888" cy="246888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1280160" y="544068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760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Hakaton uchun soddalashtirilgan: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kirish anonim, rol almashtirish — ruxsat emas. Haqiqiy bemor ma’lumotidan oldin: xodim akkauntlari va rol/tuman bo‘yicha RLS.</a:t>
            </a:r>
            <a:endParaRPr lang="en-US" sz="1200" dirty="0"/>
          </a:p>
        </p:txBody>
      </p:sp>
      <p:pic>
        <p:nvPicPr>
          <p:cNvPr id="57" name="Image 7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59" name="Text 49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6364"/>
            <a:ext cx="109728" cy="109728"/>
          </a:xfrm>
          <a:prstGeom prst="ellipse">
            <a:avLst/>
          </a:prstGeom>
          <a:solidFill>
            <a:srgbClr val="2C7A50"/>
          </a:solidFill>
          <a:ln/>
        </p:spPr>
      </p:sp>
      <p:sp>
        <p:nvSpPr>
          <p:cNvPr id="3" name="Shape 1"/>
          <p:cNvSpPr/>
          <p:nvPr/>
        </p:nvSpPr>
        <p:spPr>
          <a:xfrm>
            <a:off x="707746" y="626364"/>
            <a:ext cx="109728" cy="109728"/>
          </a:xfrm>
          <a:prstGeom prst="ellipse">
            <a:avLst/>
          </a:prstGeom>
          <a:solidFill>
            <a:srgbClr val="B97609"/>
          </a:solidFill>
          <a:ln/>
        </p:spPr>
      </p:sp>
      <p:sp>
        <p:nvSpPr>
          <p:cNvPr id="4" name="Shape 2"/>
          <p:cNvSpPr/>
          <p:nvPr/>
        </p:nvSpPr>
        <p:spPr>
          <a:xfrm>
            <a:off x="866851" y="626364"/>
            <a:ext cx="109728" cy="109728"/>
          </a:xfrm>
          <a:prstGeom prst="ellipse">
            <a:avLst/>
          </a:prstGeom>
          <a:solidFill>
            <a:srgbClr val="BE3A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33856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  ·  KEYINGI TEXNIK QADAMLAR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896112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Hozir ishlaydi — keyin kengayadi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851660" y="2011680"/>
            <a:ext cx="848563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3916" y="1773936"/>
            <a:ext cx="475488" cy="475488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732788" y="1892808"/>
            <a:ext cx="237744" cy="23774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77440"/>
            <a:ext cx="2606040" cy="2240280"/>
          </a:xfrm>
          <a:prstGeom prst="roundRect">
            <a:avLst>
              <a:gd name="adj" fmla="val 6531"/>
            </a:avLst>
          </a:prstGeom>
          <a:solidFill>
            <a:srgbClr val="2563EB">
              <a:alpha val="28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</p:spPr>
      </p:sp>
      <p:pic>
        <p:nvPicPr>
          <p:cNvPr id="11" name="Image 0" descr="C:\Users\user\AppData\Local\Temp\claude\C--Users-user\ecd937e0-60b9-45db-b06f-34b4379b9ec8\scratchpad\deck\assets\LuCircleCheckBig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347472" cy="34747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2606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HOZIR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154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ekstraksiya: matn + varaqa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Qoidalar dvigateli v1.0.0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dashboard va navbat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 va eslatmalar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61332" y="1892808"/>
            <a:ext cx="237744" cy="237744"/>
          </a:xfrm>
          <a:prstGeom prst="ellipse">
            <a:avLst/>
          </a:prstGeom>
          <a:solidFill>
            <a:srgbClr val="0F172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77184" y="2377440"/>
            <a:ext cx="2606040" cy="2240280"/>
          </a:xfrm>
          <a:prstGeom prst="roundRect">
            <a:avLst>
              <a:gd name="adj" fmla="val 65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16" name="Image 1" descr="C:\Users\user\AppData\Local\Temp\claude\C--Users-user\ecd937e0-60b9-45db-b06f-34b4379b9ec8\scratchpad\deck\assets\LuShieldCheck-brandL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784" y="260604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062984" y="2606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PILOT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3605784" y="3154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Haqiqiy xodim akkauntlari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 va tuman bo‘yicha RLS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Klinika yozuvlaridan import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389876" y="1892808"/>
            <a:ext cx="237744" cy="237744"/>
          </a:xfrm>
          <a:prstGeom prst="ellipse">
            <a:avLst/>
          </a:prstGeom>
          <a:solidFill>
            <a:srgbClr val="0F172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05728" y="2377440"/>
            <a:ext cx="2606040" cy="2240280"/>
          </a:xfrm>
          <a:prstGeom prst="roundRect">
            <a:avLst>
              <a:gd name="adj" fmla="val 65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1" name="Image 2" descr="C:\Users\user\AppData\Local\Temp\claude\C--Users-user\ecd937e0-60b9-45db-b06f-34b4379b9ec8\scratchpad\deck\assets\LuBrainCircuit-brandL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328" y="2606040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891528" y="2606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MA’LUMOT YIG‘ILGACH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6434328" y="3154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model: xavfni oldindan bashorat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Qoidalar yonida, ular o‘rniga emas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Shifokor nazoratida baholanadi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10218420" y="1892808"/>
            <a:ext cx="237744" cy="237744"/>
          </a:xfrm>
          <a:prstGeom prst="ellipse">
            <a:avLst/>
          </a:prstGeom>
          <a:solidFill>
            <a:srgbClr val="0F172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34272" y="2377440"/>
            <a:ext cx="2606040" cy="2240280"/>
          </a:xfrm>
          <a:prstGeom prst="roundRect">
            <a:avLst>
              <a:gd name="adj" fmla="val 653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pic>
        <p:nvPicPr>
          <p:cNvPr id="26" name="Image 3" descr="C:\Users\user\AppData\Local\Temp\claude\C--Users-user\ecd937e0-60b9-45db-b06f-34b4379b9ec8\scratchpad\deck\assets\LuRocket-brandL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2872" y="2606040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720072" y="26060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60A5F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KENGAYISH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9262872" y="315468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Chaqaloq kuzatuvi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Tizimlar bilan integratsiya</a:t>
            </a:r>
            <a:endParaRPr lang="en-US" sz="11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Viloyat → respublika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548640" y="49834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Rahmat! Savollar?</a:t>
            </a:r>
            <a:endParaRPr lang="en-US" sz="3400" dirty="0"/>
          </a:p>
        </p:txBody>
      </p:sp>
      <p:sp>
        <p:nvSpPr>
          <p:cNvPr id="30" name="Text 24"/>
          <p:cNvSpPr txBox="1"/>
          <p:nvPr/>
        </p:nvSpPr>
        <p:spPr>
          <a:xfrm>
            <a:off x="7223760" y="4956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Jonli demo: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223760" y="5257800"/>
            <a:ext cx="4416552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315200" y="5257800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seed -- --apply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7223760" y="5641848"/>
            <a:ext cx="4416552" cy="310896"/>
          </a:xfrm>
          <a:prstGeom prst="roundRect">
            <a:avLst>
              <a:gd name="adj" fmla="val 17647"/>
            </a:avLst>
          </a:prstGeom>
          <a:solidFill>
            <a:srgbClr val="1E293B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7315200" y="5641848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D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demo:worsen</a:t>
            </a:r>
            <a:endParaRPr lang="en-US" sz="1050" dirty="0"/>
          </a:p>
        </p:txBody>
      </p:sp>
      <p:pic>
        <p:nvPicPr>
          <p:cNvPr id="35" name="Image 4" descr="C:\Users\user\AppData\Local\Temp\claude\C--Users-user\ecd937e0-60b9-45db-b06f-34b4379b9ec8\scratchpad\deck\assets\logo-mark-16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18504"/>
            <a:ext cx="237744" cy="237744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548640" y="6318504"/>
            <a:ext cx="237744" cy="237744"/>
          </a:xfrm>
          <a:prstGeom prst="roundRect">
            <a:avLst>
              <a:gd name="adj" fmla="val 21500"/>
            </a:avLst>
          </a:prstGeom>
          <a:solidFill>
            <a:srgbClr val="FFFFFF">
              <a:alpha val="0"/>
            </a:srgbClr>
          </a:solidFill>
          <a:ln w="9525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77824" y="6318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Muhim Davr  ·  Texnik taqdimot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10271455" y="63185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 / 12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BabyCare Uz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Muhim Davr — Texnik taqdimot</dc:title>
  <dc:subject>PptxGenJS Presentation</dc:subject>
  <dc:creator>PptxGenJS</dc:creator>
  <cp:lastModifiedBy>PptxGenJS</cp:lastModifiedBy>
  <cp:revision>1</cp:revision>
  <dcterms:created xsi:type="dcterms:W3CDTF">2026-09-19T05:57:40Z</dcterms:created>
  <dcterms:modified xsi:type="dcterms:W3CDTF">2026-09-19T05:57:40Z</dcterms:modified>
</cp:coreProperties>
</file>