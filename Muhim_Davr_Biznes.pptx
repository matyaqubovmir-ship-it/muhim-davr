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334155"/>
                </a:solidFill>
                <a:latin typeface="Segoe UI Semibold"/>
              </a:defRPr>
            </a:pPr>
            <a:r>
              <a:rPr sz="1100" b="0" i="0" u="none" strike="noStrike">
                <a:solidFill>
                  <a:srgbClr val="334155"/>
                </a:solidFill>
                <a:latin typeface="Segoe UI Semibold"/>
              </a:rPr>
              <a:t>Daromad, mln so‘m</a:t>
            </a:r>
          </a:p>
        </c:rich>
      </c:tx>
      <c:layout/>
      <c:overlay val="0"/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B2G litsenziya</c:v>
                </c:pt>
              </c:strCache>
            </c:strRef>
          </c:tx>
          <c:spPr>
            <a:solidFill>
              <a:srgbClr val="2563EB"/>
            </a:solidFill>
            <a:effectLst/>
          </c:spPr>
          <c:invertIfNegative val="0"/>
          <c:dLbls>
            <c:numFmt formatCode="[&gt;=100]0;&quot;&quot;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Segoe UI Semibold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1-yil · 2026/27</c:v>
                  </c:pt>
                  <c:pt idx="1">
                    <c:v>2-yil · 2027/28</c:v>
                  </c:pt>
                  <c:pt idx="2">
                    <c:v>3-yil · 2028/29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</c:v>
                </c:pt>
                <c:pt idx="1">
                  <c:v>691</c:v>
                </c:pt>
                <c:pt idx="2">
                  <c:v>2303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B2B obuna</c:v>
                </c:pt>
              </c:strCache>
            </c:strRef>
          </c:tx>
          <c:spPr>
            <a:solidFill>
              <a:srgbClr val="93C5FD"/>
            </a:solidFill>
            <a:effectLst/>
          </c:spPr>
          <c:invertIfNegative val="0"/>
          <c:dLbls>
            <c:numFmt formatCode="[&gt;=100]0;&quot;&quot;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Segoe UI Semibold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1-yil · 2026/27</c:v>
                  </c:pt>
                  <c:pt idx="1">
                    <c:v>2-yil · 2027/28</c:v>
                  </c:pt>
                  <c:pt idx="2">
                    <c:v>3-yil · 2028/29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40</c:v>
                </c:pt>
                <c:pt idx="1">
                  <c:v>297</c:v>
                </c:pt>
                <c:pt idx="2">
                  <c:v>1188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Joriy etish</c:v>
                </c:pt>
              </c:strCache>
            </c:strRef>
          </c:tx>
          <c:spPr>
            <a:solidFill>
              <a:srgbClr val="0F172A"/>
            </a:solidFill>
            <a:effectLst/>
          </c:spPr>
          <c:invertIfNegative val="0"/>
          <c:dLbls>
            <c:numFmt formatCode="[&gt;=100]0;&quot;&quot;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Segoe UI Semibold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1-yil · 2026/27</c:v>
                  </c:pt>
                  <c:pt idx="1">
                    <c:v>2-yil · 2027/28</c:v>
                  </c:pt>
                  <c:pt idx="2">
                    <c:v>3-yil · 2028/29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0</c:v>
                </c:pt>
                <c:pt idx="1">
                  <c:v>165</c:v>
                </c:pt>
                <c:pt idx="2">
                  <c:v>585</c:v>
                </c:pt>
              </c:numCache>
            </c:numRef>
          </c:val>
        </c:ser>
        <c:dLbls>
          <c:numFmt formatCode="[&gt;=100]0;&quot;&quot;" sourceLinked="0"/>
          <c:txPr>
            <a:bodyPr/>
            <a:lstStyle/>
            <a:p>
              <a:pPr>
                <a:defRPr b="0" i="0" strike="noStrike" sz="900" u="none">
                  <a:solidFill>
                    <a:srgbClr val="FFFFFF"/>
                  </a:solidFill>
                  <a:latin typeface="Segoe UI Semibold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334155"/>
                </a:solidFill>
                <a:latin typeface="Segoe UI Semibold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3E8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Segoe U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334155"/>
              </a:solidFill>
              <a:latin typeface="Segoe UI"/>
              <a:cs typeface="Segoe U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Slide-9-image-1.png"/><Relationship Id="rId3" Type="http://schemas.openxmlformats.org/officeDocument/2006/relationships/image" Target="../media/image-9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3.png"/><Relationship Id="rId6" Type="http://schemas.openxmlformats.org/officeDocument/2006/relationships/image" Target="../media/image-12-6.png"/><Relationship Id="rId7" Type="http://schemas.openxmlformats.org/officeDocument/2006/relationships/image" Target="../media/image-12-3.png"/><Relationship Id="rId8" Type="http://schemas.openxmlformats.org/officeDocument/2006/relationships/image" Target="../media/image-12-8.png"/><Relationship Id="rId9" Type="http://schemas.openxmlformats.org/officeDocument/2006/relationships/image" Target="../media/image-12-3.png"/><Relationship Id="rId10" Type="http://schemas.openxmlformats.org/officeDocument/2006/relationships/image" Target="../media/image-12-10.png"/><Relationship Id="rId11" Type="http://schemas.openxmlformats.org/officeDocument/2006/relationships/image" Target="../media/image-12-3.png"/><Relationship Id="rId12" Type="http://schemas.openxmlformats.org/officeDocument/2006/relationships/image" Target="../media/image-12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AppData\Local\Temp\claude\C--Users-user\ecd937e0-60b9-45db-b06f-34b4379b9ec8\scratchpad\deck\assets\logo-mark-512q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886968"/>
            <a:ext cx="713232" cy="71323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31520" y="886968"/>
            <a:ext cx="713232" cy="713232"/>
          </a:xfrm>
          <a:prstGeom prst="roundRect">
            <a:avLst>
              <a:gd name="adj" fmla="val 21500"/>
            </a:avLst>
          </a:prstGeom>
          <a:solidFill>
            <a:srgbClr val="FFFFFF">
              <a:alpha val="0"/>
            </a:srgbClr>
          </a:solidFill>
          <a:ln w="9525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1627632" y="1051560"/>
            <a:ext cx="1737360" cy="384048"/>
          </a:xfrm>
          <a:prstGeom prst="roundRect">
            <a:avLst>
              <a:gd name="adj" fmla="val 50000"/>
            </a:avLst>
          </a:prstGeom>
          <a:solidFill>
            <a:srgbClr val="2563EB">
              <a:alpha val="22000"/>
            </a:srgbClr>
          </a:solidFill>
          <a:ln w="9525">
            <a:solidFill>
              <a:srgbClr val="60A5FA">
                <a:alpha val="55000"/>
              </a:srgbClr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1773936" y="1051560"/>
            <a:ext cx="1499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BFDBF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BIZNES REJA</a:t>
            </a:r>
            <a:endParaRPr lang="en-US" sz="1050" dirty="0"/>
          </a:p>
        </p:txBody>
      </p:sp>
      <p:sp>
        <p:nvSpPr>
          <p:cNvPr id="6" name="Text 3"/>
          <p:cNvSpPr txBox="1"/>
          <p:nvPr/>
        </p:nvSpPr>
        <p:spPr>
          <a:xfrm>
            <a:off x="676656" y="1572768"/>
            <a:ext cx="5852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dirty="0">
                <a:solidFill>
                  <a:srgbClr val="FFFFFF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Muhim Davr</a:t>
            </a:r>
            <a:endParaRPr lang="en-US" sz="66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2788920"/>
            <a:ext cx="5669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CBD5E1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Qanday </a:t>
            </a:r>
            <a:pPr indent="0" marL="0">
              <a:buNone/>
            </a:pPr>
            <a:r>
              <a:rPr lang="en-US" sz="23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daromad</a:t>
            </a:r>
            <a:pPr indent="0" marL="0">
              <a:buNone/>
            </a:pPr>
            <a:r>
              <a:rPr lang="en-US" sz="2300" dirty="0">
                <a:solidFill>
                  <a:srgbClr val="CBD5E1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 topamiz va qanday </a:t>
            </a:r>
            <a:pPr indent="0" marL="0">
              <a:buNone/>
            </a:pPr>
            <a:r>
              <a:rPr lang="en-US" sz="23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o‘samiz</a:t>
            </a:r>
            <a:endParaRPr lang="en-US" sz="2300" dirty="0"/>
          </a:p>
        </p:txBody>
      </p:sp>
      <p:sp>
        <p:nvSpPr>
          <p:cNvPr id="8" name="Shape 5"/>
          <p:cNvSpPr/>
          <p:nvPr/>
        </p:nvSpPr>
        <p:spPr>
          <a:xfrm>
            <a:off x="731520" y="4069080"/>
            <a:ext cx="1737360" cy="1463040"/>
          </a:xfrm>
          <a:prstGeom prst="roundRect">
            <a:avLst>
              <a:gd name="adj" fmla="val 8750"/>
            </a:avLst>
          </a:prstGeom>
          <a:solidFill>
            <a:srgbClr val="FFFFFF">
              <a:alpha val="7000"/>
            </a:srgbClr>
          </a:solidFill>
          <a:ln w="9525">
            <a:solidFill>
              <a:srgbClr val="FFFFFF">
                <a:alpha val="16000"/>
              </a:srgbClr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914400" y="4233672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60A5FA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3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914400" y="484632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daromad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manbai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2606040" y="4069080"/>
            <a:ext cx="1737360" cy="1463040"/>
          </a:xfrm>
          <a:prstGeom prst="roundRect">
            <a:avLst>
              <a:gd name="adj" fmla="val 8750"/>
            </a:avLst>
          </a:prstGeom>
          <a:solidFill>
            <a:srgbClr val="FFFFFF">
              <a:alpha val="7000"/>
            </a:srgbClr>
          </a:solidFill>
          <a:ln w="9525">
            <a:solidFill>
              <a:srgbClr val="FFFFFF">
                <a:alpha val="16000"/>
              </a:srgbClr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2788920" y="4233672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60A5FA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94%</a:t>
            </a:r>
            <a:endParaRPr lang="en-US" sz="3000" dirty="0"/>
          </a:p>
        </p:txBody>
      </p:sp>
      <p:sp>
        <p:nvSpPr>
          <p:cNvPr id="13" name="Text 10"/>
          <p:cNvSpPr txBox="1"/>
          <p:nvPr/>
        </p:nvSpPr>
        <p:spPr>
          <a:xfrm>
            <a:off x="2788920" y="484632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yalpi marja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(hisob-kitob)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480560" y="4069080"/>
            <a:ext cx="1737360" cy="1463040"/>
          </a:xfrm>
          <a:prstGeom prst="roundRect">
            <a:avLst>
              <a:gd name="adj" fmla="val 8750"/>
            </a:avLst>
          </a:prstGeom>
          <a:solidFill>
            <a:srgbClr val="FFFFFF">
              <a:alpha val="7000"/>
            </a:srgbClr>
          </a:solidFill>
          <a:ln w="9525">
            <a:solidFill>
              <a:srgbClr val="FFFFFF">
                <a:alpha val="16000"/>
              </a:srgbClr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663440" y="4233672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60A5FA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$0,12</a:t>
            </a:r>
            <a:endParaRPr lang="en-US" sz="3000" dirty="0"/>
          </a:p>
        </p:txBody>
      </p:sp>
      <p:sp>
        <p:nvSpPr>
          <p:cNvPr id="16" name="Text 13"/>
          <p:cNvSpPr txBox="1"/>
          <p:nvPr/>
        </p:nvSpPr>
        <p:spPr>
          <a:xfrm>
            <a:off x="4663440" y="484632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bir homiladorlik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uchun AI xarajati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6995160" y="4572000"/>
            <a:ext cx="1024128" cy="960120"/>
          </a:xfrm>
          <a:prstGeom prst="roundRect">
            <a:avLst>
              <a:gd name="adj" fmla="val 13333"/>
            </a:avLst>
          </a:prstGeom>
          <a:solidFill>
            <a:srgbClr val="2563EB">
              <a:alpha val="15000"/>
            </a:srgbClr>
          </a:solidFill>
          <a:ln w="9525">
            <a:solidFill>
              <a:srgbClr val="60A5FA">
                <a:alpha val="50000"/>
              </a:srgbClr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995160" y="4242816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Q4 2026</a:t>
            </a:r>
            <a:endParaRPr lang="en-US" sz="1050" dirty="0"/>
          </a:p>
        </p:txBody>
      </p:sp>
      <p:sp>
        <p:nvSpPr>
          <p:cNvPr id="19" name="Text 16"/>
          <p:cNvSpPr txBox="1"/>
          <p:nvPr/>
        </p:nvSpPr>
        <p:spPr>
          <a:xfrm>
            <a:off x="7040880" y="5074920"/>
            <a:ext cx="932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Pilot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8202168" y="3749040"/>
            <a:ext cx="1024128" cy="1783080"/>
          </a:xfrm>
          <a:prstGeom prst="roundRect">
            <a:avLst>
              <a:gd name="adj" fmla="val 12500"/>
            </a:avLst>
          </a:prstGeom>
          <a:solidFill>
            <a:srgbClr val="2563EB">
              <a:alpha val="30000"/>
            </a:srgbClr>
          </a:solidFill>
          <a:ln w="9525">
            <a:solidFill>
              <a:srgbClr val="60A5FA">
                <a:alpha val="50000"/>
              </a:srgbClr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202168" y="3419856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2027</a:t>
            </a:r>
            <a:endParaRPr lang="en-US" sz="1050" dirty="0"/>
          </a:p>
        </p:txBody>
      </p:sp>
      <p:sp>
        <p:nvSpPr>
          <p:cNvPr id="22" name="Text 19"/>
          <p:cNvSpPr txBox="1"/>
          <p:nvPr/>
        </p:nvSpPr>
        <p:spPr>
          <a:xfrm>
            <a:off x="8247888" y="5074920"/>
            <a:ext cx="932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Xorazm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9409176" y="2834640"/>
            <a:ext cx="1024128" cy="2697480"/>
          </a:xfrm>
          <a:prstGeom prst="roundRect">
            <a:avLst>
              <a:gd name="adj" fmla="val 12500"/>
            </a:avLst>
          </a:prstGeom>
          <a:solidFill>
            <a:srgbClr val="2563EB">
              <a:alpha val="45000"/>
            </a:srgbClr>
          </a:solidFill>
          <a:ln w="9525">
            <a:solidFill>
              <a:srgbClr val="60A5FA">
                <a:alpha val="50000"/>
              </a:srgbClr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9409176" y="2505456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2028</a:t>
            </a:r>
            <a:endParaRPr lang="en-US" sz="1050" dirty="0"/>
          </a:p>
        </p:txBody>
      </p:sp>
      <p:sp>
        <p:nvSpPr>
          <p:cNvPr id="25" name="Text 22"/>
          <p:cNvSpPr txBox="1"/>
          <p:nvPr/>
        </p:nvSpPr>
        <p:spPr>
          <a:xfrm>
            <a:off x="9454896" y="5074920"/>
            <a:ext cx="932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4 viloyat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10616184" y="1783080"/>
            <a:ext cx="1024128" cy="3749040"/>
          </a:xfrm>
          <a:prstGeom prst="roundRect">
            <a:avLst>
              <a:gd name="adj" fmla="val 12500"/>
            </a:avLst>
          </a:prstGeom>
          <a:solidFill>
            <a:srgbClr val="2563EB"/>
          </a:solidFill>
          <a:ln/>
          <a:effectLst>
            <a:outerShdw sx="100000" sy="100000" kx="0" ky="0" algn="bl" rotWithShape="0" blurRad="381000" dist="50800" dir="5400000">
              <a:srgbClr val="2563EB">
                <a:alpha val="60000"/>
              </a:srgbClr>
            </a:outerShdw>
          </a:effectLst>
        </p:spPr>
      </p:sp>
      <p:sp>
        <p:nvSpPr>
          <p:cNvPr id="27" name="Text 24"/>
          <p:cNvSpPr txBox="1"/>
          <p:nvPr/>
        </p:nvSpPr>
        <p:spPr>
          <a:xfrm>
            <a:off x="10616184" y="1453896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2029+</a:t>
            </a:r>
            <a:endParaRPr lang="en-US" sz="1050" dirty="0"/>
          </a:p>
        </p:txBody>
      </p:sp>
      <p:sp>
        <p:nvSpPr>
          <p:cNvPr id="28" name="Text 25"/>
          <p:cNvSpPr txBox="1"/>
          <p:nvPr/>
        </p:nvSpPr>
        <p:spPr>
          <a:xfrm>
            <a:off x="10661904" y="5074920"/>
            <a:ext cx="932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O‘zbekiston</a:t>
            </a:r>
            <a:endParaRPr lang="en-US" sz="1100" dirty="0"/>
          </a:p>
        </p:txBody>
      </p:sp>
      <p:pic>
        <p:nvPicPr>
          <p:cNvPr id="29" name="Image 1" descr="C:\Users\user\AppData\Local\Temp\claude\C--Users-user\ecd937e0-60b9-45db-b06f-34b4379b9ec8\scratchpad\deck\assets\logo-mark-160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18504"/>
            <a:ext cx="237744" cy="237744"/>
          </a:xfrm>
          <a:prstGeom prst="rect">
            <a:avLst/>
          </a:prstGeom>
        </p:spPr>
      </p:pic>
      <p:sp>
        <p:nvSpPr>
          <p:cNvPr id="30" name="Shape 26"/>
          <p:cNvSpPr/>
          <p:nvPr/>
        </p:nvSpPr>
        <p:spPr>
          <a:xfrm>
            <a:off x="548640" y="6318504"/>
            <a:ext cx="237744" cy="237744"/>
          </a:xfrm>
          <a:prstGeom prst="roundRect">
            <a:avLst>
              <a:gd name="adj" fmla="val 21500"/>
            </a:avLst>
          </a:prstGeom>
          <a:solidFill>
            <a:srgbClr val="FFFFFF">
              <a:alpha val="0"/>
            </a:srgbClr>
          </a:solidFill>
          <a:ln w="9525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31" name="Text 27"/>
          <p:cNvSpPr txBox="1"/>
          <p:nvPr/>
        </p:nvSpPr>
        <p:spPr>
          <a:xfrm>
            <a:off x="877824" y="631850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Muhim Davr  ·  Biznes reja</a:t>
            </a:r>
            <a:endParaRPr lang="en-US" sz="950" dirty="0"/>
          </a:p>
        </p:txBody>
      </p:sp>
      <p:sp>
        <p:nvSpPr>
          <p:cNvPr id="32" name="Text 28"/>
          <p:cNvSpPr txBox="1"/>
          <p:nvPr/>
        </p:nvSpPr>
        <p:spPr>
          <a:xfrm>
            <a:off x="10271455" y="6318504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01 / 13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26364"/>
            <a:ext cx="109728" cy="109728"/>
          </a:xfrm>
          <a:prstGeom prst="ellipse">
            <a:avLst/>
          </a:prstGeom>
          <a:solidFill>
            <a:srgbClr val="2C7A50"/>
          </a:solidFill>
          <a:ln/>
        </p:spPr>
      </p:sp>
      <p:sp>
        <p:nvSpPr>
          <p:cNvPr id="3" name="Shape 1"/>
          <p:cNvSpPr/>
          <p:nvPr/>
        </p:nvSpPr>
        <p:spPr>
          <a:xfrm>
            <a:off x="707746" y="626364"/>
            <a:ext cx="109728" cy="109728"/>
          </a:xfrm>
          <a:prstGeom prst="ellipse">
            <a:avLst/>
          </a:prstGeom>
          <a:solidFill>
            <a:srgbClr val="B97609"/>
          </a:solidFill>
          <a:ln/>
        </p:spPr>
      </p:sp>
      <p:sp>
        <p:nvSpPr>
          <p:cNvPr id="4" name="Shape 2"/>
          <p:cNvSpPr/>
          <p:nvPr/>
        </p:nvSpPr>
        <p:spPr>
          <a:xfrm>
            <a:off x="866851" y="626364"/>
            <a:ext cx="109728" cy="109728"/>
          </a:xfrm>
          <a:prstGeom prst="ellipse">
            <a:avLst/>
          </a:prstGeom>
          <a:solidFill>
            <a:srgbClr val="BE3A2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33856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2563E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01  ·  KIM TO‘LAYDI VA NEGA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896112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Qiymat uch tomonga — pulni ikki tomon to‘laydi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48640" y="1737360"/>
            <a:ext cx="3566160" cy="4160520"/>
          </a:xfrm>
          <a:prstGeom prst="roundRect">
            <a:avLst>
              <a:gd name="adj" fmla="val 4103"/>
            </a:avLst>
          </a:prstGeom>
          <a:solidFill>
            <a:srgbClr val="0F172A"/>
          </a:solidFill>
          <a:ln/>
          <a:effectLst>
            <a:outerShdw sx="100000" sy="100000" kx="0" ky="0" algn="bl" rotWithShape="0" blurRad="279400" dist="50800" dir="5400000">
              <a:srgbClr val="2563EB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04672" y="1993392"/>
            <a:ext cx="512064" cy="512064"/>
          </a:xfrm>
          <a:prstGeom prst="roundRect">
            <a:avLst>
              <a:gd name="adj" fmla="val 26000"/>
            </a:avLst>
          </a:prstGeom>
          <a:solidFill>
            <a:srgbClr val="2563EB"/>
          </a:solidFill>
          <a:ln/>
        </p:spPr>
      </p:sp>
      <p:pic>
        <p:nvPicPr>
          <p:cNvPr id="9" name="Image 0" descr="C:\Users\user\AppData\Local\Temp\claude\C--Users-user\ecd937e0-60b9-45db-b06f-34b4379b9ec8\scratchpad\deck\assets\LuBuilding2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2447" y="2111167"/>
            <a:ext cx="276515" cy="276515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2926080" y="2057400"/>
            <a:ext cx="932688" cy="27432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3072384" y="2057400"/>
            <a:ext cx="694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TO‘LAYDI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804672" y="263347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pc="150" kern="0" dirty="0">
                <a:solidFill>
                  <a:srgbClr val="60A5F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DAVLAT · B2G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804672" y="290779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Tuman va viloyat sog‘liqni saqlash boshqarmasi, OvaBMU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804672" y="34564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8717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Muammo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822960" y="3872484"/>
            <a:ext cx="82296" cy="82296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1042416" y="3712464"/>
            <a:ext cx="28437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Yomonlashuv haqida kech xabar topadi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822960" y="4293108"/>
            <a:ext cx="82296" cy="82296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1042416" y="4133088"/>
            <a:ext cx="28437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Ona va bola salomatligi uchun javobgar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804672" y="460857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DE8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Biz beramiz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822960" y="5024628"/>
            <a:ext cx="82296" cy="82296"/>
          </a:xfrm>
          <a:prstGeom prst="ellipse">
            <a:avLst/>
          </a:prstGeom>
          <a:solidFill>
            <a:srgbClr val="4ADE80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1042416" y="4864608"/>
            <a:ext cx="28437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Tuman bo‘yicha real vaqtda reyestr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822960" y="5445252"/>
            <a:ext cx="82296" cy="82296"/>
          </a:xfrm>
          <a:prstGeom prst="ellipse">
            <a:avLst/>
          </a:prstGeom>
          <a:solidFill>
            <a:srgbClr val="4ADE80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1042416" y="5285232"/>
            <a:ext cx="28437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Avtomatik signal va qabul vaqti KPI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311396" y="1737360"/>
            <a:ext cx="3566160" cy="416052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9525">
            <a:solidFill>
              <a:srgbClr val="E3E8EF"/>
            </a:solidFill>
            <a:prstDash val="solid"/>
          </a:ln>
          <a:effectLst>
            <a:outerShdw sx="100000" sy="100000" kx="0" ky="0" algn="bl" rotWithShape="0" blurRad="203200" dist="50800" dir="5400000">
              <a:srgbClr val="0F172A">
                <a:alpha val="8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4567428" y="1993392"/>
            <a:ext cx="512064" cy="512064"/>
          </a:xfrm>
          <a:prstGeom prst="roundRect">
            <a:avLst>
              <a:gd name="adj" fmla="val 26000"/>
            </a:avLst>
          </a:prstGeom>
          <a:solidFill>
            <a:srgbClr val="EFF6FF"/>
          </a:solidFill>
          <a:ln/>
        </p:spPr>
      </p:sp>
      <p:pic>
        <p:nvPicPr>
          <p:cNvPr id="26" name="Image 1" descr="C:\Users\user\AppData\Local\Temp\claude\C--Users-user\ecd937e0-60b9-45db-b06f-34b4379b9ec8\scratchpad\deck\assets\LuHospital-bran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5203" y="2111167"/>
            <a:ext cx="276515" cy="276515"/>
          </a:xfrm>
          <a:prstGeom prst="rect">
            <a:avLst/>
          </a:prstGeom>
        </p:spPr>
      </p:pic>
      <p:sp>
        <p:nvSpPr>
          <p:cNvPr id="27" name="Shape 23"/>
          <p:cNvSpPr/>
          <p:nvPr/>
        </p:nvSpPr>
        <p:spPr>
          <a:xfrm>
            <a:off x="6688836" y="2057400"/>
            <a:ext cx="932688" cy="27432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28" name="Text 24"/>
          <p:cNvSpPr txBox="1"/>
          <p:nvPr/>
        </p:nvSpPr>
        <p:spPr>
          <a:xfrm>
            <a:off x="6835140" y="2057400"/>
            <a:ext cx="694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TO‘LAYDI</a:t>
            </a:r>
            <a:endParaRPr lang="en-US" sz="900" dirty="0"/>
          </a:p>
        </p:txBody>
      </p:sp>
      <p:sp>
        <p:nvSpPr>
          <p:cNvPr id="29" name="Text 25"/>
          <p:cNvSpPr txBox="1"/>
          <p:nvPr/>
        </p:nvSpPr>
        <p:spPr>
          <a:xfrm>
            <a:off x="4567428" y="263347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pc="150" kern="0" dirty="0">
                <a:solidFill>
                  <a:srgbClr val="2563E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XUSUSIY KLINIKA · B2B</a:t>
            </a:r>
            <a:endParaRPr lang="en-US" sz="1200" dirty="0"/>
          </a:p>
        </p:txBody>
      </p:sp>
      <p:sp>
        <p:nvSpPr>
          <p:cNvPr id="30" name="Text 26"/>
          <p:cNvSpPr txBox="1"/>
          <p:nvPr/>
        </p:nvSpPr>
        <p:spPr>
          <a:xfrm>
            <a:off x="4567428" y="290779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Akusher-ginekologlar va tug‘ruq klinikalari</a:t>
            </a:r>
            <a:endParaRPr lang="en-US" sz="1100" dirty="0"/>
          </a:p>
        </p:txBody>
      </p:sp>
      <p:sp>
        <p:nvSpPr>
          <p:cNvPr id="31" name="Text 27"/>
          <p:cNvSpPr txBox="1"/>
          <p:nvPr/>
        </p:nvSpPr>
        <p:spPr>
          <a:xfrm>
            <a:off x="4567428" y="34564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E3A2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Muammo</a:t>
            </a:r>
            <a:endParaRPr lang="en-US" sz="1100" dirty="0"/>
          </a:p>
        </p:txBody>
      </p:sp>
      <p:sp>
        <p:nvSpPr>
          <p:cNvPr id="32" name="Shape 28"/>
          <p:cNvSpPr/>
          <p:nvPr/>
        </p:nvSpPr>
        <p:spPr>
          <a:xfrm>
            <a:off x="4585716" y="3872484"/>
            <a:ext cx="82296" cy="82296"/>
          </a:xfrm>
          <a:prstGeom prst="ellipse">
            <a:avLst/>
          </a:prstGeom>
          <a:solidFill>
            <a:srgbClr val="BE3A2B"/>
          </a:solidFill>
          <a:ln/>
        </p:spPr>
      </p:sp>
      <p:sp>
        <p:nvSpPr>
          <p:cNvPr id="33" name="Text 29"/>
          <p:cNvSpPr txBox="1"/>
          <p:nvPr/>
        </p:nvSpPr>
        <p:spPr>
          <a:xfrm>
            <a:off x="4805172" y="3712464"/>
            <a:ext cx="28437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Ko‘rikdan keyin bemor holati ko‘rinmaydi</a:t>
            </a:r>
            <a:endParaRPr lang="en-US" sz="1100" dirty="0"/>
          </a:p>
        </p:txBody>
      </p:sp>
      <p:sp>
        <p:nvSpPr>
          <p:cNvPr id="34" name="Shape 30"/>
          <p:cNvSpPr/>
          <p:nvPr/>
        </p:nvSpPr>
        <p:spPr>
          <a:xfrm>
            <a:off x="4585716" y="4293108"/>
            <a:ext cx="82296" cy="82296"/>
          </a:xfrm>
          <a:prstGeom prst="ellipse">
            <a:avLst/>
          </a:prstGeom>
          <a:solidFill>
            <a:srgbClr val="BE3A2B"/>
          </a:solidFill>
          <a:ln/>
        </p:spPr>
      </p:sp>
      <p:sp>
        <p:nvSpPr>
          <p:cNvPr id="35" name="Text 31"/>
          <p:cNvSpPr txBox="1"/>
          <p:nvPr/>
        </p:nvSpPr>
        <p:spPr>
          <a:xfrm>
            <a:off x="4805172" y="4133088"/>
            <a:ext cx="28437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Tahlil natijalarini qo‘lda kiritish vaqt oladi</a:t>
            </a:r>
            <a:endParaRPr lang="en-US" sz="1100" dirty="0"/>
          </a:p>
        </p:txBody>
      </p:sp>
      <p:sp>
        <p:nvSpPr>
          <p:cNvPr id="36" name="Text 32"/>
          <p:cNvSpPr txBox="1"/>
          <p:nvPr/>
        </p:nvSpPr>
        <p:spPr>
          <a:xfrm>
            <a:off x="4567428" y="460857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C7A5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Biz beramiz</a:t>
            </a:r>
            <a:endParaRPr lang="en-US" sz="1100" dirty="0"/>
          </a:p>
        </p:txBody>
      </p:sp>
      <p:sp>
        <p:nvSpPr>
          <p:cNvPr id="37" name="Shape 33"/>
          <p:cNvSpPr/>
          <p:nvPr/>
        </p:nvSpPr>
        <p:spPr>
          <a:xfrm>
            <a:off x="4585716" y="5024628"/>
            <a:ext cx="82296" cy="82296"/>
          </a:xfrm>
          <a:prstGeom prst="ellipse">
            <a:avLst/>
          </a:prstGeom>
          <a:solidFill>
            <a:srgbClr val="2C7A50"/>
          </a:solidFill>
          <a:ln/>
        </p:spPr>
      </p:sp>
      <p:sp>
        <p:nvSpPr>
          <p:cNvPr id="38" name="Text 34"/>
          <p:cNvSpPr txBox="1"/>
          <p:nvPr/>
        </p:nvSpPr>
        <p:spPr>
          <a:xfrm>
            <a:off x="4805172" y="4864608"/>
            <a:ext cx="28437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Masofaviy kuzatuv — yangi xizmat</a:t>
            </a:r>
            <a:endParaRPr lang="en-US" sz="1100" dirty="0"/>
          </a:p>
        </p:txBody>
      </p:sp>
      <p:sp>
        <p:nvSpPr>
          <p:cNvPr id="39" name="Shape 35"/>
          <p:cNvSpPr/>
          <p:nvPr/>
        </p:nvSpPr>
        <p:spPr>
          <a:xfrm>
            <a:off x="4585716" y="5445252"/>
            <a:ext cx="82296" cy="82296"/>
          </a:xfrm>
          <a:prstGeom prst="ellipse">
            <a:avLst/>
          </a:prstGeom>
          <a:solidFill>
            <a:srgbClr val="2C7A50"/>
          </a:solidFill>
          <a:ln/>
        </p:spPr>
      </p:sp>
      <p:sp>
        <p:nvSpPr>
          <p:cNvPr id="40" name="Text 36"/>
          <p:cNvSpPr txBox="1"/>
          <p:nvPr/>
        </p:nvSpPr>
        <p:spPr>
          <a:xfrm>
            <a:off x="4805172" y="5285232"/>
            <a:ext cx="28437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varaqani o‘qib formani to‘ldiradi</a:t>
            </a:r>
            <a:endParaRPr lang="en-US" sz="1100" dirty="0"/>
          </a:p>
        </p:txBody>
      </p:sp>
      <p:sp>
        <p:nvSpPr>
          <p:cNvPr id="41" name="Shape 37"/>
          <p:cNvSpPr/>
          <p:nvPr/>
        </p:nvSpPr>
        <p:spPr>
          <a:xfrm>
            <a:off x="8074152" y="1737360"/>
            <a:ext cx="3566160" cy="416052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9525">
            <a:solidFill>
              <a:srgbClr val="E3E8EF"/>
            </a:solidFill>
            <a:prstDash val="solid"/>
          </a:ln>
          <a:effectLst>
            <a:outerShdw sx="100000" sy="100000" kx="0" ky="0" algn="bl" rotWithShape="0" blurRad="203200" dist="50800" dir="5400000">
              <a:srgbClr val="0F172A">
                <a:alpha val="8000"/>
              </a:srgbClr>
            </a:outerShdw>
          </a:effectLst>
        </p:spPr>
      </p:sp>
      <p:sp>
        <p:nvSpPr>
          <p:cNvPr id="42" name="Shape 38"/>
          <p:cNvSpPr/>
          <p:nvPr/>
        </p:nvSpPr>
        <p:spPr>
          <a:xfrm>
            <a:off x="8330184" y="1993392"/>
            <a:ext cx="512064" cy="512064"/>
          </a:xfrm>
          <a:prstGeom prst="roundRect">
            <a:avLst>
              <a:gd name="adj" fmla="val 26000"/>
            </a:avLst>
          </a:prstGeom>
          <a:solidFill>
            <a:srgbClr val="EFF6FF"/>
          </a:solidFill>
          <a:ln/>
        </p:spPr>
      </p:sp>
      <p:pic>
        <p:nvPicPr>
          <p:cNvPr id="43" name="Image 2" descr="C:\Users\user\AppData\Local\Temp\claude\C--Users-user\ecd937e0-60b9-45db-b06f-34b4379b9ec8\scratchpad\deck\assets\MdPregnantWoman-bran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47959" y="2111167"/>
            <a:ext cx="276515" cy="276515"/>
          </a:xfrm>
          <a:prstGeom prst="rect">
            <a:avLst/>
          </a:prstGeom>
        </p:spPr>
      </p:pic>
      <p:sp>
        <p:nvSpPr>
          <p:cNvPr id="44" name="Shape 39"/>
          <p:cNvSpPr/>
          <p:nvPr/>
        </p:nvSpPr>
        <p:spPr>
          <a:xfrm>
            <a:off x="10451592" y="2057400"/>
            <a:ext cx="932688" cy="274320"/>
          </a:xfrm>
          <a:prstGeom prst="roundRect">
            <a:avLst>
              <a:gd name="adj" fmla="val 50000"/>
            </a:avLst>
          </a:prstGeom>
          <a:solidFill>
            <a:srgbClr val="2C7A50"/>
          </a:solidFill>
          <a:ln/>
        </p:spPr>
      </p:sp>
      <p:sp>
        <p:nvSpPr>
          <p:cNvPr id="45" name="Text 40"/>
          <p:cNvSpPr txBox="1"/>
          <p:nvPr/>
        </p:nvSpPr>
        <p:spPr>
          <a:xfrm>
            <a:off x="10597896" y="2057400"/>
            <a:ext cx="694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BEPUL</a:t>
            </a:r>
            <a:endParaRPr lang="en-US" sz="900" dirty="0"/>
          </a:p>
        </p:txBody>
      </p:sp>
      <p:sp>
        <p:nvSpPr>
          <p:cNvPr id="46" name="Text 41"/>
          <p:cNvSpPr txBox="1"/>
          <p:nvPr/>
        </p:nvSpPr>
        <p:spPr>
          <a:xfrm>
            <a:off x="8330184" y="263347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pc="150" kern="0" dirty="0">
                <a:solidFill>
                  <a:srgbClr val="2563E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HOMILADOR AYOL</a:t>
            </a:r>
            <a:endParaRPr lang="en-US" sz="1200" dirty="0"/>
          </a:p>
        </p:txBody>
      </p:sp>
      <p:sp>
        <p:nvSpPr>
          <p:cNvPr id="47" name="Text 42"/>
          <p:cNvSpPr txBox="1"/>
          <p:nvPr/>
        </p:nvSpPr>
        <p:spPr>
          <a:xfrm>
            <a:off x="8330184" y="290779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Foydalanuvchi — Telegram orqali</a:t>
            </a:r>
            <a:endParaRPr lang="en-US" sz="1100" dirty="0"/>
          </a:p>
        </p:txBody>
      </p:sp>
      <p:sp>
        <p:nvSpPr>
          <p:cNvPr id="48" name="Text 43"/>
          <p:cNvSpPr txBox="1"/>
          <p:nvPr/>
        </p:nvSpPr>
        <p:spPr>
          <a:xfrm>
            <a:off x="8330184" y="34564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E3A2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Muammo</a:t>
            </a:r>
            <a:endParaRPr lang="en-US" sz="1100" dirty="0"/>
          </a:p>
        </p:txBody>
      </p:sp>
      <p:sp>
        <p:nvSpPr>
          <p:cNvPr id="49" name="Shape 44"/>
          <p:cNvSpPr/>
          <p:nvPr/>
        </p:nvSpPr>
        <p:spPr>
          <a:xfrm>
            <a:off x="8348472" y="3872484"/>
            <a:ext cx="82296" cy="82296"/>
          </a:xfrm>
          <a:prstGeom prst="ellipse">
            <a:avLst/>
          </a:prstGeom>
          <a:solidFill>
            <a:srgbClr val="BE3A2B"/>
          </a:solidFill>
          <a:ln/>
        </p:spPr>
      </p:sp>
      <p:sp>
        <p:nvSpPr>
          <p:cNvPr id="50" name="Text 45"/>
          <p:cNvSpPr txBox="1"/>
          <p:nvPr/>
        </p:nvSpPr>
        <p:spPr>
          <a:xfrm>
            <a:off x="8567928" y="3712464"/>
            <a:ext cx="28437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Uy o‘lchovlari va simptomlar yo‘qolib ketadi</a:t>
            </a:r>
            <a:endParaRPr lang="en-US" sz="1100" dirty="0"/>
          </a:p>
        </p:txBody>
      </p:sp>
      <p:sp>
        <p:nvSpPr>
          <p:cNvPr id="51" name="Shape 46"/>
          <p:cNvSpPr/>
          <p:nvPr/>
        </p:nvSpPr>
        <p:spPr>
          <a:xfrm>
            <a:off x="8348472" y="4293108"/>
            <a:ext cx="82296" cy="82296"/>
          </a:xfrm>
          <a:prstGeom prst="ellipse">
            <a:avLst/>
          </a:prstGeom>
          <a:solidFill>
            <a:srgbClr val="BE3A2B"/>
          </a:solidFill>
          <a:ln/>
        </p:spPr>
      </p:sp>
      <p:sp>
        <p:nvSpPr>
          <p:cNvPr id="52" name="Text 47"/>
          <p:cNvSpPr txBox="1"/>
          <p:nvPr/>
        </p:nvSpPr>
        <p:spPr>
          <a:xfrm>
            <a:off x="8567928" y="4133088"/>
            <a:ext cx="28437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Ilova o‘rnatish va o‘rganish qiyin</a:t>
            </a:r>
            <a:endParaRPr lang="en-US" sz="1100" dirty="0"/>
          </a:p>
        </p:txBody>
      </p:sp>
      <p:sp>
        <p:nvSpPr>
          <p:cNvPr id="53" name="Text 48"/>
          <p:cNvSpPr txBox="1"/>
          <p:nvPr/>
        </p:nvSpPr>
        <p:spPr>
          <a:xfrm>
            <a:off x="8330184" y="460857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C7A5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Biz beramiz</a:t>
            </a:r>
            <a:endParaRPr lang="en-US" sz="1100" dirty="0"/>
          </a:p>
        </p:txBody>
      </p:sp>
      <p:sp>
        <p:nvSpPr>
          <p:cNvPr id="54" name="Shape 49"/>
          <p:cNvSpPr/>
          <p:nvPr/>
        </p:nvSpPr>
        <p:spPr>
          <a:xfrm>
            <a:off x="8348472" y="5024628"/>
            <a:ext cx="82296" cy="82296"/>
          </a:xfrm>
          <a:prstGeom prst="ellipse">
            <a:avLst/>
          </a:prstGeom>
          <a:solidFill>
            <a:srgbClr val="2C7A50"/>
          </a:solidFill>
          <a:ln/>
        </p:spPr>
      </p:sp>
      <p:sp>
        <p:nvSpPr>
          <p:cNvPr id="55" name="Text 50"/>
          <p:cNvSpPr txBox="1"/>
          <p:nvPr/>
        </p:nvSpPr>
        <p:spPr>
          <a:xfrm>
            <a:off x="8567928" y="4864608"/>
            <a:ext cx="28437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Ilovasiz, Telegram’da</a:t>
            </a:r>
            <a:endParaRPr lang="en-US" sz="1100" dirty="0"/>
          </a:p>
        </p:txBody>
      </p:sp>
      <p:sp>
        <p:nvSpPr>
          <p:cNvPr id="56" name="Shape 51"/>
          <p:cNvSpPr/>
          <p:nvPr/>
        </p:nvSpPr>
        <p:spPr>
          <a:xfrm>
            <a:off x="8348472" y="5445252"/>
            <a:ext cx="82296" cy="82296"/>
          </a:xfrm>
          <a:prstGeom prst="ellipse">
            <a:avLst/>
          </a:prstGeom>
          <a:solidFill>
            <a:srgbClr val="2C7A50"/>
          </a:solidFill>
          <a:ln/>
        </p:spPr>
      </p:sp>
      <p:sp>
        <p:nvSpPr>
          <p:cNvPr id="57" name="Text 52"/>
          <p:cNvSpPr txBox="1"/>
          <p:nvPr/>
        </p:nvSpPr>
        <p:spPr>
          <a:xfrm>
            <a:off x="8567928" y="5285232"/>
            <a:ext cx="28437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Ko‘rik eslatmalari, xavf belgisi shifokorga yetadi</a:t>
            </a:r>
            <a:endParaRPr lang="en-US" sz="1100" dirty="0"/>
          </a:p>
        </p:txBody>
      </p:sp>
      <p:sp>
        <p:nvSpPr>
          <p:cNvPr id="58" name="Text 53"/>
          <p:cNvSpPr txBox="1"/>
          <p:nvPr/>
        </p:nvSpPr>
        <p:spPr>
          <a:xfrm>
            <a:off x="548640" y="6035040"/>
            <a:ext cx="11064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Muammo: Xorazm AI Xakaton, muammo №9 — «tahlillar yomonlashsa, OvaBMU mutaxassislari kech xabar topadi».</a:t>
            </a:r>
            <a:endParaRPr lang="en-US" sz="850" dirty="0"/>
          </a:p>
        </p:txBody>
      </p:sp>
      <p:pic>
        <p:nvPicPr>
          <p:cNvPr id="59" name="Image 3" descr="C:\Users\user\AppData\Local\Temp\claude\C--Users-user\ecd937e0-60b9-45db-b06f-34b4379b9ec8\scratchpad\deck\assets\logo-mark-160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6318504"/>
            <a:ext cx="237744" cy="237744"/>
          </a:xfrm>
          <a:prstGeom prst="rect">
            <a:avLst/>
          </a:prstGeom>
        </p:spPr>
      </p:pic>
      <p:sp>
        <p:nvSpPr>
          <p:cNvPr id="60" name="Text 54"/>
          <p:cNvSpPr txBox="1"/>
          <p:nvPr/>
        </p:nvSpPr>
        <p:spPr>
          <a:xfrm>
            <a:off x="877824" y="631850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Muhim Davr  ·  Biznes reja</a:t>
            </a:r>
            <a:endParaRPr lang="en-US" sz="950" dirty="0"/>
          </a:p>
        </p:txBody>
      </p:sp>
      <p:sp>
        <p:nvSpPr>
          <p:cNvPr id="61" name="Text 55"/>
          <p:cNvSpPr txBox="1"/>
          <p:nvPr/>
        </p:nvSpPr>
        <p:spPr>
          <a:xfrm>
            <a:off x="10271455" y="6318504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02 / 13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26364"/>
            <a:ext cx="109728" cy="109728"/>
          </a:xfrm>
          <a:prstGeom prst="ellipse">
            <a:avLst/>
          </a:prstGeom>
          <a:solidFill>
            <a:srgbClr val="2C7A50"/>
          </a:solidFill>
          <a:ln/>
        </p:spPr>
      </p:sp>
      <p:sp>
        <p:nvSpPr>
          <p:cNvPr id="3" name="Shape 1"/>
          <p:cNvSpPr/>
          <p:nvPr/>
        </p:nvSpPr>
        <p:spPr>
          <a:xfrm>
            <a:off x="707746" y="626364"/>
            <a:ext cx="109728" cy="109728"/>
          </a:xfrm>
          <a:prstGeom prst="ellipse">
            <a:avLst/>
          </a:prstGeom>
          <a:solidFill>
            <a:srgbClr val="B97609"/>
          </a:solidFill>
          <a:ln/>
        </p:spPr>
      </p:sp>
      <p:sp>
        <p:nvSpPr>
          <p:cNvPr id="4" name="Shape 2"/>
          <p:cNvSpPr/>
          <p:nvPr/>
        </p:nvSpPr>
        <p:spPr>
          <a:xfrm>
            <a:off x="866851" y="626364"/>
            <a:ext cx="109728" cy="109728"/>
          </a:xfrm>
          <a:prstGeom prst="ellipse">
            <a:avLst/>
          </a:prstGeom>
          <a:solidFill>
            <a:srgbClr val="BE3A2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33856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2563E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02  ·  NEGA HOZIR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896112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28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Muammo katta — davlat esa raqamlashtirishga tayyor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48640" y="1691640"/>
            <a:ext cx="2834640" cy="173736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9525">
            <a:solidFill>
              <a:srgbClr val="E3E8EF"/>
            </a:solidFill>
            <a:prstDash val="solid"/>
          </a:ln>
          <a:effectLst>
            <a:outerShdw sx="100000" sy="100000" kx="0" ky="0" algn="bl" rotWithShape="0" blurRad="203200" dist="50800" dir="5400000">
              <a:srgbClr val="0F172A">
                <a:alpha val="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777240" y="1874520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2563EB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879 600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496312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tug‘ilish, 2025 — O‘zbekiston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301752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Xorazm: 46 056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538728" y="1691640"/>
            <a:ext cx="2834640" cy="173736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9525">
            <a:solidFill>
              <a:srgbClr val="E3E8EF"/>
            </a:solidFill>
            <a:prstDash val="solid"/>
          </a:ln>
          <a:effectLst>
            <a:outerShdw sx="100000" sy="100000" kx="0" ky="0" algn="bl" rotWithShape="0" blurRad="203200" dist="50800" dir="5400000">
              <a:srgbClr val="0F172A">
                <a:alpha val="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3767328" y="1874520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BE3A2B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35,6%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3767328" y="2496312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homilador ayollarda anemiya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3767328" y="301752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O‘zbekiston, 2023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48640" y="3593592"/>
            <a:ext cx="2834640" cy="173736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9525">
            <a:solidFill>
              <a:srgbClr val="E3E8EF"/>
            </a:solidFill>
            <a:prstDash val="solid"/>
          </a:ln>
          <a:effectLst>
            <a:outerShdw sx="100000" sy="100000" kx="0" ky="0" algn="bl" rotWithShape="0" blurRad="203200" dist="50800" dir="5400000">
              <a:srgbClr val="0F172A">
                <a:alpha val="8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777240" y="3776472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BE3A2B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~16%</a:t>
            </a:r>
            <a:endParaRPr lang="en-US" sz="3000" dirty="0"/>
          </a:p>
        </p:txBody>
      </p:sp>
      <p:sp>
        <p:nvSpPr>
          <p:cNvPr id="17" name="Text 15"/>
          <p:cNvSpPr txBox="1"/>
          <p:nvPr/>
        </p:nvSpPr>
        <p:spPr>
          <a:xfrm>
            <a:off x="777240" y="4398264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onalar o‘limi — gipertenziv holatlar (preeklampsiya) sababli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777240" y="491947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dunyo bo‘yicha, WHO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538728" y="3593592"/>
            <a:ext cx="2834640" cy="1737360"/>
          </a:xfrm>
          <a:prstGeom prst="roundRect">
            <a:avLst>
              <a:gd name="adj" fmla="val 8421"/>
            </a:avLst>
          </a:prstGeom>
          <a:solidFill>
            <a:srgbClr val="0F172A"/>
          </a:solidFill>
          <a:ln/>
          <a:effectLst>
            <a:outerShdw sx="100000" sy="100000" kx="0" ky="0" algn="bl" rotWithShape="0" blurRad="203200" dist="50800" dir="5400000">
              <a:srgbClr val="2563EB">
                <a:alpha val="25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3767328" y="3776472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14,8 → 9,0</a:t>
            </a:r>
            <a:endParaRPr lang="en-US" sz="2600" dirty="0"/>
          </a:p>
        </p:txBody>
      </p:sp>
      <p:sp>
        <p:nvSpPr>
          <p:cNvPr id="21" name="Text 19"/>
          <p:cNvSpPr txBox="1"/>
          <p:nvPr/>
        </p:nvSpPr>
        <p:spPr>
          <a:xfrm>
            <a:off x="3767328" y="4398264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onalar o‘limi, 100 000 tirik tug‘ilishga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3767328" y="491947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2025 rasmiy → 2030 davlat maqsadi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720840" y="1691640"/>
            <a:ext cx="4919472" cy="3639312"/>
          </a:xfrm>
          <a:prstGeom prst="roundRect">
            <a:avLst>
              <a:gd name="adj" fmla="val 4020"/>
            </a:avLst>
          </a:prstGeom>
          <a:solidFill>
            <a:srgbClr val="EFF6FF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995160" y="1847088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Davlat tayyor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995160" y="2322576"/>
            <a:ext cx="457200" cy="457200"/>
          </a:xfrm>
          <a:prstGeom prst="roundRect">
            <a:avLst>
              <a:gd name="adj" fmla="val 26000"/>
            </a:avLst>
          </a:prstGeom>
          <a:solidFill>
            <a:srgbClr val="FFFFFF"/>
          </a:solidFill>
          <a:ln/>
        </p:spPr>
      </p:sp>
      <p:pic>
        <p:nvPicPr>
          <p:cNvPr id="26" name="Image 0" descr="C:\Users\user\AppData\Local\Temp\claude\C--Users-user\ecd937e0-60b9-45db-b06f-34b4379b9ec8\scratchpad\deck\assets\LuBuilding2-bran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00316" y="2427732"/>
            <a:ext cx="246888" cy="246888"/>
          </a:xfrm>
          <a:prstGeom prst="rect">
            <a:avLst/>
          </a:prstGeom>
        </p:spPr>
      </p:pic>
      <p:sp>
        <p:nvSpPr>
          <p:cNvPr id="27" name="Text 24"/>
          <p:cNvSpPr txBox="1"/>
          <p:nvPr/>
        </p:nvSpPr>
        <p:spPr>
          <a:xfrm>
            <a:off x="7616952" y="2286000"/>
            <a:ext cx="38221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PF-88 va PQ-185 (2025): birlamchi tibbiyot islohoti, elektron tibbiy yozuvlar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6995160" y="3054096"/>
            <a:ext cx="457200" cy="457200"/>
          </a:xfrm>
          <a:prstGeom prst="roundRect">
            <a:avLst>
              <a:gd name="adj" fmla="val 26000"/>
            </a:avLst>
          </a:prstGeom>
          <a:solidFill>
            <a:srgbClr val="FFFFFF"/>
          </a:solidFill>
          <a:ln/>
        </p:spPr>
      </p:sp>
      <p:pic>
        <p:nvPicPr>
          <p:cNvPr id="29" name="Image 1" descr="C:\Users\user\AppData\Local\Temp\claude\C--Users-user\ecd937e0-60b9-45db-b06f-34b4379b9ec8\scratchpad\deck\assets\LuDatabase-bran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0316" y="3159252"/>
            <a:ext cx="246888" cy="246888"/>
          </a:xfrm>
          <a:prstGeom prst="rect">
            <a:avLst/>
          </a:prstGeom>
        </p:spPr>
      </p:pic>
      <p:sp>
        <p:nvSpPr>
          <p:cNvPr id="30" name="Text 26"/>
          <p:cNvSpPr txBox="1"/>
          <p:nvPr/>
        </p:nvSpPr>
        <p:spPr>
          <a:xfrm>
            <a:off x="7616952" y="3017520"/>
            <a:ext cx="38221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DMED — 36 mln+ fuqaroning elektron tibbiy kartasi: integratsiya uchun tayyor asos</a:t>
            </a:r>
            <a:endParaRPr lang="en-US" sz="1100" dirty="0"/>
          </a:p>
        </p:txBody>
      </p:sp>
      <p:sp>
        <p:nvSpPr>
          <p:cNvPr id="31" name="Shape 27"/>
          <p:cNvSpPr/>
          <p:nvPr/>
        </p:nvSpPr>
        <p:spPr>
          <a:xfrm>
            <a:off x="6995160" y="3785616"/>
            <a:ext cx="457200" cy="457200"/>
          </a:xfrm>
          <a:prstGeom prst="roundRect">
            <a:avLst>
              <a:gd name="adj" fmla="val 26000"/>
            </a:avLst>
          </a:prstGeom>
          <a:solidFill>
            <a:srgbClr val="FFFFFF"/>
          </a:solidFill>
          <a:ln/>
        </p:spPr>
      </p:sp>
      <p:pic>
        <p:nvPicPr>
          <p:cNvPr id="32" name="Image 2" descr="C:\Users\user\AppData\Local\Temp\claude\C--Users-user\ecd937e0-60b9-45db-b06f-34b4379b9ec8\scratchpad\deck\assets\LuChartColumn-bran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00316" y="3890772"/>
            <a:ext cx="246888" cy="246888"/>
          </a:xfrm>
          <a:prstGeom prst="rect">
            <a:avLst/>
          </a:prstGeom>
        </p:spPr>
      </p:pic>
      <p:sp>
        <p:nvSpPr>
          <p:cNvPr id="33" name="Text 28"/>
          <p:cNvSpPr txBox="1"/>
          <p:nvPr/>
        </p:nvSpPr>
        <p:spPr>
          <a:xfrm>
            <a:off x="7616952" y="3749040"/>
            <a:ext cx="38221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2030 gacha muassasalarning 100% i raqamli; raqamli sog‘liqqa $79,8 mln</a:t>
            </a:r>
            <a:endParaRPr lang="en-US" sz="1100" dirty="0"/>
          </a:p>
        </p:txBody>
      </p:sp>
      <p:sp>
        <p:nvSpPr>
          <p:cNvPr id="34" name="Shape 29"/>
          <p:cNvSpPr/>
          <p:nvPr/>
        </p:nvSpPr>
        <p:spPr>
          <a:xfrm>
            <a:off x="6995160" y="4517136"/>
            <a:ext cx="457200" cy="457200"/>
          </a:xfrm>
          <a:prstGeom prst="roundRect">
            <a:avLst>
              <a:gd name="adj" fmla="val 26000"/>
            </a:avLst>
          </a:prstGeom>
          <a:solidFill>
            <a:srgbClr val="FFFFFF"/>
          </a:solidFill>
          <a:ln/>
        </p:spPr>
      </p:sp>
      <p:pic>
        <p:nvPicPr>
          <p:cNvPr id="35" name="Image 3" descr="C:\Users\user\AppData\Local\Temp\claude\C--Users-user\ecd937e0-60b9-45db-b06f-34b4379b9ec8\scratchpad\deck\assets\LuHospital-bran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00316" y="4622292"/>
            <a:ext cx="246888" cy="246888"/>
          </a:xfrm>
          <a:prstGeom prst="rect">
            <a:avLst/>
          </a:prstGeom>
        </p:spPr>
      </p:pic>
      <p:sp>
        <p:nvSpPr>
          <p:cNvPr id="36" name="Text 30"/>
          <p:cNvSpPr txBox="1"/>
          <p:nvPr/>
        </p:nvSpPr>
        <p:spPr>
          <a:xfrm>
            <a:off x="7616952" y="4480560"/>
            <a:ext cx="38221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9 000+ xususiy tibbiyot tashkiloti (2017 — ~3 500): B2B bozor o‘smoqda</a:t>
            </a:r>
            <a:endParaRPr lang="en-US" sz="1100" dirty="0"/>
          </a:p>
        </p:txBody>
      </p:sp>
      <p:sp>
        <p:nvSpPr>
          <p:cNvPr id="37" name="Shape 31"/>
          <p:cNvSpPr/>
          <p:nvPr/>
        </p:nvSpPr>
        <p:spPr>
          <a:xfrm>
            <a:off x="548640" y="5486400"/>
            <a:ext cx="11091672" cy="457200"/>
          </a:xfrm>
          <a:prstGeom prst="roundRect">
            <a:avLst>
              <a:gd name="adj" fmla="val 24000"/>
            </a:avLst>
          </a:prstGeom>
          <a:solidFill>
            <a:srgbClr val="0F172A"/>
          </a:solidFill>
          <a:ln/>
        </p:spPr>
      </p:sp>
      <p:sp>
        <p:nvSpPr>
          <p:cNvPr id="38" name="Text 32"/>
          <p:cNvSpPr txBox="1"/>
          <p:nvPr/>
        </p:nvSpPr>
        <p:spPr>
          <a:xfrm>
            <a:off x="822960" y="548640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Bizning qoidalar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aynan qon bosimi, siydikda oqsil va gemoglobinni</a:t>
            </a:r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kuzatadi — preeklampsiya va anemiya belgilari.</a:t>
            </a:r>
            <a:endParaRPr lang="en-US" sz="1200" dirty="0"/>
          </a:p>
        </p:txBody>
      </p:sp>
      <p:sp>
        <p:nvSpPr>
          <p:cNvPr id="39" name="Text 33"/>
          <p:cNvSpPr txBox="1"/>
          <p:nvPr/>
        </p:nvSpPr>
        <p:spPr>
          <a:xfrm>
            <a:off x="548640" y="6035040"/>
            <a:ext cx="11064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Manbalar: stat.uz (2026); World Bank / WHO — SH.STA.MMRT, SH.PRG.ANEM; WHO pre-eclampsia fact sheet (2025); gazeta.uz (14.01.2026); National Health Compact (2025); SSV (2025).</a:t>
            </a:r>
            <a:endParaRPr lang="en-US" sz="850" dirty="0"/>
          </a:p>
        </p:txBody>
      </p:sp>
      <p:pic>
        <p:nvPicPr>
          <p:cNvPr id="40" name="Image 4" descr="C:\Users\user\AppData\Local\Temp\claude\C--Users-user\ecd937e0-60b9-45db-b06f-34b4379b9ec8\scratchpad\deck\assets\logo-mark-160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6318504"/>
            <a:ext cx="237744" cy="237744"/>
          </a:xfrm>
          <a:prstGeom prst="rect">
            <a:avLst/>
          </a:prstGeom>
        </p:spPr>
      </p:pic>
      <p:sp>
        <p:nvSpPr>
          <p:cNvPr id="41" name="Text 34"/>
          <p:cNvSpPr txBox="1"/>
          <p:nvPr/>
        </p:nvSpPr>
        <p:spPr>
          <a:xfrm>
            <a:off x="877824" y="631850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Muhim Davr  ·  Biznes reja</a:t>
            </a:r>
            <a:endParaRPr lang="en-US" sz="950" dirty="0"/>
          </a:p>
        </p:txBody>
      </p:sp>
      <p:sp>
        <p:nvSpPr>
          <p:cNvPr id="42" name="Text 35"/>
          <p:cNvSpPr txBox="1"/>
          <p:nvPr/>
        </p:nvSpPr>
        <p:spPr>
          <a:xfrm>
            <a:off x="10271455" y="6318504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03 / 13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26364"/>
            <a:ext cx="109728" cy="109728"/>
          </a:xfrm>
          <a:prstGeom prst="ellipse">
            <a:avLst/>
          </a:prstGeom>
          <a:solidFill>
            <a:srgbClr val="2C7A50"/>
          </a:solidFill>
          <a:ln/>
        </p:spPr>
      </p:sp>
      <p:sp>
        <p:nvSpPr>
          <p:cNvPr id="3" name="Shape 1"/>
          <p:cNvSpPr/>
          <p:nvPr/>
        </p:nvSpPr>
        <p:spPr>
          <a:xfrm>
            <a:off x="707746" y="626364"/>
            <a:ext cx="109728" cy="109728"/>
          </a:xfrm>
          <a:prstGeom prst="ellipse">
            <a:avLst/>
          </a:prstGeom>
          <a:solidFill>
            <a:srgbClr val="B97609"/>
          </a:solidFill>
          <a:ln/>
        </p:spPr>
      </p:sp>
      <p:sp>
        <p:nvSpPr>
          <p:cNvPr id="4" name="Shape 2"/>
          <p:cNvSpPr/>
          <p:nvPr/>
        </p:nvSpPr>
        <p:spPr>
          <a:xfrm>
            <a:off x="866851" y="626364"/>
            <a:ext cx="109728" cy="109728"/>
          </a:xfrm>
          <a:prstGeom prst="ellipse">
            <a:avLst/>
          </a:prstGeom>
          <a:solidFill>
            <a:srgbClr val="BE3A2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33856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2563E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03  ·  BOZOR HAJMI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896112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Har yili yangi homiladorliklar — har biri kuzatuvga muhtoj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960120" y="1691640"/>
            <a:ext cx="4114800" cy="4114800"/>
          </a:xfrm>
          <a:prstGeom prst="ellipse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68780" y="3108960"/>
            <a:ext cx="2697480" cy="269748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354580" y="4480560"/>
            <a:ext cx="1325880" cy="132588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103120" y="1874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563EB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TAM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2103120" y="32644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D4ED8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SAM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2468880" y="49377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SOM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760720" y="1737360"/>
            <a:ext cx="5879592" cy="1207008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9525">
            <a:solidFill>
              <a:srgbClr val="E3E8EF"/>
            </a:solidFill>
            <a:prstDash val="solid"/>
          </a:ln>
          <a:effectLst>
            <a:outerShdw sx="100000" sy="100000" kx="0" ky="0" algn="bl" rotWithShape="0" blurRad="203200" dist="50800" dir="5400000">
              <a:srgbClr val="0F172A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989320" y="1965960"/>
            <a:ext cx="731520" cy="292608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135624" y="1965960"/>
            <a:ext cx="493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563E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TAM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6858000" y="19202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O‘zbekiston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9326880" y="19202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2563E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≈ 32,7 mlrd so‘m / yil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5989320" y="237744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879 600 tug‘ilish / yil (2025) + 9 000+ klinika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5989320" y="2615184"/>
            <a:ext cx="5422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B2G 22,0 mlrd + B2B 10,7 mlrd so‘m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760720" y="3108960"/>
            <a:ext cx="5879592" cy="1207008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9525">
            <a:solidFill>
              <a:srgbClr val="E3E8EF"/>
            </a:solidFill>
            <a:prstDash val="solid"/>
          </a:ln>
          <a:effectLst>
            <a:outerShdw sx="100000" sy="100000" kx="0" ky="0" algn="bl" rotWithShape="0" blurRad="203200" dist="50800" dir="5400000">
              <a:srgbClr val="0F172A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989320" y="3337560"/>
            <a:ext cx="731520" cy="292608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135624" y="3337560"/>
            <a:ext cx="493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563E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SAM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6858000" y="32918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Xorazm viloyati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9326880" y="32918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2563E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≈ 1 151 mln so‘m / yil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5989320" y="374904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46 056 tug‘ilish / yil (2025)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5989320" y="3986784"/>
            <a:ext cx="5422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13 ta tuman va shahar — pilot hududi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760720" y="4480560"/>
            <a:ext cx="5879592" cy="1207008"/>
          </a:xfrm>
          <a:prstGeom prst="roundRect">
            <a:avLst>
              <a:gd name="adj" fmla="val 12121"/>
            </a:avLst>
          </a:prstGeom>
          <a:solidFill>
            <a:srgbClr val="0F172A"/>
          </a:solidFill>
          <a:ln/>
          <a:effectLst>
            <a:outerShdw sx="100000" sy="100000" kx="0" ky="0" algn="bl" rotWithShape="0" blurRad="203200" dist="50800" dir="5400000">
              <a:srgbClr val="2563EB">
                <a:alpha val="2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989320" y="4709160"/>
            <a:ext cx="731520" cy="292608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135624" y="4709160"/>
            <a:ext cx="493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SOM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6858000" y="46634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 yilda: 4 viloyat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9326880" y="46634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60A5F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≈ 4 076 mln so‘m / yil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5989320" y="512064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≈ 92 112 kuzatilgan homiladorlik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5989320" y="5358384"/>
            <a:ext cx="5422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3-yil prognozi (9-slayd)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548640" y="6035040"/>
            <a:ext cx="11064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Tug‘ilishlar: stat.uz, 2025. Hududlar: gov.uz/xorazm. Xususiy tibbiyot tashkilotlari: SSV, 2025. B2B: ularning 10% i ona-bola xizmati ko‘rsatadi degan faraz.</a:t>
            </a:r>
            <a:endParaRPr lang="en-US" sz="850" dirty="0"/>
          </a:p>
        </p:txBody>
      </p:sp>
      <p:pic>
        <p:nvPicPr>
          <p:cNvPr id="35" name="Image 0" descr="C:\Users\user\AppData\Local\Temp\claude\C--Users-user\ecd937e0-60b9-45db-b06f-34b4379b9ec8\scratchpad\deck\assets\logo-mark-16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318504"/>
            <a:ext cx="237744" cy="237744"/>
          </a:xfrm>
          <a:prstGeom prst="rect">
            <a:avLst/>
          </a:prstGeom>
        </p:spPr>
      </p:pic>
      <p:sp>
        <p:nvSpPr>
          <p:cNvPr id="36" name="Text 33"/>
          <p:cNvSpPr txBox="1"/>
          <p:nvPr/>
        </p:nvSpPr>
        <p:spPr>
          <a:xfrm>
            <a:off x="877824" y="631850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Muhim Davr  ·  Biznes reja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271455" y="6318504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04 / 13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26364"/>
            <a:ext cx="109728" cy="109728"/>
          </a:xfrm>
          <a:prstGeom prst="ellipse">
            <a:avLst/>
          </a:prstGeom>
          <a:solidFill>
            <a:srgbClr val="2C7A50"/>
          </a:solidFill>
          <a:ln/>
        </p:spPr>
      </p:sp>
      <p:sp>
        <p:nvSpPr>
          <p:cNvPr id="3" name="Shape 1"/>
          <p:cNvSpPr/>
          <p:nvPr/>
        </p:nvSpPr>
        <p:spPr>
          <a:xfrm>
            <a:off x="707746" y="626364"/>
            <a:ext cx="109728" cy="109728"/>
          </a:xfrm>
          <a:prstGeom prst="ellipse">
            <a:avLst/>
          </a:prstGeom>
          <a:solidFill>
            <a:srgbClr val="B97609"/>
          </a:solidFill>
          <a:ln/>
        </p:spPr>
      </p:sp>
      <p:sp>
        <p:nvSpPr>
          <p:cNvPr id="4" name="Shape 2"/>
          <p:cNvSpPr/>
          <p:nvPr/>
        </p:nvSpPr>
        <p:spPr>
          <a:xfrm>
            <a:off x="866851" y="626364"/>
            <a:ext cx="109728" cy="109728"/>
          </a:xfrm>
          <a:prstGeom prst="ellipse">
            <a:avLst/>
          </a:prstGeom>
          <a:solidFill>
            <a:srgbClr val="BE3A2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33856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2563E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04  ·  DAROMAD MODELI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896112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Uch daromad manbai + keyingi bosqichda to‘rtinchisi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48640" y="1737360"/>
            <a:ext cx="2651760" cy="3291840"/>
          </a:xfrm>
          <a:prstGeom prst="roundRect">
            <a:avLst>
              <a:gd name="adj" fmla="val 5517"/>
            </a:avLst>
          </a:prstGeom>
          <a:solidFill>
            <a:srgbClr val="2563EB"/>
          </a:solidFill>
          <a:ln/>
          <a:effectLst>
            <a:outerShdw sx="100000" sy="100000" kx="0" ky="0" algn="bl" rotWithShape="0" blurRad="304800" dist="50800" dir="5400000">
              <a:srgbClr val="2563EB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77240" y="1965960"/>
            <a:ext cx="512064" cy="512064"/>
          </a:xfrm>
          <a:prstGeom prst="roundRect">
            <a:avLst>
              <a:gd name="adj" fmla="val 26000"/>
            </a:avLst>
          </a:prstGeom>
          <a:solidFill>
            <a:srgbClr val="FFFFFF"/>
          </a:solidFill>
          <a:ln/>
        </p:spPr>
      </p:sp>
      <p:pic>
        <p:nvPicPr>
          <p:cNvPr id="9" name="Image 0" descr="C:\Users\user\AppData\Local\Temp\claude\C--Users-user\ecd937e0-60b9-45db-b06f-34b4379b9ec8\scratchpad\deck\assets\LuBuilding2-bran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5015" y="2083735"/>
            <a:ext cx="276515" cy="276515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1874520" y="2066544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2020824" y="2066544"/>
            <a:ext cx="859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563E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ASOSIY</a:t>
            </a:r>
            <a:endParaRPr lang="en-US" sz="850" dirty="0"/>
          </a:p>
        </p:txBody>
      </p:sp>
      <p:sp>
        <p:nvSpPr>
          <p:cNvPr id="12" name="Text 9"/>
          <p:cNvSpPr txBox="1"/>
          <p:nvPr/>
        </p:nvSpPr>
        <p:spPr>
          <a:xfrm>
            <a:off x="777240" y="26517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B2G litsenziya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777240" y="303580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FDBF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Tuman / viloyat sog‘liqni saqlash boshqarmasi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777240" y="3520440"/>
            <a:ext cx="2240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Har bir kuzatilgan homiladorlik uchun yillik to‘lov: akusherkalar va OvaBMU uchun reyestr, signallar, hisobotlar.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777240" y="4389120"/>
            <a:ext cx="2194560" cy="0"/>
          </a:xfrm>
          <a:prstGeom prst="line">
            <a:avLst/>
          </a:prstGeom>
          <a:noFill/>
          <a:ln w="9525">
            <a:solidFill>
              <a:srgbClr val="4F83F1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77240" y="44805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56%</a:t>
            </a:r>
            <a:pPr indent="0" marL="0">
              <a:buNone/>
            </a:pPr>
            <a:r>
              <a:rPr lang="en-US" sz="1000" dirty="0">
                <a:solidFill>
                  <a:srgbClr val="BFDB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3-yil daromadidan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3361944" y="1737360"/>
            <a:ext cx="2651760" cy="329184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E3E8EF"/>
            </a:solidFill>
            <a:prstDash val="solid"/>
          </a:ln>
          <a:effectLst>
            <a:outerShdw sx="100000" sy="100000" kx="0" ky="0" algn="bl" rotWithShape="0" blurRad="203200" dist="50800" dir="5400000">
              <a:srgbClr val="0F172A">
                <a:alpha val="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3590544" y="1965960"/>
            <a:ext cx="512064" cy="512064"/>
          </a:xfrm>
          <a:prstGeom prst="roundRect">
            <a:avLst>
              <a:gd name="adj" fmla="val 26000"/>
            </a:avLst>
          </a:prstGeom>
          <a:solidFill>
            <a:srgbClr val="EFF6FF"/>
          </a:solidFill>
          <a:ln/>
        </p:spPr>
      </p:sp>
      <p:pic>
        <p:nvPicPr>
          <p:cNvPr id="19" name="Image 1" descr="C:\Users\user\AppData\Local\Temp\claude\C--Users-user\ecd937e0-60b9-45db-b06f-34b4379b9ec8\scratchpad\deck\assets\LuHospital-bran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8319" y="2083735"/>
            <a:ext cx="276515" cy="276515"/>
          </a:xfrm>
          <a:prstGeom prst="rect">
            <a:avLst/>
          </a:prstGeom>
        </p:spPr>
      </p:pic>
      <p:sp>
        <p:nvSpPr>
          <p:cNvPr id="20" name="Shape 16"/>
          <p:cNvSpPr/>
          <p:nvPr/>
        </p:nvSpPr>
        <p:spPr>
          <a:xfrm>
            <a:off x="4687824" y="2066544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4834128" y="2066544"/>
            <a:ext cx="859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563E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OYLIK</a:t>
            </a:r>
            <a:endParaRPr lang="en-US" sz="850" dirty="0"/>
          </a:p>
        </p:txBody>
      </p:sp>
      <p:sp>
        <p:nvSpPr>
          <p:cNvPr id="22" name="Text 18"/>
          <p:cNvSpPr txBox="1"/>
          <p:nvPr/>
        </p:nvSpPr>
        <p:spPr>
          <a:xfrm>
            <a:off x="3590544" y="26517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B2B obuna</a:t>
            </a:r>
            <a:endParaRPr lang="en-US" sz="1600" dirty="0"/>
          </a:p>
        </p:txBody>
      </p:sp>
      <p:sp>
        <p:nvSpPr>
          <p:cNvPr id="23" name="Text 19"/>
          <p:cNvSpPr txBox="1"/>
          <p:nvPr/>
        </p:nvSpPr>
        <p:spPr>
          <a:xfrm>
            <a:off x="3590544" y="303580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563E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Xususiy klinikalar</a:t>
            </a:r>
            <a:endParaRPr lang="en-US" sz="1100" dirty="0"/>
          </a:p>
        </p:txBody>
      </p:sp>
      <p:sp>
        <p:nvSpPr>
          <p:cNvPr id="24" name="Text 20"/>
          <p:cNvSpPr txBox="1"/>
          <p:nvPr/>
        </p:nvSpPr>
        <p:spPr>
          <a:xfrm>
            <a:off x="3590544" y="3520440"/>
            <a:ext cx="2240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Shifokor kabineti, AI bilan tahlil varaqasini kiritish, bemorning Telegram kanali, masofaviy kuzatuv.</a:t>
            </a:r>
            <a:endParaRPr lang="en-US" sz="1100" dirty="0"/>
          </a:p>
        </p:txBody>
      </p:sp>
      <p:sp>
        <p:nvSpPr>
          <p:cNvPr id="25" name="Shape 21"/>
          <p:cNvSpPr/>
          <p:nvPr/>
        </p:nvSpPr>
        <p:spPr>
          <a:xfrm>
            <a:off x="3590544" y="4389120"/>
            <a:ext cx="2194560" cy="0"/>
          </a:xfrm>
          <a:prstGeom prst="line">
            <a:avLst/>
          </a:prstGeom>
          <a:noFill/>
          <a:ln w="9525">
            <a:solidFill>
              <a:srgbClr val="E3E8EF"/>
            </a:solidFill>
            <a:prstDash val="solid"/>
          </a:ln>
        </p:spPr>
      </p:sp>
      <p:sp>
        <p:nvSpPr>
          <p:cNvPr id="26" name="Text 22"/>
          <p:cNvSpPr txBox="1"/>
          <p:nvPr/>
        </p:nvSpPr>
        <p:spPr>
          <a:xfrm>
            <a:off x="3590544" y="44805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563EB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29%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3-yil daromadidan</a:t>
            </a:r>
            <a:endParaRPr lang="en-US" sz="1800" dirty="0"/>
          </a:p>
        </p:txBody>
      </p:sp>
      <p:sp>
        <p:nvSpPr>
          <p:cNvPr id="27" name="Shape 23"/>
          <p:cNvSpPr/>
          <p:nvPr/>
        </p:nvSpPr>
        <p:spPr>
          <a:xfrm>
            <a:off x="6175248" y="1737360"/>
            <a:ext cx="2651760" cy="329184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E3E8EF"/>
            </a:solidFill>
            <a:prstDash val="solid"/>
          </a:ln>
          <a:effectLst>
            <a:outerShdw sx="100000" sy="100000" kx="0" ky="0" algn="bl" rotWithShape="0" blurRad="203200" dist="50800" dir="5400000">
              <a:srgbClr val="0F172A">
                <a:alpha val="8000"/>
              </a:srgbClr>
            </a:outerShdw>
          </a:effectLst>
        </p:spPr>
      </p:sp>
      <p:sp>
        <p:nvSpPr>
          <p:cNvPr id="28" name="Shape 24"/>
          <p:cNvSpPr/>
          <p:nvPr/>
        </p:nvSpPr>
        <p:spPr>
          <a:xfrm>
            <a:off x="6403848" y="1965960"/>
            <a:ext cx="512064" cy="512064"/>
          </a:xfrm>
          <a:prstGeom prst="roundRect">
            <a:avLst>
              <a:gd name="adj" fmla="val 26000"/>
            </a:avLst>
          </a:prstGeom>
          <a:solidFill>
            <a:srgbClr val="EFF6FF"/>
          </a:solidFill>
          <a:ln/>
        </p:spPr>
      </p:sp>
      <p:pic>
        <p:nvPicPr>
          <p:cNvPr id="29" name="Image 2" descr="C:\Users\user\AppData\Local\Temp\claude\C--Users-user\ecd937e0-60b9-45db-b06f-34b4379b9ec8\scratchpad\deck\assets\LuUsers-bran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1623" y="2083735"/>
            <a:ext cx="276515" cy="276515"/>
          </a:xfrm>
          <a:prstGeom prst="rect">
            <a:avLst/>
          </a:prstGeom>
        </p:spPr>
      </p:pic>
      <p:sp>
        <p:nvSpPr>
          <p:cNvPr id="30" name="Shape 25"/>
          <p:cNvSpPr/>
          <p:nvPr/>
        </p:nvSpPr>
        <p:spPr>
          <a:xfrm>
            <a:off x="7501128" y="2066544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/>
        </p:spPr>
      </p:sp>
      <p:sp>
        <p:nvSpPr>
          <p:cNvPr id="31" name="Text 26"/>
          <p:cNvSpPr txBox="1"/>
          <p:nvPr/>
        </p:nvSpPr>
        <p:spPr>
          <a:xfrm>
            <a:off x="7647432" y="2066544"/>
            <a:ext cx="859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563E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BIR MARTALIK</a:t>
            </a:r>
            <a:endParaRPr lang="en-US" sz="850" dirty="0"/>
          </a:p>
        </p:txBody>
      </p:sp>
      <p:sp>
        <p:nvSpPr>
          <p:cNvPr id="32" name="Text 27"/>
          <p:cNvSpPr txBox="1"/>
          <p:nvPr/>
        </p:nvSpPr>
        <p:spPr>
          <a:xfrm>
            <a:off x="6403848" y="26517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Joriy etish va o‘qitish</a:t>
            </a:r>
            <a:endParaRPr lang="en-US" sz="1600" dirty="0"/>
          </a:p>
        </p:txBody>
      </p:sp>
      <p:sp>
        <p:nvSpPr>
          <p:cNvPr id="33" name="Text 28"/>
          <p:cNvSpPr txBox="1"/>
          <p:nvPr/>
        </p:nvSpPr>
        <p:spPr>
          <a:xfrm>
            <a:off x="6403848" y="303580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563E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Har bir yangi tuman yoki klinika</a:t>
            </a:r>
            <a:endParaRPr lang="en-US" sz="1100" dirty="0"/>
          </a:p>
        </p:txBody>
      </p:sp>
      <p:sp>
        <p:nvSpPr>
          <p:cNvPr id="34" name="Text 29"/>
          <p:cNvSpPr txBox="1"/>
          <p:nvPr/>
        </p:nvSpPr>
        <p:spPr>
          <a:xfrm>
            <a:off x="6403848" y="3520440"/>
            <a:ext cx="2240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Akusherkalarni o‘qitish, tizimni sozlash, bemorlar ro‘yxatini import qilish.</a:t>
            </a:r>
            <a:endParaRPr lang="en-US" sz="1100" dirty="0"/>
          </a:p>
        </p:txBody>
      </p:sp>
      <p:sp>
        <p:nvSpPr>
          <p:cNvPr id="35" name="Shape 30"/>
          <p:cNvSpPr/>
          <p:nvPr/>
        </p:nvSpPr>
        <p:spPr>
          <a:xfrm>
            <a:off x="6403848" y="4389120"/>
            <a:ext cx="2194560" cy="0"/>
          </a:xfrm>
          <a:prstGeom prst="line">
            <a:avLst/>
          </a:prstGeom>
          <a:noFill/>
          <a:ln w="9525">
            <a:solidFill>
              <a:srgbClr val="E3E8EF"/>
            </a:solidFill>
            <a:prstDash val="solid"/>
          </a:ln>
        </p:spPr>
      </p:sp>
      <p:sp>
        <p:nvSpPr>
          <p:cNvPr id="36" name="Text 31"/>
          <p:cNvSpPr txBox="1"/>
          <p:nvPr/>
        </p:nvSpPr>
        <p:spPr>
          <a:xfrm>
            <a:off x="6403848" y="44805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563EB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14%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3-yil daromadidan</a:t>
            </a:r>
            <a:endParaRPr lang="en-US" sz="1800" dirty="0"/>
          </a:p>
        </p:txBody>
      </p:sp>
      <p:sp>
        <p:nvSpPr>
          <p:cNvPr id="37" name="Shape 32"/>
          <p:cNvSpPr/>
          <p:nvPr/>
        </p:nvSpPr>
        <p:spPr>
          <a:xfrm>
            <a:off x="8988552" y="1737360"/>
            <a:ext cx="2651760" cy="329184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E3E8EF"/>
            </a:solidFill>
            <a:prstDash val="dash"/>
          </a:ln>
          <a:effectLst>
            <a:outerShdw sx="100000" sy="100000" kx="0" ky="0" algn="bl" rotWithShape="0" blurRad="203200" dist="50800" dir="5400000">
              <a:srgbClr val="0F172A">
                <a:alpha val="8000"/>
              </a:srgbClr>
            </a:outerShdw>
          </a:effectLst>
        </p:spPr>
      </p:sp>
      <p:sp>
        <p:nvSpPr>
          <p:cNvPr id="38" name="Shape 33"/>
          <p:cNvSpPr/>
          <p:nvPr/>
        </p:nvSpPr>
        <p:spPr>
          <a:xfrm>
            <a:off x="9217152" y="1965960"/>
            <a:ext cx="512064" cy="512064"/>
          </a:xfrm>
          <a:prstGeom prst="roundRect">
            <a:avLst>
              <a:gd name="adj" fmla="val 26000"/>
            </a:avLst>
          </a:prstGeom>
          <a:solidFill>
            <a:srgbClr val="F1F5F9"/>
          </a:solidFill>
          <a:ln/>
        </p:spPr>
      </p:sp>
      <p:pic>
        <p:nvPicPr>
          <p:cNvPr id="39" name="Image 3" descr="C:\Users\user\AppData\Local\Temp\claude\C--Users-user\ecd937e0-60b9-45db-b06f-34b4379b9ec8\scratchpad\deck\assets\LuNetwork-mut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34927" y="2083735"/>
            <a:ext cx="276515" cy="276515"/>
          </a:xfrm>
          <a:prstGeom prst="rect">
            <a:avLst/>
          </a:prstGeom>
        </p:spPr>
      </p:pic>
      <p:sp>
        <p:nvSpPr>
          <p:cNvPr id="40" name="Shape 34"/>
          <p:cNvSpPr/>
          <p:nvPr/>
        </p:nvSpPr>
        <p:spPr>
          <a:xfrm>
            <a:off x="10314432" y="2066544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/>
        </p:spPr>
      </p:sp>
      <p:sp>
        <p:nvSpPr>
          <p:cNvPr id="41" name="Text 35"/>
          <p:cNvSpPr txBox="1"/>
          <p:nvPr/>
        </p:nvSpPr>
        <p:spPr>
          <a:xfrm>
            <a:off x="10460736" y="2066544"/>
            <a:ext cx="859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KEYIN</a:t>
            </a:r>
            <a:endParaRPr lang="en-US" sz="850" dirty="0"/>
          </a:p>
        </p:txBody>
      </p:sp>
      <p:sp>
        <p:nvSpPr>
          <p:cNvPr id="42" name="Text 36"/>
          <p:cNvSpPr txBox="1"/>
          <p:nvPr/>
        </p:nvSpPr>
        <p:spPr>
          <a:xfrm>
            <a:off x="9217152" y="26517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Integratsiya va tahlil</a:t>
            </a:r>
            <a:endParaRPr lang="en-US" sz="1600" dirty="0"/>
          </a:p>
        </p:txBody>
      </p:sp>
      <p:sp>
        <p:nvSpPr>
          <p:cNvPr id="43" name="Text 37"/>
          <p:cNvSpPr txBox="1"/>
          <p:nvPr/>
        </p:nvSpPr>
        <p:spPr>
          <a:xfrm>
            <a:off x="9217152" y="303580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563E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Davlat tizimlari, sug‘urta</a:t>
            </a:r>
            <a:endParaRPr lang="en-US" sz="1100" dirty="0"/>
          </a:p>
        </p:txBody>
      </p:sp>
      <p:sp>
        <p:nvSpPr>
          <p:cNvPr id="44" name="Text 38"/>
          <p:cNvSpPr txBox="1"/>
          <p:nvPr/>
        </p:nvSpPr>
        <p:spPr>
          <a:xfrm>
            <a:off x="9217152" y="3520440"/>
            <a:ext cx="2240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Milliy tibbiy tizimlar bilan integratsiya; anonimlashtirilgan hududiy statistika hisobotlari.</a:t>
            </a:r>
            <a:endParaRPr lang="en-US" sz="1100" dirty="0"/>
          </a:p>
        </p:txBody>
      </p:sp>
      <p:sp>
        <p:nvSpPr>
          <p:cNvPr id="45" name="Shape 39"/>
          <p:cNvSpPr/>
          <p:nvPr/>
        </p:nvSpPr>
        <p:spPr>
          <a:xfrm>
            <a:off x="9217152" y="4389120"/>
            <a:ext cx="2194560" cy="0"/>
          </a:xfrm>
          <a:prstGeom prst="line">
            <a:avLst/>
          </a:prstGeom>
          <a:noFill/>
          <a:ln w="9525">
            <a:solidFill>
              <a:srgbClr val="E3E8EF"/>
            </a:solidFill>
            <a:prstDash val="solid"/>
          </a:ln>
        </p:spPr>
      </p:sp>
      <p:sp>
        <p:nvSpPr>
          <p:cNvPr id="46" name="Text 40"/>
          <p:cNvSpPr txBox="1"/>
          <p:nvPr/>
        </p:nvSpPr>
        <p:spPr>
          <a:xfrm>
            <a:off x="9217152" y="44805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—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keyingi bosqich</a:t>
            </a:r>
            <a:endParaRPr lang="en-US" sz="1800" dirty="0"/>
          </a:p>
        </p:txBody>
      </p:sp>
      <p:sp>
        <p:nvSpPr>
          <p:cNvPr id="47" name="Shape 41"/>
          <p:cNvSpPr/>
          <p:nvPr/>
        </p:nvSpPr>
        <p:spPr>
          <a:xfrm>
            <a:off x="548640" y="5257800"/>
            <a:ext cx="11091672" cy="685800"/>
          </a:xfrm>
          <a:prstGeom prst="roundRect">
            <a:avLst>
              <a:gd name="adj" fmla="val 18667"/>
            </a:avLst>
          </a:prstGeom>
          <a:solidFill>
            <a:srgbClr val="E7F3ED"/>
          </a:solidFill>
          <a:ln/>
        </p:spPr>
      </p:sp>
      <p:sp>
        <p:nvSpPr>
          <p:cNvPr id="48" name="Shape 42"/>
          <p:cNvSpPr/>
          <p:nvPr/>
        </p:nvSpPr>
        <p:spPr>
          <a:xfrm>
            <a:off x="713232" y="5367528"/>
            <a:ext cx="457200" cy="457200"/>
          </a:xfrm>
          <a:prstGeom prst="ellipse">
            <a:avLst/>
          </a:prstGeom>
          <a:solidFill>
            <a:srgbClr val="2C7A50"/>
          </a:solidFill>
          <a:ln/>
        </p:spPr>
      </p:sp>
      <p:pic>
        <p:nvPicPr>
          <p:cNvPr id="49" name="Image 4" descr="C:\Users\user\AppData\Local\Temp\claude\C--Users-user\ecd937e0-60b9-45db-b06f-34b4379b9ec8\scratchpad\deck\assets\MdPregnantWoman-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8388" y="5472684"/>
            <a:ext cx="246888" cy="246888"/>
          </a:xfrm>
          <a:prstGeom prst="rect">
            <a:avLst/>
          </a:prstGeom>
        </p:spPr>
      </p:pic>
      <p:sp>
        <p:nvSpPr>
          <p:cNvPr id="50" name="Text 43"/>
          <p:cNvSpPr txBox="1"/>
          <p:nvPr/>
        </p:nvSpPr>
        <p:spPr>
          <a:xfrm>
            <a:off x="1325880" y="5257800"/>
            <a:ext cx="10149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7A5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Homilador ayol uchun — doim bepul.  </a:t>
            </a:r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Qamrov qanchalik keng bo‘lsa, davlat va klinika uchun reyestr shunchalik qimmatli. Ayolni to‘lovchi qilish qamrovni kamaytiradi.</a:t>
            </a:r>
            <a:endParaRPr lang="en-US" sz="1200" dirty="0"/>
          </a:p>
        </p:txBody>
      </p:sp>
      <p:pic>
        <p:nvPicPr>
          <p:cNvPr id="51" name="Image 5" descr="C:\Users\user\AppData\Local\Temp\claude\C--Users-user\ecd937e0-60b9-45db-b06f-34b4379b9ec8\scratchpad\deck\assets\logo-mark-160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8640" y="6318504"/>
            <a:ext cx="237744" cy="237744"/>
          </a:xfrm>
          <a:prstGeom prst="rect">
            <a:avLst/>
          </a:prstGeom>
        </p:spPr>
      </p:pic>
      <p:sp>
        <p:nvSpPr>
          <p:cNvPr id="52" name="Text 44"/>
          <p:cNvSpPr txBox="1"/>
          <p:nvPr/>
        </p:nvSpPr>
        <p:spPr>
          <a:xfrm>
            <a:off x="877824" y="631850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Muhim Davr  ·  Biznes reja</a:t>
            </a:r>
            <a:endParaRPr lang="en-US" sz="950" dirty="0"/>
          </a:p>
        </p:txBody>
      </p:sp>
      <p:sp>
        <p:nvSpPr>
          <p:cNvPr id="53" name="Text 45"/>
          <p:cNvSpPr txBox="1"/>
          <p:nvPr/>
        </p:nvSpPr>
        <p:spPr>
          <a:xfrm>
            <a:off x="10271455" y="6318504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05 / 13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26364"/>
            <a:ext cx="109728" cy="109728"/>
          </a:xfrm>
          <a:prstGeom prst="ellipse">
            <a:avLst/>
          </a:prstGeom>
          <a:solidFill>
            <a:srgbClr val="2C7A50"/>
          </a:solidFill>
          <a:ln/>
        </p:spPr>
      </p:sp>
      <p:sp>
        <p:nvSpPr>
          <p:cNvPr id="3" name="Shape 1"/>
          <p:cNvSpPr/>
          <p:nvPr/>
        </p:nvSpPr>
        <p:spPr>
          <a:xfrm>
            <a:off x="707746" y="626364"/>
            <a:ext cx="109728" cy="109728"/>
          </a:xfrm>
          <a:prstGeom prst="ellipse">
            <a:avLst/>
          </a:prstGeom>
          <a:solidFill>
            <a:srgbClr val="B97609"/>
          </a:solidFill>
          <a:ln/>
        </p:spPr>
      </p:sp>
      <p:sp>
        <p:nvSpPr>
          <p:cNvPr id="4" name="Shape 2"/>
          <p:cNvSpPr/>
          <p:nvPr/>
        </p:nvSpPr>
        <p:spPr>
          <a:xfrm>
            <a:off x="866851" y="626364"/>
            <a:ext cx="109728" cy="109728"/>
          </a:xfrm>
          <a:prstGeom prst="ellipse">
            <a:avLst/>
          </a:prstGeom>
          <a:solidFill>
            <a:srgbClr val="BE3A2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33856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2563E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05  ·  NARXLAR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896112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Narx gipotezasi — pilotda tasdiqlanadi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2651760" cy="393192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E3E8EF"/>
            </a:solidFill>
            <a:prstDash val="solid"/>
          </a:ln>
          <a:effectLst>
            <a:outerShdw sx="100000" sy="100000" kx="0" ky="0" algn="bl" rotWithShape="0" blurRad="203200" dist="50800" dir="5400000">
              <a:srgbClr val="0F172A">
                <a:alpha val="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777240" y="20574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563E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Homilador ayol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404872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Bepul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295351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77240" y="3355848"/>
            <a:ext cx="2194560" cy="0"/>
          </a:xfrm>
          <a:prstGeom prst="line">
            <a:avLst/>
          </a:prstGeom>
          <a:noFill/>
          <a:ln w="9525">
            <a:solidFill>
              <a:srgbClr val="E3E8E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04672" y="3643884"/>
            <a:ext cx="82296" cy="82296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024128" y="3474720"/>
            <a:ext cx="20208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Telegram bot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04672" y="4101084"/>
            <a:ext cx="82296" cy="82296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024128" y="3931920"/>
            <a:ext cx="20208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Ko‘rik eslatmalari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04672" y="4558284"/>
            <a:ext cx="82296" cy="82296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024128" y="4389120"/>
            <a:ext cx="20208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Holat va qon bosimini yuborish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361944" y="1783080"/>
            <a:ext cx="2651760" cy="393192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E3E8EF"/>
            </a:solidFill>
            <a:prstDash val="solid"/>
          </a:ln>
          <a:effectLst>
            <a:outerShdw sx="100000" sy="100000" kx="0" ky="0" algn="bl" rotWithShape="0" blurRad="203200" dist="50800" dir="5400000">
              <a:srgbClr val="0F172A">
                <a:alpha val="8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3590544" y="20574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563E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Xususiy klinika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3590544" y="2404872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990 000</a:t>
            </a:r>
            <a:endParaRPr lang="en-US" sz="3000" dirty="0"/>
          </a:p>
        </p:txBody>
      </p:sp>
      <p:sp>
        <p:nvSpPr>
          <p:cNvPr id="21" name="Text 19"/>
          <p:cNvSpPr txBox="1"/>
          <p:nvPr/>
        </p:nvSpPr>
        <p:spPr>
          <a:xfrm>
            <a:off x="3590544" y="295351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so‘m / oy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590544" y="3355848"/>
            <a:ext cx="2194560" cy="0"/>
          </a:xfrm>
          <a:prstGeom prst="line">
            <a:avLst/>
          </a:prstGeom>
          <a:noFill/>
          <a:ln w="9525">
            <a:solidFill>
              <a:srgbClr val="E3E8E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617976" y="3643884"/>
            <a:ext cx="82296" cy="82296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3837432" y="3474720"/>
            <a:ext cx="20208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 tagacha shifokor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617976" y="4101084"/>
            <a:ext cx="82296" cy="82296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3837432" y="3931920"/>
            <a:ext cx="20208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bilan varaqa kiritish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617976" y="4558284"/>
            <a:ext cx="82296" cy="82296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3837432" y="4389120"/>
            <a:ext cx="20208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Bemorlarning Telegram kanali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617976" y="5015484"/>
            <a:ext cx="82296" cy="82296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3837432" y="4846320"/>
            <a:ext cx="20208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Masofaviy kuzatuv paneli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175248" y="1645920"/>
            <a:ext cx="2651760" cy="4160520"/>
          </a:xfrm>
          <a:prstGeom prst="roundRect">
            <a:avLst>
              <a:gd name="adj" fmla="val 5517"/>
            </a:avLst>
          </a:prstGeom>
          <a:solidFill>
            <a:srgbClr val="0F172A"/>
          </a:solidFill>
          <a:ln/>
          <a:effectLst>
            <a:outerShdw sx="100000" sy="100000" kx="0" ky="0" algn="bl" rotWithShape="0" blurRad="330200" dist="50800" dir="5400000">
              <a:srgbClr val="2563EB">
                <a:alpha val="3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403848" y="1874520"/>
            <a:ext cx="1508760" cy="256032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6550152" y="1874520"/>
            <a:ext cx="1271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ASOSIY DAROMAD</a:t>
            </a:r>
            <a:endParaRPr lang="en-US" sz="850" dirty="0"/>
          </a:p>
        </p:txBody>
      </p:sp>
      <p:sp>
        <p:nvSpPr>
          <p:cNvPr id="34" name="Text 32"/>
          <p:cNvSpPr txBox="1"/>
          <p:nvPr/>
        </p:nvSpPr>
        <p:spPr>
          <a:xfrm>
            <a:off x="6403848" y="22402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0A5F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Tuman · B2G</a:t>
            </a:r>
            <a:endParaRPr lang="en-US" sz="1400" dirty="0"/>
          </a:p>
        </p:txBody>
      </p:sp>
      <p:sp>
        <p:nvSpPr>
          <p:cNvPr id="35" name="Text 33"/>
          <p:cNvSpPr txBox="1"/>
          <p:nvPr/>
        </p:nvSpPr>
        <p:spPr>
          <a:xfrm>
            <a:off x="6403848" y="2578608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25 000</a:t>
            </a:r>
            <a:endParaRPr lang="en-US" sz="3000" dirty="0"/>
          </a:p>
        </p:txBody>
      </p:sp>
      <p:sp>
        <p:nvSpPr>
          <p:cNvPr id="36" name="Text 34"/>
          <p:cNvSpPr txBox="1"/>
          <p:nvPr/>
        </p:nvSpPr>
        <p:spPr>
          <a:xfrm>
            <a:off x="6403848" y="312724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so‘m / homiladorlik / yil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6403848" y="3520440"/>
            <a:ext cx="2194560" cy="0"/>
          </a:xfrm>
          <a:prstGeom prst="line">
            <a:avLst/>
          </a:prstGeom>
          <a:noFill/>
          <a:ln w="9525">
            <a:solidFill>
              <a:srgbClr val="1E293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431280" y="3808476"/>
            <a:ext cx="82296" cy="82296"/>
          </a:xfrm>
          <a:prstGeom prst="ellipse">
            <a:avLst/>
          </a:prstGeom>
          <a:solidFill>
            <a:srgbClr val="60A5FA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6650736" y="3639312"/>
            <a:ext cx="20208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Barcha akusherkalar va OvaBMU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6431280" y="4265676"/>
            <a:ext cx="82296" cy="82296"/>
          </a:xfrm>
          <a:prstGeom prst="ellipse">
            <a:avLst/>
          </a:prstGeom>
          <a:solidFill>
            <a:srgbClr val="60A5FA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6650736" y="4096512"/>
            <a:ext cx="20208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 vaqtda reyestr va signallar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6431280" y="4722876"/>
            <a:ext cx="82296" cy="82296"/>
          </a:xfrm>
          <a:prstGeom prst="ellipse">
            <a:avLst/>
          </a:prstGeom>
          <a:solidFill>
            <a:srgbClr val="60A5FA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6650736" y="4553712"/>
            <a:ext cx="20208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Hisobotlar, qabul vaqti KPI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6431280" y="5180076"/>
            <a:ext cx="82296" cy="82296"/>
          </a:xfrm>
          <a:prstGeom prst="ellipse">
            <a:avLst/>
          </a:prstGeom>
          <a:solidFill>
            <a:srgbClr val="60A5FA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6650736" y="5010912"/>
            <a:ext cx="20208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Masalan: 3 500 homiladorlik → 88 mln so‘m/yil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8988552" y="1783080"/>
            <a:ext cx="2651760" cy="393192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E3E8EF"/>
            </a:solidFill>
            <a:prstDash val="solid"/>
          </a:ln>
          <a:effectLst>
            <a:outerShdw sx="100000" sy="100000" kx="0" ky="0" algn="bl" rotWithShape="0" blurRad="203200" dist="50800" dir="5400000">
              <a:srgbClr val="0F172A">
                <a:alpha val="8000"/>
              </a:srgbClr>
            </a:outerShdw>
          </a:effectLst>
        </p:spPr>
      </p:sp>
      <p:sp>
        <p:nvSpPr>
          <p:cNvPr id="47" name="Text 45"/>
          <p:cNvSpPr txBox="1"/>
          <p:nvPr/>
        </p:nvSpPr>
        <p:spPr>
          <a:xfrm>
            <a:off x="9217152" y="20574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563E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Joriy etish</a:t>
            </a:r>
            <a:endParaRPr lang="en-US" sz="1400" dirty="0"/>
          </a:p>
        </p:txBody>
      </p:sp>
      <p:sp>
        <p:nvSpPr>
          <p:cNvPr id="48" name="Text 46"/>
          <p:cNvSpPr txBox="1"/>
          <p:nvPr/>
        </p:nvSpPr>
        <p:spPr>
          <a:xfrm>
            <a:off x="9217152" y="2404872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15 mln</a:t>
            </a:r>
            <a:endParaRPr lang="en-US" sz="3000" dirty="0"/>
          </a:p>
        </p:txBody>
      </p:sp>
      <p:sp>
        <p:nvSpPr>
          <p:cNvPr id="49" name="Text 47"/>
          <p:cNvSpPr txBox="1"/>
          <p:nvPr/>
        </p:nvSpPr>
        <p:spPr>
          <a:xfrm>
            <a:off x="9217152" y="295351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so‘m / tuman · bir martalik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9217152" y="3355848"/>
            <a:ext cx="2194560" cy="0"/>
          </a:xfrm>
          <a:prstGeom prst="line">
            <a:avLst/>
          </a:prstGeom>
          <a:noFill/>
          <a:ln w="9525">
            <a:solidFill>
              <a:srgbClr val="E3E8EF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9244584" y="3643884"/>
            <a:ext cx="82296" cy="82296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52" name="Text 50"/>
          <p:cNvSpPr txBox="1"/>
          <p:nvPr/>
        </p:nvSpPr>
        <p:spPr>
          <a:xfrm>
            <a:off x="9464040" y="3474720"/>
            <a:ext cx="20208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Akusherkalarni o‘qitish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9244584" y="4101084"/>
            <a:ext cx="82296" cy="82296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54" name="Text 52"/>
          <p:cNvSpPr txBox="1"/>
          <p:nvPr/>
        </p:nvSpPr>
        <p:spPr>
          <a:xfrm>
            <a:off x="9464040" y="3931920"/>
            <a:ext cx="20208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Sozlash va import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9244584" y="4558284"/>
            <a:ext cx="82296" cy="82296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56" name="Text 54"/>
          <p:cNvSpPr txBox="1"/>
          <p:nvPr/>
        </p:nvSpPr>
        <p:spPr>
          <a:xfrm>
            <a:off x="9464040" y="4389120"/>
            <a:ext cx="20208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Birinchi oy qo‘llab-quvvatlash</a:t>
            </a:r>
            <a:endParaRPr lang="en-US" sz="1050" dirty="0"/>
          </a:p>
        </p:txBody>
      </p:sp>
      <p:sp>
        <p:nvSpPr>
          <p:cNvPr id="57" name="Text 55"/>
          <p:cNvSpPr txBox="1"/>
          <p:nvPr/>
        </p:nvSpPr>
        <p:spPr>
          <a:xfrm>
            <a:off x="548640" y="6035040"/>
            <a:ext cx="11064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Narx — gipoteza, pilotda tekshiriladi. Taqqoslash: klinika CRM tizimlari — oyiga 300 000 so‘mdan (ClinicaGo), ~$11 / ish o‘rni (MedElement). 1 $ ≈ 12 500 so‘m (taxminiy).</a:t>
            </a:r>
            <a:endParaRPr lang="en-US" sz="850" dirty="0"/>
          </a:p>
        </p:txBody>
      </p:sp>
      <p:pic>
        <p:nvPicPr>
          <p:cNvPr id="58" name="Image 0" descr="C:\Users\user\AppData\Local\Temp\claude\C--Users-user\ecd937e0-60b9-45db-b06f-34b4379b9ec8\scratchpad\deck\assets\logo-mark-16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318504"/>
            <a:ext cx="237744" cy="237744"/>
          </a:xfrm>
          <a:prstGeom prst="rect">
            <a:avLst/>
          </a:prstGeom>
        </p:spPr>
      </p:pic>
      <p:sp>
        <p:nvSpPr>
          <p:cNvPr id="59" name="Text 56"/>
          <p:cNvSpPr txBox="1"/>
          <p:nvPr/>
        </p:nvSpPr>
        <p:spPr>
          <a:xfrm>
            <a:off x="877824" y="631850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Muhim Davr  ·  Biznes reja</a:t>
            </a:r>
            <a:endParaRPr lang="en-US" sz="950" dirty="0"/>
          </a:p>
        </p:txBody>
      </p:sp>
      <p:sp>
        <p:nvSpPr>
          <p:cNvPr id="60" name="Text 57"/>
          <p:cNvSpPr txBox="1"/>
          <p:nvPr/>
        </p:nvSpPr>
        <p:spPr>
          <a:xfrm>
            <a:off x="10271455" y="6318504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06 / 13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26364"/>
            <a:ext cx="109728" cy="109728"/>
          </a:xfrm>
          <a:prstGeom prst="ellipse">
            <a:avLst/>
          </a:prstGeom>
          <a:solidFill>
            <a:srgbClr val="2C7A50"/>
          </a:solidFill>
          <a:ln/>
        </p:spPr>
      </p:sp>
      <p:sp>
        <p:nvSpPr>
          <p:cNvPr id="3" name="Shape 1"/>
          <p:cNvSpPr/>
          <p:nvPr/>
        </p:nvSpPr>
        <p:spPr>
          <a:xfrm>
            <a:off x="707746" y="626364"/>
            <a:ext cx="109728" cy="109728"/>
          </a:xfrm>
          <a:prstGeom prst="ellipse">
            <a:avLst/>
          </a:prstGeom>
          <a:solidFill>
            <a:srgbClr val="B97609"/>
          </a:solidFill>
          <a:ln/>
        </p:spPr>
      </p:sp>
      <p:sp>
        <p:nvSpPr>
          <p:cNvPr id="4" name="Shape 2"/>
          <p:cNvSpPr/>
          <p:nvPr/>
        </p:nvSpPr>
        <p:spPr>
          <a:xfrm>
            <a:off x="866851" y="626364"/>
            <a:ext cx="109728" cy="109728"/>
          </a:xfrm>
          <a:prstGeom prst="ellipse">
            <a:avLst/>
          </a:prstGeom>
          <a:solidFill>
            <a:srgbClr val="BE3A2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33856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2563E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06  ·  UNIT IQTISODIYOT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896112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arzon: bitta homiladorlik uchun ~1 500 so‘m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48640" y="1737360"/>
            <a:ext cx="5120640" cy="4160520"/>
          </a:xfrm>
          <a:prstGeom prst="roundRect">
            <a:avLst>
              <a:gd name="adj" fmla="val 3516"/>
            </a:avLst>
          </a:prstGeom>
          <a:solidFill>
            <a:srgbClr val="FFFFFF"/>
          </a:solidFill>
          <a:ln w="9525">
            <a:solidFill>
              <a:srgbClr val="E3E8EF"/>
            </a:solidFill>
            <a:prstDash val="solid"/>
          </a:ln>
          <a:effectLst>
            <a:outerShdw sx="100000" sy="100000" kx="0" ky="0" algn="bl" rotWithShape="0" blurRad="203200" dist="50800" dir="5400000">
              <a:srgbClr val="0F172A">
                <a:alpha val="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822960" y="19202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Bitta AI so‘rov narxi — o‘lchangan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4231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Akusherka yozuvi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4389120" y="242316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50" dirty="0">
                <a:solidFill>
                  <a:srgbClr val="2563E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$0,0032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22960" y="2734056"/>
            <a:ext cx="4572000" cy="146304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/>
        </p:spPr>
      </p:sp>
      <p:sp>
        <p:nvSpPr>
          <p:cNvPr id="12" name="Shape 10"/>
          <p:cNvSpPr/>
          <p:nvPr/>
        </p:nvSpPr>
        <p:spPr>
          <a:xfrm>
            <a:off x="822960" y="2734056"/>
            <a:ext cx="3122579" cy="146304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22960" y="308152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Tahlil varaqasi (rasm)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4389120" y="308152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50" dirty="0">
                <a:solidFill>
                  <a:srgbClr val="2563E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$0,0047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22960" y="3392424"/>
            <a:ext cx="4572000" cy="146304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/>
        </p:spPr>
      </p:sp>
      <p:sp>
        <p:nvSpPr>
          <p:cNvPr id="16" name="Shape 14"/>
          <p:cNvSpPr/>
          <p:nvPr/>
        </p:nvSpPr>
        <p:spPr>
          <a:xfrm>
            <a:off x="822960" y="3392424"/>
            <a:ext cx="4572000" cy="146304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22960" y="373989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Ayolning Telegram xabari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4389120" y="3739896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50" dirty="0">
                <a:solidFill>
                  <a:srgbClr val="2563E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$0,0027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22960" y="4050792"/>
            <a:ext cx="4572000" cy="146304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/>
        </p:spPr>
      </p:sp>
      <p:sp>
        <p:nvSpPr>
          <p:cNvPr id="20" name="Shape 18"/>
          <p:cNvSpPr/>
          <p:nvPr/>
        </p:nvSpPr>
        <p:spPr>
          <a:xfrm>
            <a:off x="822960" y="4050792"/>
            <a:ext cx="2636196" cy="146304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21" name="Shape 19"/>
          <p:cNvSpPr/>
          <p:nvPr/>
        </p:nvSpPr>
        <p:spPr>
          <a:xfrm>
            <a:off x="822960" y="4480560"/>
            <a:ext cx="4572000" cy="0"/>
          </a:xfrm>
          <a:prstGeom prst="line">
            <a:avLst/>
          </a:prstGeom>
          <a:noFill/>
          <a:ln w="9525">
            <a:solidFill>
              <a:srgbClr val="E3E8E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22960" y="4590288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 ko‘rik × (yozuv + varaqa) + 20 Telegram xabar</a:t>
            </a:r>
            <a:endParaRPr lang="en-US" sz="1150" dirty="0"/>
          </a:p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= $0,117 ≈ 1 469 so‘m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822960" y="544068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Claude Haiku 4.5: $1 / 1M kirish, $5 / 1M chiqish tokeni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989320" y="1737360"/>
            <a:ext cx="5650992" cy="2331720"/>
          </a:xfrm>
          <a:prstGeom prst="roundRect">
            <a:avLst>
              <a:gd name="adj" fmla="val 6275"/>
            </a:avLst>
          </a:prstGeom>
          <a:solidFill>
            <a:srgbClr val="0F172A"/>
          </a:solidFill>
          <a:ln/>
          <a:effectLst>
            <a:outerShdw sx="100000" sy="100000" kx="0" ky="0" algn="bl" rotWithShape="0" blurRad="203200" dist="50800" dir="5400000">
              <a:srgbClr val="2563EB">
                <a:alpha val="25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6263640" y="1901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0A5F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Bitta homiladorlik, yiliga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6263640" y="22860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Narx (B2G)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9537192" y="22860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25 000 so‘m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263640" y="2578608"/>
            <a:ext cx="5102352" cy="274320"/>
          </a:xfrm>
          <a:prstGeom prst="roundRect">
            <a:avLst>
              <a:gd name="adj" fmla="val 26667"/>
            </a:avLst>
          </a:prstGeom>
          <a:solidFill>
            <a:srgbClr val="2563EB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263640" y="29718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xarajati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9537192" y="29718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1 469 so‘m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263640" y="3264408"/>
            <a:ext cx="299712" cy="274320"/>
          </a:xfrm>
          <a:prstGeom prst="roundRect">
            <a:avLst>
              <a:gd name="adj" fmla="val 13333"/>
            </a:avLst>
          </a:prstGeom>
          <a:solidFill>
            <a:srgbClr val="BE3A2B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6263640" y="3584448"/>
            <a:ext cx="5193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4ADE80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94%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yalpi marja (AI xarajatidan keyin)</a:t>
            </a:r>
            <a:endParaRPr lang="en-US" sz="2600" dirty="0"/>
          </a:p>
        </p:txBody>
      </p:sp>
      <p:sp>
        <p:nvSpPr>
          <p:cNvPr id="33" name="Shape 31"/>
          <p:cNvSpPr/>
          <p:nvPr/>
        </p:nvSpPr>
        <p:spPr>
          <a:xfrm>
            <a:off x="5989320" y="4288536"/>
            <a:ext cx="420624" cy="420624"/>
          </a:xfrm>
          <a:prstGeom prst="roundRect">
            <a:avLst>
              <a:gd name="adj" fmla="val 26000"/>
            </a:avLst>
          </a:prstGeom>
          <a:solidFill>
            <a:srgbClr val="EFF6FF"/>
          </a:solidFill>
          <a:ln/>
        </p:spPr>
      </p:sp>
      <p:pic>
        <p:nvPicPr>
          <p:cNvPr id="34" name="Image 0" descr="C:\Users\user\AppData\Local\Temp\claude\C--Users-user\ecd937e0-60b9-45db-b06f-34b4379b9ec8\scratchpad\deck\assets\LuUsers-bran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6064" y="4385280"/>
            <a:ext cx="227137" cy="227137"/>
          </a:xfrm>
          <a:prstGeom prst="rect">
            <a:avLst/>
          </a:prstGeom>
        </p:spPr>
      </p:pic>
      <p:sp>
        <p:nvSpPr>
          <p:cNvPr id="35" name="Text 32"/>
          <p:cNvSpPr txBox="1"/>
          <p:nvPr/>
        </p:nvSpPr>
        <p:spPr>
          <a:xfrm>
            <a:off x="6556248" y="4251960"/>
            <a:ext cx="1188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Jamoa</a:t>
            </a:r>
            <a:endParaRPr lang="en-US" sz="1200" dirty="0"/>
          </a:p>
        </p:txBody>
      </p:sp>
      <p:sp>
        <p:nvSpPr>
          <p:cNvPr id="36" name="Text 33"/>
          <p:cNvSpPr txBox="1"/>
          <p:nvPr/>
        </p:nvSpPr>
        <p:spPr>
          <a:xfrm>
            <a:off x="7680960" y="4251960"/>
            <a:ext cx="391363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Asosiy xarajat — dasturchilar, sotuv, qo‘llab-quvvatlash</a:t>
            </a:r>
            <a:endParaRPr lang="en-US" sz="1050" dirty="0"/>
          </a:p>
        </p:txBody>
      </p:sp>
      <p:sp>
        <p:nvSpPr>
          <p:cNvPr id="37" name="Shape 34"/>
          <p:cNvSpPr/>
          <p:nvPr/>
        </p:nvSpPr>
        <p:spPr>
          <a:xfrm>
            <a:off x="5989320" y="4855464"/>
            <a:ext cx="420624" cy="420624"/>
          </a:xfrm>
          <a:prstGeom prst="roundRect">
            <a:avLst>
              <a:gd name="adj" fmla="val 26000"/>
            </a:avLst>
          </a:prstGeom>
          <a:solidFill>
            <a:srgbClr val="EFF6FF"/>
          </a:solidFill>
          <a:ln/>
        </p:spPr>
      </p:sp>
      <p:pic>
        <p:nvPicPr>
          <p:cNvPr id="38" name="Image 1" descr="C:\Users\user\AppData\Local\Temp\claude\C--Users-user\ecd937e0-60b9-45db-b06f-34b4379b9ec8\scratchpad\deck\assets\LuServer-bran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6064" y="4952208"/>
            <a:ext cx="227137" cy="227137"/>
          </a:xfrm>
          <a:prstGeom prst="rect">
            <a:avLst/>
          </a:prstGeom>
        </p:spPr>
      </p:pic>
      <p:sp>
        <p:nvSpPr>
          <p:cNvPr id="39" name="Text 35"/>
          <p:cNvSpPr txBox="1"/>
          <p:nvPr/>
        </p:nvSpPr>
        <p:spPr>
          <a:xfrm>
            <a:off x="6556248" y="4818888"/>
            <a:ext cx="1188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Hosting</a:t>
            </a:r>
            <a:endParaRPr lang="en-US" sz="1200" dirty="0"/>
          </a:p>
        </p:txBody>
      </p:sp>
      <p:sp>
        <p:nvSpPr>
          <p:cNvPr id="40" name="Text 36"/>
          <p:cNvSpPr txBox="1"/>
          <p:nvPr/>
        </p:nvSpPr>
        <p:spPr>
          <a:xfrm>
            <a:off x="7680960" y="4818888"/>
            <a:ext cx="391363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Hozir ≈ $50 / oy; real ma’lumot uchun O‘zbekistondagi server</a:t>
            </a:r>
            <a:endParaRPr lang="en-US" sz="1050" dirty="0"/>
          </a:p>
        </p:txBody>
      </p:sp>
      <p:sp>
        <p:nvSpPr>
          <p:cNvPr id="41" name="Shape 37"/>
          <p:cNvSpPr/>
          <p:nvPr/>
        </p:nvSpPr>
        <p:spPr>
          <a:xfrm>
            <a:off x="5989320" y="5422392"/>
            <a:ext cx="420624" cy="420624"/>
          </a:xfrm>
          <a:prstGeom prst="roundRect">
            <a:avLst>
              <a:gd name="adj" fmla="val 26000"/>
            </a:avLst>
          </a:prstGeom>
          <a:solidFill>
            <a:srgbClr val="EFF6FF"/>
          </a:solidFill>
          <a:ln/>
        </p:spPr>
      </p:sp>
      <p:pic>
        <p:nvPicPr>
          <p:cNvPr id="42" name="Image 2" descr="C:\Users\user\AppData\Local\Temp\claude\C--Users-user\ecd937e0-60b9-45db-b06f-34b4379b9ec8\scratchpad\deck\assets\LuUserCheck-bran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6064" y="5519136"/>
            <a:ext cx="227137" cy="227137"/>
          </a:xfrm>
          <a:prstGeom prst="rect">
            <a:avLst/>
          </a:prstGeom>
        </p:spPr>
      </p:pic>
      <p:sp>
        <p:nvSpPr>
          <p:cNvPr id="43" name="Text 38"/>
          <p:cNvSpPr txBox="1"/>
          <p:nvPr/>
        </p:nvSpPr>
        <p:spPr>
          <a:xfrm>
            <a:off x="6556248" y="5385816"/>
            <a:ext cx="1188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O‘qitish</a:t>
            </a:r>
            <a:endParaRPr lang="en-US" sz="1200" dirty="0"/>
          </a:p>
        </p:txBody>
      </p:sp>
      <p:sp>
        <p:nvSpPr>
          <p:cNvPr id="44" name="Text 39"/>
          <p:cNvSpPr txBox="1"/>
          <p:nvPr/>
        </p:nvSpPr>
        <p:spPr>
          <a:xfrm>
            <a:off x="7680960" y="5385816"/>
            <a:ext cx="391363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Joriy etish to‘lovi bilan qoplanadi</a:t>
            </a:r>
            <a:endParaRPr lang="en-US" sz="1050" dirty="0"/>
          </a:p>
        </p:txBody>
      </p:sp>
      <p:sp>
        <p:nvSpPr>
          <p:cNvPr id="45" name="Text 40"/>
          <p:cNvSpPr txBox="1"/>
          <p:nvPr/>
        </p:nvSpPr>
        <p:spPr>
          <a:xfrm>
            <a:off x="548640" y="6035040"/>
            <a:ext cx="11064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narxi 19.09.2026 da haqiqiy tizimda o‘lchandi (api/extract.ts, 3 turdagi so‘rov). Marja — AI xarajati bo‘yicha; jamoa va hosting qat’iy xarajat sifatida alohida.</a:t>
            </a:r>
            <a:endParaRPr lang="en-US" sz="850" dirty="0"/>
          </a:p>
        </p:txBody>
      </p:sp>
      <p:pic>
        <p:nvPicPr>
          <p:cNvPr id="46" name="Image 3" descr="C:\Users\user\AppData\Local\Temp\claude\C--Users-user\ecd937e0-60b9-45db-b06f-34b4379b9ec8\scratchpad\deck\assets\logo-mark-160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6318504"/>
            <a:ext cx="237744" cy="237744"/>
          </a:xfrm>
          <a:prstGeom prst="rect">
            <a:avLst/>
          </a:prstGeom>
        </p:spPr>
      </p:pic>
      <p:sp>
        <p:nvSpPr>
          <p:cNvPr id="47" name="Text 41"/>
          <p:cNvSpPr txBox="1"/>
          <p:nvPr/>
        </p:nvSpPr>
        <p:spPr>
          <a:xfrm>
            <a:off x="877824" y="631850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Muhim Davr  ·  Biznes reja</a:t>
            </a:r>
            <a:endParaRPr lang="en-US" sz="950" dirty="0"/>
          </a:p>
        </p:txBody>
      </p:sp>
      <p:sp>
        <p:nvSpPr>
          <p:cNvPr id="48" name="Text 42"/>
          <p:cNvSpPr txBox="1"/>
          <p:nvPr/>
        </p:nvSpPr>
        <p:spPr>
          <a:xfrm>
            <a:off x="10271455" y="6318504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07 / 13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26364"/>
            <a:ext cx="109728" cy="109728"/>
          </a:xfrm>
          <a:prstGeom prst="ellipse">
            <a:avLst/>
          </a:prstGeom>
          <a:solidFill>
            <a:srgbClr val="2C7A50"/>
          </a:solidFill>
          <a:ln/>
        </p:spPr>
      </p:sp>
      <p:sp>
        <p:nvSpPr>
          <p:cNvPr id="3" name="Shape 1"/>
          <p:cNvSpPr/>
          <p:nvPr/>
        </p:nvSpPr>
        <p:spPr>
          <a:xfrm>
            <a:off x="707746" y="626364"/>
            <a:ext cx="109728" cy="109728"/>
          </a:xfrm>
          <a:prstGeom prst="ellipse">
            <a:avLst/>
          </a:prstGeom>
          <a:solidFill>
            <a:srgbClr val="B97609"/>
          </a:solidFill>
          <a:ln/>
        </p:spPr>
      </p:sp>
      <p:sp>
        <p:nvSpPr>
          <p:cNvPr id="4" name="Shape 2"/>
          <p:cNvSpPr/>
          <p:nvPr/>
        </p:nvSpPr>
        <p:spPr>
          <a:xfrm>
            <a:off x="866851" y="626364"/>
            <a:ext cx="109728" cy="109728"/>
          </a:xfrm>
          <a:prstGeom prst="ellipse">
            <a:avLst/>
          </a:prstGeom>
          <a:solidFill>
            <a:srgbClr val="BE3A2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33856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2563E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07  ·  BOZORGA CHIQISH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896112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Xorazmdan boshlab — butun O‘zbekistonga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1874520" y="1874520"/>
            <a:ext cx="8439912" cy="0"/>
          </a:xfrm>
          <a:prstGeom prst="line">
            <a:avLst/>
          </a:prstGeom>
          <a:noFill/>
          <a:ln w="25400">
            <a:solidFill>
              <a:srgbClr val="BFDBF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55064" y="1655064"/>
            <a:ext cx="438912" cy="438912"/>
          </a:xfrm>
          <a:prstGeom prst="ellipse">
            <a:avLst/>
          </a:prstGeom>
          <a:solidFill>
            <a:srgbClr val="2563EB">
              <a:alpha val="2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755648" y="1755648"/>
            <a:ext cx="237744" cy="237744"/>
          </a:xfrm>
          <a:prstGeom prst="ellipse">
            <a:avLst/>
          </a:prstGeom>
          <a:solidFill>
            <a:srgbClr val="2563EB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2194560"/>
            <a:ext cx="2651760" cy="2697480"/>
          </a:xfrm>
          <a:prstGeom prst="roundRect">
            <a:avLst>
              <a:gd name="adj" fmla="val 5517"/>
            </a:avLst>
          </a:prstGeom>
          <a:solidFill>
            <a:srgbClr val="2563EB"/>
          </a:solidFill>
          <a:ln/>
          <a:effectLst>
            <a:outerShdw sx="100000" sy="100000" kx="0" ky="0" algn="bl" rotWithShape="0" blurRad="203200" dist="50800" dir="5400000">
              <a:srgbClr val="2563EB">
                <a:alpha val="30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777240" y="23957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150" kern="0" dirty="0">
                <a:solidFill>
                  <a:srgbClr val="BFDBF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Q4 2026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267004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Pilot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804672" y="3305556"/>
            <a:ext cx="82296" cy="8229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024128" y="3154680"/>
            <a:ext cx="20208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Xorazm, 2 tuman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04672" y="3707892"/>
            <a:ext cx="82296" cy="8229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024128" y="3557016"/>
            <a:ext cx="20208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1–3 hamkor klinika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04672" y="4110228"/>
            <a:ext cx="82296" cy="8229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1024128" y="3959352"/>
            <a:ext cx="20208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20–50 ayol Telegram’da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04672" y="4512564"/>
            <a:ext cx="82296" cy="8229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1024128" y="4361688"/>
            <a:ext cx="20208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Qabul vaqti, qamrovni o‘lchash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568952" y="1755648"/>
            <a:ext cx="237744" cy="23774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361944" y="2194560"/>
            <a:ext cx="2651760" cy="26974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E3E8EF"/>
            </a:solidFill>
            <a:prstDash val="solid"/>
          </a:ln>
          <a:effectLst>
            <a:outerShdw sx="100000" sy="100000" kx="0" ky="0" algn="bl" rotWithShape="0" blurRad="203200" dist="50800" dir="5400000">
              <a:srgbClr val="0F172A">
                <a:alpha val="8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3590544" y="23957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150" kern="0" dirty="0">
                <a:solidFill>
                  <a:srgbClr val="2563E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2027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3590544" y="267004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Xorazm viloyati</a:t>
            </a:r>
            <a:endParaRPr lang="en-US" sz="1700" dirty="0"/>
          </a:p>
        </p:txBody>
      </p:sp>
      <p:sp>
        <p:nvSpPr>
          <p:cNvPr id="25" name="Shape 23"/>
          <p:cNvSpPr/>
          <p:nvPr/>
        </p:nvSpPr>
        <p:spPr>
          <a:xfrm>
            <a:off x="3617976" y="3305556"/>
            <a:ext cx="82296" cy="82296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3837432" y="3154680"/>
            <a:ext cx="20208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Barcha 13 tuman va shahar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617976" y="3707892"/>
            <a:ext cx="82296" cy="82296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3837432" y="3557016"/>
            <a:ext cx="20208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Birinchi B2G shartnoma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617976" y="4110228"/>
            <a:ext cx="82296" cy="82296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3837432" y="3959352"/>
            <a:ext cx="20208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25 to‘lovchi klinika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3617976" y="4512564"/>
            <a:ext cx="82296" cy="82296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3837432" y="4361688"/>
            <a:ext cx="20208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O‘zbekistondagi hosting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7382256" y="1755648"/>
            <a:ext cx="237744" cy="23774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175248" y="2194560"/>
            <a:ext cx="2651760" cy="26974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E3E8EF"/>
            </a:solidFill>
            <a:prstDash val="solid"/>
          </a:ln>
          <a:effectLst>
            <a:outerShdw sx="100000" sy="100000" kx="0" ky="0" algn="bl" rotWithShape="0" blurRad="203200" dist="50800" dir="5400000">
              <a:srgbClr val="0F172A">
                <a:alpha val="8000"/>
              </a:srgbClr>
            </a:outerShdw>
          </a:effectLst>
        </p:spPr>
      </p:sp>
      <p:sp>
        <p:nvSpPr>
          <p:cNvPr id="35" name="Text 33"/>
          <p:cNvSpPr txBox="1"/>
          <p:nvPr/>
        </p:nvSpPr>
        <p:spPr>
          <a:xfrm>
            <a:off x="6403848" y="23957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150" kern="0" dirty="0">
                <a:solidFill>
                  <a:srgbClr val="2563E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2028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6403848" y="267004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 viloyat</a:t>
            </a:r>
            <a:endParaRPr lang="en-US" sz="1700" dirty="0"/>
          </a:p>
        </p:txBody>
      </p:sp>
      <p:sp>
        <p:nvSpPr>
          <p:cNvPr id="37" name="Shape 35"/>
          <p:cNvSpPr/>
          <p:nvPr/>
        </p:nvSpPr>
        <p:spPr>
          <a:xfrm>
            <a:off x="6431280" y="3305556"/>
            <a:ext cx="82296" cy="82296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6650736" y="3154680"/>
            <a:ext cx="20208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Qo‘shni viloyatlar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6431280" y="3707892"/>
            <a:ext cx="82296" cy="82296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6650736" y="3557016"/>
            <a:ext cx="20208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 klinika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6431280" y="4110228"/>
            <a:ext cx="82296" cy="82296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6650736" y="3959352"/>
            <a:ext cx="20208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Milliy tizimlar bilan integratsiya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6431280" y="4512564"/>
            <a:ext cx="82296" cy="82296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6650736" y="4361688"/>
            <a:ext cx="20208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Chaqaloq kuzatuvi moduli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10195560" y="1755648"/>
            <a:ext cx="237744" cy="23774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988552" y="2194560"/>
            <a:ext cx="2651760" cy="26974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E3E8EF"/>
            </a:solidFill>
            <a:prstDash val="solid"/>
          </a:ln>
          <a:effectLst>
            <a:outerShdw sx="100000" sy="100000" kx="0" ky="0" algn="bl" rotWithShape="0" blurRad="203200" dist="50800" dir="5400000">
              <a:srgbClr val="0F172A">
                <a:alpha val="8000"/>
              </a:srgbClr>
            </a:outerShdw>
          </a:effectLst>
        </p:spPr>
      </p:sp>
      <p:sp>
        <p:nvSpPr>
          <p:cNvPr id="47" name="Text 45"/>
          <p:cNvSpPr txBox="1"/>
          <p:nvPr/>
        </p:nvSpPr>
        <p:spPr>
          <a:xfrm>
            <a:off x="9217152" y="23957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150" kern="0" dirty="0">
                <a:solidFill>
                  <a:srgbClr val="2563E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2029+</a:t>
            </a:r>
            <a:endParaRPr lang="en-US" sz="1100" dirty="0"/>
          </a:p>
        </p:txBody>
      </p:sp>
      <p:sp>
        <p:nvSpPr>
          <p:cNvPr id="48" name="Text 46"/>
          <p:cNvSpPr txBox="1"/>
          <p:nvPr/>
        </p:nvSpPr>
        <p:spPr>
          <a:xfrm>
            <a:off x="9217152" y="267004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O‘zbekiston</a:t>
            </a:r>
            <a:endParaRPr lang="en-US" sz="1700" dirty="0"/>
          </a:p>
        </p:txBody>
      </p:sp>
      <p:sp>
        <p:nvSpPr>
          <p:cNvPr id="49" name="Shape 47"/>
          <p:cNvSpPr/>
          <p:nvPr/>
        </p:nvSpPr>
        <p:spPr>
          <a:xfrm>
            <a:off x="9244584" y="3305556"/>
            <a:ext cx="82296" cy="82296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50" name="Text 48"/>
          <p:cNvSpPr txBox="1"/>
          <p:nvPr/>
        </p:nvSpPr>
        <p:spPr>
          <a:xfrm>
            <a:off x="9464040" y="3154680"/>
            <a:ext cx="20208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Respublika bo‘ylab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9244584" y="3707892"/>
            <a:ext cx="82296" cy="82296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52" name="Text 50"/>
          <p:cNvSpPr txBox="1"/>
          <p:nvPr/>
        </p:nvSpPr>
        <p:spPr>
          <a:xfrm>
            <a:off x="9464040" y="3557016"/>
            <a:ext cx="20208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Markaziy Osiyo bozorlari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9244584" y="4110228"/>
            <a:ext cx="82296" cy="82296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54" name="Text 52"/>
          <p:cNvSpPr txBox="1"/>
          <p:nvPr/>
        </p:nvSpPr>
        <p:spPr>
          <a:xfrm>
            <a:off x="9464040" y="3959352"/>
            <a:ext cx="20208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Hududiy statistika xizmati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9244584" y="4512564"/>
            <a:ext cx="82296" cy="82296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56" name="Text 54"/>
          <p:cNvSpPr txBox="1"/>
          <p:nvPr/>
        </p:nvSpPr>
        <p:spPr>
          <a:xfrm>
            <a:off x="9464040" y="4361688"/>
            <a:ext cx="20208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Ona va bola — yagona platforma</a:t>
            </a:r>
            <a:endParaRPr lang="en-US" sz="1050" dirty="0"/>
          </a:p>
        </p:txBody>
      </p:sp>
      <p:sp>
        <p:nvSpPr>
          <p:cNvPr id="57" name="Text 55"/>
          <p:cNvSpPr txBox="1"/>
          <p:nvPr/>
        </p:nvSpPr>
        <p:spPr>
          <a:xfrm>
            <a:off x="548640" y="50474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563E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Sotuv kanallari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548640" y="5376672"/>
            <a:ext cx="3044952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3E8EF"/>
            </a:solidFill>
            <a:prstDash val="solid"/>
          </a:ln>
        </p:spPr>
      </p:sp>
      <p:pic>
        <p:nvPicPr>
          <p:cNvPr id="59" name="Image 0" descr="C:\Users\user\AppData\Local\Temp\claude\C--Users-user\ecd937e0-60b9-45db-b06f-34b4379b9ec8\scratchpad\deck\assets\LuBuilding2-bran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" y="5473233"/>
            <a:ext cx="209215" cy="209215"/>
          </a:xfrm>
          <a:prstGeom prst="rect">
            <a:avLst/>
          </a:prstGeom>
        </p:spPr>
      </p:pic>
      <p:sp>
        <p:nvSpPr>
          <p:cNvPr id="60" name="Text 57"/>
          <p:cNvSpPr txBox="1"/>
          <p:nvPr/>
        </p:nvSpPr>
        <p:spPr>
          <a:xfrm>
            <a:off x="959023" y="5376672"/>
            <a:ext cx="254312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Viloyat sog‘liqni saqlash boshqarmasi</a:t>
            </a:r>
            <a:endParaRPr lang="en-US" sz="1050" dirty="0"/>
          </a:p>
        </p:txBody>
      </p:sp>
      <p:sp>
        <p:nvSpPr>
          <p:cNvPr id="61" name="Shape 58"/>
          <p:cNvSpPr/>
          <p:nvPr/>
        </p:nvSpPr>
        <p:spPr>
          <a:xfrm>
            <a:off x="3703320" y="5376672"/>
            <a:ext cx="1810512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3E8EF"/>
            </a:solidFill>
            <a:prstDash val="solid"/>
          </a:ln>
        </p:spPr>
      </p:sp>
      <p:pic>
        <p:nvPicPr>
          <p:cNvPr id="62" name="Image 1" descr="C:\Users\user\AppData\Local\Temp\claude\C--Users-user\ecd937e0-60b9-45db-b06f-34b4379b9ec8\scratchpad\deck\assets\LuHospital-bran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31336" y="5473233"/>
            <a:ext cx="209215" cy="209215"/>
          </a:xfrm>
          <a:prstGeom prst="rect">
            <a:avLst/>
          </a:prstGeom>
        </p:spPr>
      </p:pic>
      <p:sp>
        <p:nvSpPr>
          <p:cNvPr id="63" name="Text 59"/>
          <p:cNvSpPr txBox="1"/>
          <p:nvPr/>
        </p:nvSpPr>
        <p:spPr>
          <a:xfrm>
            <a:off x="4113703" y="5376672"/>
            <a:ext cx="130868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Klinika tarmoqlari</a:t>
            </a:r>
            <a:endParaRPr lang="en-US" sz="1050" dirty="0"/>
          </a:p>
        </p:txBody>
      </p:sp>
      <p:sp>
        <p:nvSpPr>
          <p:cNvPr id="64" name="Shape 60"/>
          <p:cNvSpPr/>
          <p:nvPr/>
        </p:nvSpPr>
        <p:spPr>
          <a:xfrm>
            <a:off x="5623560" y="5376672"/>
            <a:ext cx="1993392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3E8EF"/>
            </a:solidFill>
            <a:prstDash val="solid"/>
          </a:ln>
        </p:spPr>
      </p:sp>
      <p:pic>
        <p:nvPicPr>
          <p:cNvPr id="65" name="Image 2" descr="C:\Users\user\AppData\Local\Temp\claude\C--Users-user\ecd937e0-60b9-45db-b06f-34b4379b9ec8\scratchpad\deck\assets\LuUsers-bran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51576" y="5473233"/>
            <a:ext cx="209215" cy="209215"/>
          </a:xfrm>
          <a:prstGeom prst="rect">
            <a:avLst/>
          </a:prstGeom>
        </p:spPr>
      </p:pic>
      <p:sp>
        <p:nvSpPr>
          <p:cNvPr id="66" name="Text 61"/>
          <p:cNvSpPr txBox="1"/>
          <p:nvPr/>
        </p:nvSpPr>
        <p:spPr>
          <a:xfrm>
            <a:off x="6033943" y="5376672"/>
            <a:ext cx="149156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Akusherkalar treningi</a:t>
            </a:r>
            <a:endParaRPr lang="en-US" sz="1050" dirty="0"/>
          </a:p>
        </p:txBody>
      </p:sp>
      <p:sp>
        <p:nvSpPr>
          <p:cNvPr id="67" name="Shape 62"/>
          <p:cNvSpPr/>
          <p:nvPr/>
        </p:nvSpPr>
        <p:spPr>
          <a:xfrm>
            <a:off x="7726680" y="5376672"/>
            <a:ext cx="1810512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3E8EF"/>
            </a:solidFill>
            <a:prstDash val="solid"/>
          </a:ln>
        </p:spPr>
      </p:sp>
      <p:pic>
        <p:nvPicPr>
          <p:cNvPr id="68" name="Image 3" descr="C:\Users\user\AppData\Local\Temp\claude\C--Users-user\ecd937e0-60b9-45db-b06f-34b4379b9ec8\scratchpad\deck\assets\SiTelegram-bran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54696" y="5473233"/>
            <a:ext cx="209215" cy="209215"/>
          </a:xfrm>
          <a:prstGeom prst="rect">
            <a:avLst/>
          </a:prstGeom>
        </p:spPr>
      </p:pic>
      <p:sp>
        <p:nvSpPr>
          <p:cNvPr id="69" name="Text 63"/>
          <p:cNvSpPr txBox="1"/>
          <p:nvPr/>
        </p:nvSpPr>
        <p:spPr>
          <a:xfrm>
            <a:off x="8137063" y="5376672"/>
            <a:ext cx="130868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Telegram — ayollar</a:t>
            </a:r>
            <a:endParaRPr lang="en-US" sz="1050" dirty="0"/>
          </a:p>
        </p:txBody>
      </p:sp>
      <p:sp>
        <p:nvSpPr>
          <p:cNvPr id="70" name="Shape 64"/>
          <p:cNvSpPr/>
          <p:nvPr/>
        </p:nvSpPr>
        <p:spPr>
          <a:xfrm>
            <a:off x="9646920" y="5376672"/>
            <a:ext cx="1792224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3E8EF"/>
            </a:solidFill>
            <a:prstDash val="solid"/>
          </a:ln>
        </p:spPr>
      </p:sp>
      <p:pic>
        <p:nvPicPr>
          <p:cNvPr id="71" name="Image 4" descr="C:\Users\user\AppData\Local\Temp\claude\C--Users-user\ecd937e0-60b9-45db-b06f-34b4379b9ec8\scratchpad\deck\assets\LuRocket-bran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74936" y="5473233"/>
            <a:ext cx="209215" cy="209215"/>
          </a:xfrm>
          <a:prstGeom prst="rect">
            <a:avLst/>
          </a:prstGeom>
        </p:spPr>
      </p:pic>
      <p:sp>
        <p:nvSpPr>
          <p:cNvPr id="72" name="Text 65"/>
          <p:cNvSpPr txBox="1"/>
          <p:nvPr/>
        </p:nvSpPr>
        <p:spPr>
          <a:xfrm>
            <a:off x="10057303" y="5376672"/>
            <a:ext cx="129040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IT Park, hakatonlar</a:t>
            </a:r>
            <a:endParaRPr lang="en-US" sz="1050" dirty="0"/>
          </a:p>
        </p:txBody>
      </p:sp>
      <p:pic>
        <p:nvPicPr>
          <p:cNvPr id="73" name="Image 5" descr="C:\Users\user\AppData\Local\Temp\claude\C--Users-user\ecd937e0-60b9-45db-b06f-34b4379b9ec8\scratchpad\deck\assets\logo-mark-160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8640" y="6318504"/>
            <a:ext cx="237744" cy="237744"/>
          </a:xfrm>
          <a:prstGeom prst="rect">
            <a:avLst/>
          </a:prstGeom>
        </p:spPr>
      </p:pic>
      <p:sp>
        <p:nvSpPr>
          <p:cNvPr id="74" name="Text 66"/>
          <p:cNvSpPr txBox="1"/>
          <p:nvPr/>
        </p:nvSpPr>
        <p:spPr>
          <a:xfrm>
            <a:off x="877824" y="631850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Muhim Davr  ·  Biznes reja</a:t>
            </a:r>
            <a:endParaRPr lang="en-US" sz="950" dirty="0"/>
          </a:p>
        </p:txBody>
      </p:sp>
      <p:sp>
        <p:nvSpPr>
          <p:cNvPr id="75" name="Text 67"/>
          <p:cNvSpPr txBox="1"/>
          <p:nvPr/>
        </p:nvSpPr>
        <p:spPr>
          <a:xfrm>
            <a:off x="10271455" y="6318504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08 / 13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26364"/>
            <a:ext cx="109728" cy="109728"/>
          </a:xfrm>
          <a:prstGeom prst="ellipse">
            <a:avLst/>
          </a:prstGeom>
          <a:solidFill>
            <a:srgbClr val="2C7A50"/>
          </a:solidFill>
          <a:ln/>
        </p:spPr>
      </p:sp>
      <p:sp>
        <p:nvSpPr>
          <p:cNvPr id="3" name="Shape 1"/>
          <p:cNvSpPr/>
          <p:nvPr/>
        </p:nvSpPr>
        <p:spPr>
          <a:xfrm>
            <a:off x="707746" y="626364"/>
            <a:ext cx="109728" cy="109728"/>
          </a:xfrm>
          <a:prstGeom prst="ellipse">
            <a:avLst/>
          </a:prstGeom>
          <a:solidFill>
            <a:srgbClr val="B97609"/>
          </a:solidFill>
          <a:ln/>
        </p:spPr>
      </p:sp>
      <p:sp>
        <p:nvSpPr>
          <p:cNvPr id="4" name="Shape 2"/>
          <p:cNvSpPr/>
          <p:nvPr/>
        </p:nvSpPr>
        <p:spPr>
          <a:xfrm>
            <a:off x="866851" y="626364"/>
            <a:ext cx="109728" cy="109728"/>
          </a:xfrm>
          <a:prstGeom prst="ellipse">
            <a:avLst/>
          </a:prstGeom>
          <a:solidFill>
            <a:srgbClr val="BE3A2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33856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2563E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08  ·  MOLIYAVIY PROGNOZ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896112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 yillik daromad prognozi</a:t>
            </a:r>
            <a:endParaRPr lang="en-US" sz="30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548640" y="1600200"/>
          <a:ext cx="6675120" cy="4343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Shape 5"/>
          <p:cNvSpPr/>
          <p:nvPr/>
        </p:nvSpPr>
        <p:spPr>
          <a:xfrm>
            <a:off x="7498080" y="1691640"/>
            <a:ext cx="4142232" cy="804672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E3E8EF"/>
            </a:solidFill>
            <a:prstDash val="solid"/>
          </a:ln>
          <a:effectLst>
            <a:outerShdw sx="100000" sy="100000" kx="0" ky="0" algn="bl" rotWithShape="0" blurRad="203200" dist="50800" dir="5400000">
              <a:srgbClr val="0F172A">
                <a:alpha val="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7699248" y="17830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563E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1-yil · 2026/27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699248" y="2093976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 tuman pilot (bepul) · 5 klinika</a:t>
            </a:r>
            <a:endParaRPr lang="en-US" sz="950" dirty="0"/>
          </a:p>
        </p:txBody>
      </p:sp>
      <p:sp>
        <p:nvSpPr>
          <p:cNvPr id="11" name="Text 8"/>
          <p:cNvSpPr txBox="1"/>
          <p:nvPr/>
        </p:nvSpPr>
        <p:spPr>
          <a:xfrm>
            <a:off x="9875520" y="1801368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700" dirty="0">
                <a:solidFill>
                  <a:srgbClr val="0F172A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40 mln</a:t>
            </a:r>
            <a:endParaRPr lang="en-US" sz="1700" dirty="0"/>
          </a:p>
        </p:txBody>
      </p:sp>
      <p:sp>
        <p:nvSpPr>
          <p:cNvPr id="12" name="Text 9"/>
          <p:cNvSpPr txBox="1"/>
          <p:nvPr/>
        </p:nvSpPr>
        <p:spPr>
          <a:xfrm>
            <a:off x="9875520" y="214884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≈ $3k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7498080" y="2624328"/>
            <a:ext cx="4142232" cy="804672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E3E8EF"/>
            </a:solidFill>
            <a:prstDash val="solid"/>
          </a:ln>
          <a:effectLst>
            <a:outerShdw sx="100000" sy="100000" kx="0" ky="0" algn="bl" rotWithShape="0" blurRad="203200" dist="50800" dir="5400000">
              <a:srgbClr val="0F172A">
                <a:alpha val="8000"/>
              </a:srgbClr>
            </a:outerShdw>
          </a:effectLst>
        </p:spPr>
      </p:sp>
      <p:sp>
        <p:nvSpPr>
          <p:cNvPr id="14" name="Text 11"/>
          <p:cNvSpPr txBox="1"/>
          <p:nvPr/>
        </p:nvSpPr>
        <p:spPr>
          <a:xfrm>
            <a:off x="7699248" y="27157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563E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2-yil · 2027/28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7699248" y="3026664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Xorazm: 13 hudud, 60% qamrov · 25 klinika</a:t>
            </a:r>
            <a:endParaRPr lang="en-US" sz="950" dirty="0"/>
          </a:p>
        </p:txBody>
      </p:sp>
      <p:sp>
        <p:nvSpPr>
          <p:cNvPr id="16" name="Text 13"/>
          <p:cNvSpPr txBox="1"/>
          <p:nvPr/>
        </p:nvSpPr>
        <p:spPr>
          <a:xfrm>
            <a:off x="9875520" y="2734056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700" dirty="0">
                <a:solidFill>
                  <a:srgbClr val="0F172A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1 153 mln</a:t>
            </a:r>
            <a:endParaRPr lang="en-US" sz="1700" dirty="0"/>
          </a:p>
        </p:txBody>
      </p:sp>
      <p:sp>
        <p:nvSpPr>
          <p:cNvPr id="17" name="Text 14"/>
          <p:cNvSpPr txBox="1"/>
          <p:nvPr/>
        </p:nvSpPr>
        <p:spPr>
          <a:xfrm>
            <a:off x="9875520" y="3081528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≈ $92k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7498080" y="3557016"/>
            <a:ext cx="4142232" cy="804672"/>
          </a:xfrm>
          <a:prstGeom prst="roundRect">
            <a:avLst>
              <a:gd name="adj" fmla="val 13636"/>
            </a:avLst>
          </a:prstGeom>
          <a:solidFill>
            <a:srgbClr val="0F172A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7699248" y="364845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0A5F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3-yil · 2028/29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7699248" y="3959352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 viloyat, 50% qamrov · 100 klinika</a:t>
            </a:r>
            <a:endParaRPr lang="en-US" sz="950" dirty="0"/>
          </a:p>
        </p:txBody>
      </p:sp>
      <p:sp>
        <p:nvSpPr>
          <p:cNvPr id="21" name="Text 18"/>
          <p:cNvSpPr txBox="1"/>
          <p:nvPr/>
        </p:nvSpPr>
        <p:spPr>
          <a:xfrm>
            <a:off x="9875520" y="3666744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4 076 mln</a:t>
            </a:r>
            <a:endParaRPr lang="en-US" sz="1700" dirty="0"/>
          </a:p>
        </p:txBody>
      </p:sp>
      <p:sp>
        <p:nvSpPr>
          <p:cNvPr id="22" name="Text 19"/>
          <p:cNvSpPr txBox="1"/>
          <p:nvPr/>
        </p:nvSpPr>
        <p:spPr>
          <a:xfrm>
            <a:off x="9875520" y="4014216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≈ $326k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7498080" y="4553712"/>
            <a:ext cx="4142232" cy="1371600"/>
          </a:xfrm>
          <a:prstGeom prst="roundRect">
            <a:avLst>
              <a:gd name="adj" fmla="val 8000"/>
            </a:avLst>
          </a:prstGeom>
          <a:solidFill>
            <a:srgbClr val="FCF1DF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7699248" y="464515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B9760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Farazlar</a:t>
            </a:r>
            <a:endParaRPr lang="en-US" sz="1150" dirty="0"/>
          </a:p>
        </p:txBody>
      </p:sp>
      <p:sp>
        <p:nvSpPr>
          <p:cNvPr id="25" name="Text 22"/>
          <p:cNvSpPr txBox="1"/>
          <p:nvPr/>
        </p:nvSpPr>
        <p:spPr>
          <a:xfrm>
            <a:off x="7699248" y="4901184"/>
            <a:ext cx="37947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B2G: 25 000 so‘m / homiladorlik / yil. Klinika: 990 000 so‘m / oy. Joriy etish: 15 mln so‘m / tuman. 2-yil — Xorazm tug‘ilishlarining 60%, 3-yil — 4 viloyat (≈ 4 × Xorazm) ning 50%. 1-yilda pilot tumanlar to‘lovsiz.</a:t>
            </a:r>
            <a:endParaRPr lang="en-US" sz="950" dirty="0"/>
          </a:p>
        </p:txBody>
      </p:sp>
      <p:sp>
        <p:nvSpPr>
          <p:cNvPr id="26" name="Text 23"/>
          <p:cNvSpPr txBox="1"/>
          <p:nvPr/>
        </p:nvSpPr>
        <p:spPr>
          <a:xfrm>
            <a:off x="548640" y="6035040"/>
            <a:ext cx="11064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Prognoz — gipoteza: narx va qamrov farazlariga asoslangan, kafolat emas. Ayollar bepul; B2G 1-yilda pilot sifatida to‘lovsiz.</a:t>
            </a:r>
            <a:endParaRPr lang="en-US" sz="850" dirty="0"/>
          </a:p>
        </p:txBody>
      </p:sp>
      <p:pic>
        <p:nvPicPr>
          <p:cNvPr id="27" name="Image 0" descr="C:\Users\user\AppData\Local\Temp\claude\C--Users-user\ecd937e0-60b9-45db-b06f-34b4379b9ec8\scratchpad\deck\assets\logo-mark-160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18504"/>
            <a:ext cx="237744" cy="237744"/>
          </a:xfrm>
          <a:prstGeom prst="rect">
            <a:avLst/>
          </a:prstGeom>
        </p:spPr>
      </p:pic>
      <p:sp>
        <p:nvSpPr>
          <p:cNvPr id="28" name="Text 24"/>
          <p:cNvSpPr txBox="1"/>
          <p:nvPr/>
        </p:nvSpPr>
        <p:spPr>
          <a:xfrm>
            <a:off x="877824" y="631850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Muhim Davr  ·  Biznes reja</a:t>
            </a:r>
            <a:endParaRPr lang="en-US" sz="950" dirty="0"/>
          </a:p>
        </p:txBody>
      </p:sp>
      <p:sp>
        <p:nvSpPr>
          <p:cNvPr id="29" name="Text 25"/>
          <p:cNvSpPr txBox="1"/>
          <p:nvPr/>
        </p:nvSpPr>
        <p:spPr>
          <a:xfrm>
            <a:off x="10271455" y="6318504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09 / 13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26364"/>
            <a:ext cx="109728" cy="109728"/>
          </a:xfrm>
          <a:prstGeom prst="ellipse">
            <a:avLst/>
          </a:prstGeom>
          <a:solidFill>
            <a:srgbClr val="2C7A50"/>
          </a:solidFill>
          <a:ln/>
        </p:spPr>
      </p:sp>
      <p:sp>
        <p:nvSpPr>
          <p:cNvPr id="3" name="Shape 1"/>
          <p:cNvSpPr/>
          <p:nvPr/>
        </p:nvSpPr>
        <p:spPr>
          <a:xfrm>
            <a:off x="707746" y="626364"/>
            <a:ext cx="109728" cy="109728"/>
          </a:xfrm>
          <a:prstGeom prst="ellipse">
            <a:avLst/>
          </a:prstGeom>
          <a:solidFill>
            <a:srgbClr val="B97609"/>
          </a:solidFill>
          <a:ln/>
        </p:spPr>
      </p:sp>
      <p:sp>
        <p:nvSpPr>
          <p:cNvPr id="4" name="Shape 2"/>
          <p:cNvSpPr/>
          <p:nvPr/>
        </p:nvSpPr>
        <p:spPr>
          <a:xfrm>
            <a:off x="866851" y="626364"/>
            <a:ext cx="109728" cy="109728"/>
          </a:xfrm>
          <a:prstGeom prst="ellipse">
            <a:avLst/>
          </a:prstGeom>
          <a:solidFill>
            <a:srgbClr val="BE3A2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33856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2563E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09  ·  O‘LCHOVLAR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896112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Nimani o‘lchaymiz — mahsulot va biznes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48640" y="1737360"/>
            <a:ext cx="5449824" cy="4160520"/>
          </a:xfrm>
          <a:prstGeom prst="roundRect">
            <a:avLst>
              <a:gd name="adj" fmla="val 3516"/>
            </a:avLst>
          </a:prstGeom>
          <a:solidFill>
            <a:srgbClr val="FFFFFF"/>
          </a:solidFill>
          <a:ln w="9525">
            <a:solidFill>
              <a:srgbClr val="E3E8EF"/>
            </a:solidFill>
            <a:prstDash val="solid"/>
          </a:ln>
          <a:effectLst>
            <a:outerShdw sx="100000" sy="100000" kx="0" ky="0" algn="bl" rotWithShape="0" blurRad="203200" dist="50800" dir="5400000">
              <a:srgbClr val="0F172A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22960" y="1993392"/>
            <a:ext cx="475488" cy="475488"/>
          </a:xfrm>
          <a:prstGeom prst="roundRect">
            <a:avLst>
              <a:gd name="adj" fmla="val 26000"/>
            </a:avLst>
          </a:prstGeom>
          <a:solidFill>
            <a:srgbClr val="EFF6FF"/>
          </a:solidFill>
          <a:ln/>
        </p:spPr>
      </p:sp>
      <p:pic>
        <p:nvPicPr>
          <p:cNvPr id="9" name="Image 0" descr="C:\Users\user\AppData\Local\Temp\claude\C--Users-user\ecd937e0-60b9-45db-b06f-34b4379b9ec8\scratchpad\deck\assets\LuActivity-bran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322" y="2102754"/>
            <a:ext cx="256764" cy="256764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444752" y="2011680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Mahsulot KPI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822960" y="2743200"/>
            <a:ext cx="4901184" cy="640080"/>
          </a:xfrm>
          <a:prstGeom prst="roundRect">
            <a:avLst>
              <a:gd name="adj" fmla="val 14286"/>
            </a:avLst>
          </a:prstGeom>
          <a:solidFill>
            <a:srgbClr val="F7F9FB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960120" y="2743200"/>
            <a:ext cx="274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563EB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1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1371600" y="2816352"/>
            <a:ext cx="4261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Faol foydalanuvchilar</a:t>
            </a:r>
            <a:endParaRPr lang="en-US" sz="1250" dirty="0"/>
          </a:p>
        </p:txBody>
      </p:sp>
      <p:sp>
        <p:nvSpPr>
          <p:cNvPr id="14" name="Text 11"/>
          <p:cNvSpPr txBox="1"/>
          <p:nvPr/>
        </p:nvSpPr>
        <p:spPr>
          <a:xfrm>
            <a:off x="1371600" y="3081528"/>
            <a:ext cx="42611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akusherka, mutaxassis, ayol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822960" y="3502152"/>
            <a:ext cx="4901184" cy="640080"/>
          </a:xfrm>
          <a:prstGeom prst="roundRect">
            <a:avLst>
              <a:gd name="adj" fmla="val 14286"/>
            </a:avLst>
          </a:prstGeom>
          <a:solidFill>
            <a:srgbClr val="F7F9FB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960120" y="3502152"/>
            <a:ext cx="274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563EB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1371600" y="3575304"/>
            <a:ext cx="4261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Ma’lumot kiritish chastotasi</a:t>
            </a:r>
            <a:endParaRPr lang="en-US" sz="1250" dirty="0"/>
          </a:p>
        </p:txBody>
      </p:sp>
      <p:sp>
        <p:nvSpPr>
          <p:cNvPr id="18" name="Text 15"/>
          <p:cNvSpPr txBox="1"/>
          <p:nvPr/>
        </p:nvSpPr>
        <p:spPr>
          <a:xfrm>
            <a:off x="1371600" y="3840480"/>
            <a:ext cx="42611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ko‘rik va uy o‘lchovlari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822960" y="4261104"/>
            <a:ext cx="4901184" cy="640080"/>
          </a:xfrm>
          <a:prstGeom prst="roundRect">
            <a:avLst>
              <a:gd name="adj" fmla="val 14286"/>
            </a:avLst>
          </a:prstGeom>
          <a:solidFill>
            <a:srgbClr val="F7F9FB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960120" y="4261104"/>
            <a:ext cx="274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563EB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8"/>
          <p:cNvSpPr txBox="1"/>
          <p:nvPr/>
        </p:nvSpPr>
        <p:spPr>
          <a:xfrm>
            <a:off x="1371600" y="4334256"/>
            <a:ext cx="4261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Shifokor javob vaqti</a:t>
            </a:r>
            <a:endParaRPr lang="en-US" sz="1250" dirty="0"/>
          </a:p>
        </p:txBody>
      </p:sp>
      <p:sp>
        <p:nvSpPr>
          <p:cNvPr id="22" name="Text 19"/>
          <p:cNvSpPr txBox="1"/>
          <p:nvPr/>
        </p:nvSpPr>
        <p:spPr>
          <a:xfrm>
            <a:off x="1371600" y="4599432"/>
            <a:ext cx="42611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yo‘llanma ochilgandan qabulgacha — panelda bor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822960" y="5020056"/>
            <a:ext cx="4901184" cy="640080"/>
          </a:xfrm>
          <a:prstGeom prst="roundRect">
            <a:avLst>
              <a:gd name="adj" fmla="val 14286"/>
            </a:avLst>
          </a:prstGeom>
          <a:solidFill>
            <a:srgbClr val="F7F9FB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960120" y="5020056"/>
            <a:ext cx="274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563EB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2"/>
          <p:cNvSpPr txBox="1"/>
          <p:nvPr/>
        </p:nvSpPr>
        <p:spPr>
          <a:xfrm>
            <a:off x="1371600" y="5093208"/>
            <a:ext cx="4261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Foydalanuvchi qoniqishi</a:t>
            </a:r>
            <a:endParaRPr lang="en-US" sz="1250" dirty="0"/>
          </a:p>
        </p:txBody>
      </p:sp>
      <p:sp>
        <p:nvSpPr>
          <p:cNvPr id="26" name="Text 23"/>
          <p:cNvSpPr txBox="1"/>
          <p:nvPr/>
        </p:nvSpPr>
        <p:spPr>
          <a:xfrm>
            <a:off x="1371600" y="5358384"/>
            <a:ext cx="42611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so‘rovnoma, har chorakda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6190488" y="1737360"/>
            <a:ext cx="5449824" cy="4160520"/>
          </a:xfrm>
          <a:prstGeom prst="roundRect">
            <a:avLst>
              <a:gd name="adj" fmla="val 3516"/>
            </a:avLst>
          </a:prstGeom>
          <a:solidFill>
            <a:srgbClr val="0F172A"/>
          </a:solidFill>
          <a:ln/>
          <a:effectLst>
            <a:outerShdw sx="100000" sy="100000" kx="0" ky="0" algn="bl" rotWithShape="0" blurRad="203200" dist="50800" dir="5400000">
              <a:srgbClr val="2563EB">
                <a:alpha val="25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6464808" y="1993392"/>
            <a:ext cx="475488" cy="475488"/>
          </a:xfrm>
          <a:prstGeom prst="roundRect">
            <a:avLst>
              <a:gd name="adj" fmla="val 26000"/>
            </a:avLst>
          </a:prstGeom>
          <a:solidFill>
            <a:srgbClr val="2563EB"/>
          </a:solidFill>
          <a:ln/>
        </p:spPr>
      </p:sp>
      <p:pic>
        <p:nvPicPr>
          <p:cNvPr id="29" name="Image 1" descr="C:\Users\user\AppData\Local\Temp\claude\C--Users-user\ecd937e0-60b9-45db-b06f-34b4379b9ec8\scratchpad\deck\assets\LuChartColumn-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4170" y="2102754"/>
            <a:ext cx="256764" cy="256764"/>
          </a:xfrm>
          <a:prstGeom prst="rect">
            <a:avLst/>
          </a:prstGeom>
        </p:spPr>
      </p:pic>
      <p:sp>
        <p:nvSpPr>
          <p:cNvPr id="30" name="Text 26"/>
          <p:cNvSpPr txBox="1"/>
          <p:nvPr/>
        </p:nvSpPr>
        <p:spPr>
          <a:xfrm>
            <a:off x="7086600" y="2011680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Biznes KPI</a:t>
            </a:r>
            <a:endParaRPr lang="en-US" sz="1700" dirty="0"/>
          </a:p>
        </p:txBody>
      </p:sp>
      <p:sp>
        <p:nvSpPr>
          <p:cNvPr id="31" name="Shape 27"/>
          <p:cNvSpPr/>
          <p:nvPr/>
        </p:nvSpPr>
        <p:spPr>
          <a:xfrm>
            <a:off x="6464808" y="2743200"/>
            <a:ext cx="4901184" cy="640080"/>
          </a:xfrm>
          <a:prstGeom prst="roundRect">
            <a:avLst>
              <a:gd name="adj" fmla="val 14286"/>
            </a:avLst>
          </a:prstGeom>
          <a:solidFill>
            <a:srgbClr val="1E293B"/>
          </a:solidFill>
          <a:ln/>
        </p:spPr>
      </p:sp>
      <p:sp>
        <p:nvSpPr>
          <p:cNvPr id="32" name="Text 28"/>
          <p:cNvSpPr txBox="1"/>
          <p:nvPr/>
        </p:nvSpPr>
        <p:spPr>
          <a:xfrm>
            <a:off x="6601968" y="2743200"/>
            <a:ext cx="274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0A5FA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1</a:t>
            </a:r>
            <a:endParaRPr lang="en-US" sz="1600" dirty="0"/>
          </a:p>
        </p:txBody>
      </p:sp>
      <p:sp>
        <p:nvSpPr>
          <p:cNvPr id="33" name="Text 29"/>
          <p:cNvSpPr txBox="1"/>
          <p:nvPr/>
        </p:nvSpPr>
        <p:spPr>
          <a:xfrm>
            <a:off x="7013448" y="2816352"/>
            <a:ext cx="4261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Ulangan tumanlar</a:t>
            </a:r>
            <a:endParaRPr lang="en-US" sz="1250" dirty="0"/>
          </a:p>
        </p:txBody>
      </p:sp>
      <p:sp>
        <p:nvSpPr>
          <p:cNvPr id="34" name="Text 30"/>
          <p:cNvSpPr txBox="1"/>
          <p:nvPr/>
        </p:nvSpPr>
        <p:spPr>
          <a:xfrm>
            <a:off x="7013448" y="3081528"/>
            <a:ext cx="42611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B2G shartnomalar soni</a:t>
            </a:r>
            <a:endParaRPr lang="en-US" sz="1000" dirty="0"/>
          </a:p>
        </p:txBody>
      </p:sp>
      <p:sp>
        <p:nvSpPr>
          <p:cNvPr id="35" name="Shape 31"/>
          <p:cNvSpPr/>
          <p:nvPr/>
        </p:nvSpPr>
        <p:spPr>
          <a:xfrm>
            <a:off x="6464808" y="3502152"/>
            <a:ext cx="4901184" cy="640080"/>
          </a:xfrm>
          <a:prstGeom prst="roundRect">
            <a:avLst>
              <a:gd name="adj" fmla="val 14286"/>
            </a:avLst>
          </a:prstGeom>
          <a:solidFill>
            <a:srgbClr val="1E293B"/>
          </a:solidFill>
          <a:ln/>
        </p:spPr>
      </p:sp>
      <p:sp>
        <p:nvSpPr>
          <p:cNvPr id="36" name="Text 32"/>
          <p:cNvSpPr txBox="1"/>
          <p:nvPr/>
        </p:nvSpPr>
        <p:spPr>
          <a:xfrm>
            <a:off x="6601968" y="3502152"/>
            <a:ext cx="274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0A5FA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2</a:t>
            </a:r>
            <a:endParaRPr lang="en-US" sz="1600" dirty="0"/>
          </a:p>
        </p:txBody>
      </p:sp>
      <p:sp>
        <p:nvSpPr>
          <p:cNvPr id="37" name="Text 33"/>
          <p:cNvSpPr txBox="1"/>
          <p:nvPr/>
        </p:nvSpPr>
        <p:spPr>
          <a:xfrm>
            <a:off x="7013448" y="3575304"/>
            <a:ext cx="4261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To‘lovchi klinikalar</a:t>
            </a:r>
            <a:endParaRPr lang="en-US" sz="1250" dirty="0"/>
          </a:p>
        </p:txBody>
      </p:sp>
      <p:sp>
        <p:nvSpPr>
          <p:cNvPr id="38" name="Text 34"/>
          <p:cNvSpPr txBox="1"/>
          <p:nvPr/>
        </p:nvSpPr>
        <p:spPr>
          <a:xfrm>
            <a:off x="7013448" y="3840480"/>
            <a:ext cx="42611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oylik obuna (MRR)</a:t>
            </a:r>
            <a:endParaRPr lang="en-US" sz="1000" dirty="0"/>
          </a:p>
        </p:txBody>
      </p:sp>
      <p:sp>
        <p:nvSpPr>
          <p:cNvPr id="39" name="Shape 35"/>
          <p:cNvSpPr/>
          <p:nvPr/>
        </p:nvSpPr>
        <p:spPr>
          <a:xfrm>
            <a:off x="6464808" y="4261104"/>
            <a:ext cx="4901184" cy="640080"/>
          </a:xfrm>
          <a:prstGeom prst="roundRect">
            <a:avLst>
              <a:gd name="adj" fmla="val 14286"/>
            </a:avLst>
          </a:prstGeom>
          <a:solidFill>
            <a:srgbClr val="1E293B"/>
          </a:solidFill>
          <a:ln/>
        </p:spPr>
      </p:sp>
      <p:sp>
        <p:nvSpPr>
          <p:cNvPr id="40" name="Text 36"/>
          <p:cNvSpPr txBox="1"/>
          <p:nvPr/>
        </p:nvSpPr>
        <p:spPr>
          <a:xfrm>
            <a:off x="6601968" y="4261104"/>
            <a:ext cx="274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0A5FA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3</a:t>
            </a:r>
            <a:endParaRPr lang="en-US" sz="1600" dirty="0"/>
          </a:p>
        </p:txBody>
      </p:sp>
      <p:sp>
        <p:nvSpPr>
          <p:cNvPr id="41" name="Text 37"/>
          <p:cNvSpPr txBox="1"/>
          <p:nvPr/>
        </p:nvSpPr>
        <p:spPr>
          <a:xfrm>
            <a:off x="7013448" y="4334256"/>
            <a:ext cx="4261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Kuzatilgan homiladorliklar</a:t>
            </a:r>
            <a:endParaRPr lang="en-US" sz="1250" dirty="0"/>
          </a:p>
        </p:txBody>
      </p:sp>
      <p:sp>
        <p:nvSpPr>
          <p:cNvPr id="42" name="Text 38"/>
          <p:cNvSpPr txBox="1"/>
          <p:nvPr/>
        </p:nvSpPr>
        <p:spPr>
          <a:xfrm>
            <a:off x="7013448" y="4599432"/>
            <a:ext cx="42611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B2G daromadining asosi</a:t>
            </a:r>
            <a:endParaRPr lang="en-US" sz="1000" dirty="0"/>
          </a:p>
        </p:txBody>
      </p:sp>
      <p:sp>
        <p:nvSpPr>
          <p:cNvPr id="43" name="Shape 39"/>
          <p:cNvSpPr/>
          <p:nvPr/>
        </p:nvSpPr>
        <p:spPr>
          <a:xfrm>
            <a:off x="6464808" y="5020056"/>
            <a:ext cx="4901184" cy="640080"/>
          </a:xfrm>
          <a:prstGeom prst="roundRect">
            <a:avLst>
              <a:gd name="adj" fmla="val 14286"/>
            </a:avLst>
          </a:prstGeom>
          <a:solidFill>
            <a:srgbClr val="1E293B"/>
          </a:solidFill>
          <a:ln/>
        </p:spPr>
      </p:sp>
      <p:sp>
        <p:nvSpPr>
          <p:cNvPr id="44" name="Text 40"/>
          <p:cNvSpPr txBox="1"/>
          <p:nvPr/>
        </p:nvSpPr>
        <p:spPr>
          <a:xfrm>
            <a:off x="6601968" y="5020056"/>
            <a:ext cx="274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0A5FA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4</a:t>
            </a:r>
            <a:endParaRPr lang="en-US" sz="1600" dirty="0"/>
          </a:p>
        </p:txBody>
      </p:sp>
      <p:sp>
        <p:nvSpPr>
          <p:cNvPr id="45" name="Text 41"/>
          <p:cNvSpPr txBox="1"/>
          <p:nvPr/>
        </p:nvSpPr>
        <p:spPr>
          <a:xfrm>
            <a:off x="7013448" y="5093208"/>
            <a:ext cx="4261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Mijozni ushlab qolish</a:t>
            </a:r>
            <a:endParaRPr lang="en-US" sz="1250" dirty="0"/>
          </a:p>
        </p:txBody>
      </p:sp>
      <p:sp>
        <p:nvSpPr>
          <p:cNvPr id="46" name="Text 42"/>
          <p:cNvSpPr txBox="1"/>
          <p:nvPr/>
        </p:nvSpPr>
        <p:spPr>
          <a:xfrm>
            <a:off x="7013448" y="5358384"/>
            <a:ext cx="42611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yillik litsenziya yangilanishi</a:t>
            </a:r>
            <a:endParaRPr lang="en-US" sz="1000" dirty="0"/>
          </a:p>
        </p:txBody>
      </p:sp>
      <p:pic>
        <p:nvPicPr>
          <p:cNvPr id="47" name="Image 2" descr="C:\Users\user\AppData\Local\Temp\claude\C--Users-user\ecd937e0-60b9-45db-b06f-34b4379b9ec8\scratchpad\deck\assets\logo-mark-160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6318504"/>
            <a:ext cx="237744" cy="237744"/>
          </a:xfrm>
          <a:prstGeom prst="rect">
            <a:avLst/>
          </a:prstGeom>
        </p:spPr>
      </p:pic>
      <p:sp>
        <p:nvSpPr>
          <p:cNvPr id="48" name="Text 43"/>
          <p:cNvSpPr txBox="1"/>
          <p:nvPr/>
        </p:nvSpPr>
        <p:spPr>
          <a:xfrm>
            <a:off x="877824" y="631850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Muhim Davr  ·  Biznes reja</a:t>
            </a:r>
            <a:endParaRPr lang="en-US" sz="950" dirty="0"/>
          </a:p>
        </p:txBody>
      </p:sp>
      <p:sp>
        <p:nvSpPr>
          <p:cNvPr id="49" name="Text 44"/>
          <p:cNvSpPr txBox="1"/>
          <p:nvPr/>
        </p:nvSpPr>
        <p:spPr>
          <a:xfrm>
            <a:off x="10271455" y="6318504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10 / 13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26364"/>
            <a:ext cx="109728" cy="109728"/>
          </a:xfrm>
          <a:prstGeom prst="ellipse">
            <a:avLst/>
          </a:prstGeom>
          <a:solidFill>
            <a:srgbClr val="2C7A50"/>
          </a:solidFill>
          <a:ln/>
        </p:spPr>
      </p:sp>
      <p:sp>
        <p:nvSpPr>
          <p:cNvPr id="3" name="Shape 1"/>
          <p:cNvSpPr/>
          <p:nvPr/>
        </p:nvSpPr>
        <p:spPr>
          <a:xfrm>
            <a:off x="707746" y="626364"/>
            <a:ext cx="109728" cy="109728"/>
          </a:xfrm>
          <a:prstGeom prst="ellipse">
            <a:avLst/>
          </a:prstGeom>
          <a:solidFill>
            <a:srgbClr val="B97609"/>
          </a:solidFill>
          <a:ln/>
        </p:spPr>
      </p:sp>
      <p:sp>
        <p:nvSpPr>
          <p:cNvPr id="4" name="Shape 2"/>
          <p:cNvSpPr/>
          <p:nvPr/>
        </p:nvSpPr>
        <p:spPr>
          <a:xfrm>
            <a:off x="866851" y="626364"/>
            <a:ext cx="109728" cy="109728"/>
          </a:xfrm>
          <a:prstGeom prst="ellipse">
            <a:avLst/>
          </a:prstGeom>
          <a:solidFill>
            <a:srgbClr val="BE3A2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33856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2563E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10  ·  RAQOBAT USTUNLIGI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896112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Nega bizni tanlashadi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48640" y="1737360"/>
            <a:ext cx="3575304" cy="192024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9525">
            <a:solidFill>
              <a:srgbClr val="E3E8EF"/>
            </a:solidFill>
            <a:prstDash val="solid"/>
          </a:ln>
          <a:effectLst>
            <a:outerShdw sx="100000" sy="100000" kx="0" ky="0" algn="bl" rotWithShape="0" blurRad="203200" dist="50800" dir="5400000">
              <a:srgbClr val="0F172A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04672" y="1993392"/>
            <a:ext cx="493776" cy="493776"/>
          </a:xfrm>
          <a:prstGeom prst="roundRect">
            <a:avLst>
              <a:gd name="adj" fmla="val 26000"/>
            </a:avLst>
          </a:prstGeom>
          <a:solidFill>
            <a:srgbClr val="EFF6FF"/>
          </a:solidFill>
          <a:ln/>
        </p:spPr>
      </p:sp>
      <p:pic>
        <p:nvPicPr>
          <p:cNvPr id="9" name="Image 0" descr="C:\Users\user\AppData\Local\Temp\claude\C--Users-user\ecd937e0-60b9-45db-b06f-34b4379b9ec8\scratchpad\deck\assets\SiTelegram-bran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8240" y="2106960"/>
            <a:ext cx="266639" cy="266639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804672" y="2606040"/>
            <a:ext cx="31181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Telegram — ilova kerak emas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804672" y="2944368"/>
            <a:ext cx="31181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Ayolni jalb qilish deyarli bepul. Telegram — O‘zbekistonda eng ommabop messenjer: ~25 mln foydalanuvchi.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306824" y="1737360"/>
            <a:ext cx="3575304" cy="1920240"/>
          </a:xfrm>
          <a:prstGeom prst="roundRect">
            <a:avLst>
              <a:gd name="adj" fmla="val 7619"/>
            </a:avLst>
          </a:prstGeom>
          <a:solidFill>
            <a:srgbClr val="0F172A"/>
          </a:solidFill>
          <a:ln/>
          <a:effectLst>
            <a:outerShdw sx="100000" sy="100000" kx="0" ky="0" algn="bl" rotWithShape="0" blurRad="203200" dist="50800" dir="5400000">
              <a:srgbClr val="2563EB">
                <a:alpha val="2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562856" y="1993392"/>
            <a:ext cx="493776" cy="493776"/>
          </a:xfrm>
          <a:prstGeom prst="roundRect">
            <a:avLst>
              <a:gd name="adj" fmla="val 26000"/>
            </a:avLst>
          </a:prstGeom>
          <a:solidFill>
            <a:srgbClr val="2563EB"/>
          </a:solidFill>
          <a:ln/>
        </p:spPr>
      </p:sp>
      <p:pic>
        <p:nvPicPr>
          <p:cNvPr id="14" name="Image 1" descr="C:\Users\user\AppData\Local\Temp\claude\C--Users-user\ecd937e0-60b9-45db-b06f-34b4379b9ec8\scratchpad\deck\assets\LuRadio-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6424" y="2106960"/>
            <a:ext cx="266639" cy="266639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4562856" y="2606040"/>
            <a:ext cx="31181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Davlat muammosiga aniq javob</a:t>
            </a:r>
            <a:endParaRPr lang="en-US" sz="1400" dirty="0"/>
          </a:p>
        </p:txBody>
      </p:sp>
      <p:sp>
        <p:nvSpPr>
          <p:cNvPr id="16" name="Text 12"/>
          <p:cNvSpPr txBox="1"/>
          <p:nvPr/>
        </p:nvSpPr>
        <p:spPr>
          <a:xfrm>
            <a:off x="4562856" y="2944368"/>
            <a:ext cx="31181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Hakaton muammosi №9 — tuman darajasida real vaqtda monitoring. Reyestr aynan shu uchun qurilgan.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8065008" y="1737360"/>
            <a:ext cx="3575304" cy="192024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9525">
            <a:solidFill>
              <a:srgbClr val="E3E8EF"/>
            </a:solidFill>
            <a:prstDash val="solid"/>
          </a:ln>
          <a:effectLst>
            <a:outerShdw sx="100000" sy="100000" kx="0" ky="0" algn="bl" rotWithShape="0" blurRad="203200" dist="50800" dir="5400000">
              <a:srgbClr val="0F172A">
                <a:alpha val="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8321040" y="1993392"/>
            <a:ext cx="493776" cy="493776"/>
          </a:xfrm>
          <a:prstGeom prst="roundRect">
            <a:avLst>
              <a:gd name="adj" fmla="val 26000"/>
            </a:avLst>
          </a:prstGeom>
          <a:solidFill>
            <a:srgbClr val="EFF6FF"/>
          </a:solidFill>
          <a:ln/>
        </p:spPr>
      </p:sp>
      <p:pic>
        <p:nvPicPr>
          <p:cNvPr id="19" name="Image 2" descr="C:\Users\user\AppData\Local\Temp\claude\C--Users-user\ecd937e0-60b9-45db-b06f-34b4379b9ec8\scratchpad\deck\assets\LuShieldCheck-bran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34608" y="2106960"/>
            <a:ext cx="266639" cy="266639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8321040" y="2606040"/>
            <a:ext cx="31181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Xavfsiz AI dizayni</a:t>
            </a:r>
            <a:endParaRPr lang="en-US" sz="1400" dirty="0"/>
          </a:p>
        </p:txBody>
      </p:sp>
      <p:sp>
        <p:nvSpPr>
          <p:cNvPr id="21" name="Text 16"/>
          <p:cNvSpPr txBox="1"/>
          <p:nvPr/>
        </p:nvSpPr>
        <p:spPr>
          <a:xfrm>
            <a:off x="8321040" y="2944368"/>
            <a:ext cx="31181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faqat o‘qiydi, qaror — shaffof qoidalarda. Tibbiy javobgarlik va litsenziyalashda afzallik.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548640" y="3840480"/>
            <a:ext cx="3575304" cy="192024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9525">
            <a:solidFill>
              <a:srgbClr val="E3E8EF"/>
            </a:solidFill>
            <a:prstDash val="solid"/>
          </a:ln>
          <a:effectLst>
            <a:outerShdw sx="100000" sy="100000" kx="0" ky="0" algn="bl" rotWithShape="0" blurRad="203200" dist="50800" dir="5400000">
              <a:srgbClr val="0F172A">
                <a:alpha val="8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804672" y="4096512"/>
            <a:ext cx="493776" cy="493776"/>
          </a:xfrm>
          <a:prstGeom prst="roundRect">
            <a:avLst>
              <a:gd name="adj" fmla="val 26000"/>
            </a:avLst>
          </a:prstGeom>
          <a:solidFill>
            <a:srgbClr val="EFF6FF"/>
          </a:solidFill>
          <a:ln/>
        </p:spPr>
      </p:sp>
      <p:pic>
        <p:nvPicPr>
          <p:cNvPr id="24" name="Image 3" descr="C:\Users\user\AppData\Local\Temp\claude\C--Users-user\ecd937e0-60b9-45db-b06f-34b4379b9ec8\scratchpad\deck\assets\LuZap-bran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8240" y="4210080"/>
            <a:ext cx="266639" cy="266639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804672" y="4709160"/>
            <a:ext cx="31181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Juda past o‘zgaruvchan xarajat</a:t>
            </a:r>
            <a:endParaRPr lang="en-US" sz="1400" dirty="0"/>
          </a:p>
        </p:txBody>
      </p:sp>
      <p:sp>
        <p:nvSpPr>
          <p:cNvPr id="26" name="Text 20"/>
          <p:cNvSpPr txBox="1"/>
          <p:nvPr/>
        </p:nvSpPr>
        <p:spPr>
          <a:xfrm>
            <a:off x="804672" y="5047488"/>
            <a:ext cx="31181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bir homiladorlik uchun ≈ 1 469 so‘m — narx tushirsa ham marja yuqori qoladi.</a:t>
            </a:r>
            <a:endParaRPr lang="en-US" sz="1050" dirty="0"/>
          </a:p>
        </p:txBody>
      </p:sp>
      <p:sp>
        <p:nvSpPr>
          <p:cNvPr id="27" name="Shape 21"/>
          <p:cNvSpPr/>
          <p:nvPr/>
        </p:nvSpPr>
        <p:spPr>
          <a:xfrm>
            <a:off x="4306824" y="3840480"/>
            <a:ext cx="3575304" cy="192024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9525">
            <a:solidFill>
              <a:srgbClr val="E3E8EF"/>
            </a:solidFill>
            <a:prstDash val="solid"/>
          </a:ln>
          <a:effectLst>
            <a:outerShdw sx="100000" sy="100000" kx="0" ky="0" algn="bl" rotWithShape="0" blurRad="203200" dist="50800" dir="5400000">
              <a:srgbClr val="0F172A">
                <a:alpha val="8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4562856" y="4096512"/>
            <a:ext cx="493776" cy="493776"/>
          </a:xfrm>
          <a:prstGeom prst="roundRect">
            <a:avLst>
              <a:gd name="adj" fmla="val 26000"/>
            </a:avLst>
          </a:prstGeom>
          <a:solidFill>
            <a:srgbClr val="EFF6FF"/>
          </a:solidFill>
          <a:ln/>
        </p:spPr>
      </p:sp>
      <p:pic>
        <p:nvPicPr>
          <p:cNvPr id="29" name="Image 4" descr="C:\Users\user\AppData\Local\Temp\claude\C--Users-user\ecd937e0-60b9-45db-b06f-34b4379b9ec8\scratchpad\deck\assets\LuLanguages-bran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76424" y="4210080"/>
            <a:ext cx="266639" cy="266639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4562856" y="4709160"/>
            <a:ext cx="31181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Mahalliy</a:t>
            </a:r>
            <a:endParaRPr lang="en-US" sz="1400" dirty="0"/>
          </a:p>
        </p:txBody>
      </p:sp>
      <p:sp>
        <p:nvSpPr>
          <p:cNvPr id="31" name="Text 24"/>
          <p:cNvSpPr txBox="1"/>
          <p:nvPr/>
        </p:nvSpPr>
        <p:spPr>
          <a:xfrm>
            <a:off x="4562856" y="5047488"/>
            <a:ext cx="31181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O‘zbek va rus tilidagi yozuv va varaqalarni o‘qiydi; WHO jadvali, O‘zbekiston tizimiga moslangan.</a:t>
            </a:r>
            <a:endParaRPr lang="en-US" sz="1050" dirty="0"/>
          </a:p>
        </p:txBody>
      </p:sp>
      <p:sp>
        <p:nvSpPr>
          <p:cNvPr id="32" name="Shape 25"/>
          <p:cNvSpPr/>
          <p:nvPr/>
        </p:nvSpPr>
        <p:spPr>
          <a:xfrm>
            <a:off x="8065008" y="3840480"/>
            <a:ext cx="3575304" cy="192024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9525">
            <a:solidFill>
              <a:srgbClr val="E3E8EF"/>
            </a:solidFill>
            <a:prstDash val="solid"/>
          </a:ln>
          <a:effectLst>
            <a:outerShdw sx="100000" sy="100000" kx="0" ky="0" algn="bl" rotWithShape="0" blurRad="203200" dist="50800" dir="5400000">
              <a:srgbClr val="0F172A">
                <a:alpha val="8000"/>
              </a:srgbClr>
            </a:outerShdw>
          </a:effectLst>
        </p:spPr>
      </p:sp>
      <p:sp>
        <p:nvSpPr>
          <p:cNvPr id="33" name="Shape 26"/>
          <p:cNvSpPr/>
          <p:nvPr/>
        </p:nvSpPr>
        <p:spPr>
          <a:xfrm>
            <a:off x="8321040" y="4096512"/>
            <a:ext cx="493776" cy="493776"/>
          </a:xfrm>
          <a:prstGeom prst="roundRect">
            <a:avLst>
              <a:gd name="adj" fmla="val 26000"/>
            </a:avLst>
          </a:prstGeom>
          <a:solidFill>
            <a:srgbClr val="EFF6FF"/>
          </a:solidFill>
          <a:ln/>
        </p:spPr>
      </p:sp>
      <p:pic>
        <p:nvPicPr>
          <p:cNvPr id="34" name="Image 5" descr="C:\Users\user\AppData\Local\Temp\claude\C--Users-user\ecd937e0-60b9-45db-b06f-34b4379b9ec8\scratchpad\deck\assets\LuCircleCheckBig-bran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34608" y="4210080"/>
            <a:ext cx="266639" cy="266639"/>
          </a:xfrm>
          <a:prstGeom prst="rect">
            <a:avLst/>
          </a:prstGeom>
        </p:spPr>
      </p:pic>
      <p:sp>
        <p:nvSpPr>
          <p:cNvPr id="35" name="Text 27"/>
          <p:cNvSpPr txBox="1"/>
          <p:nvPr/>
        </p:nvSpPr>
        <p:spPr>
          <a:xfrm>
            <a:off x="8321040" y="4709160"/>
            <a:ext cx="31181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Allaqachon ishlaydi</a:t>
            </a:r>
            <a:endParaRPr lang="en-US" sz="1400" dirty="0"/>
          </a:p>
        </p:txBody>
      </p:sp>
      <p:sp>
        <p:nvSpPr>
          <p:cNvPr id="36" name="Text 28"/>
          <p:cNvSpPr txBox="1"/>
          <p:nvPr/>
        </p:nvSpPr>
        <p:spPr>
          <a:xfrm>
            <a:off x="8321040" y="5047488"/>
            <a:ext cx="31181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563 ta test, jonli reyestr, AI varaqa o‘qish, Telegram bot — prototip emas, ishlaydigan mahsulot.</a:t>
            </a:r>
            <a:endParaRPr lang="en-US" sz="1050" dirty="0"/>
          </a:p>
        </p:txBody>
      </p:sp>
      <p:sp>
        <p:nvSpPr>
          <p:cNvPr id="37" name="Text 29"/>
          <p:cNvSpPr txBox="1"/>
          <p:nvPr/>
        </p:nvSpPr>
        <p:spPr>
          <a:xfrm>
            <a:off x="548640" y="6035040"/>
            <a:ext cx="11064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Telegram: UzDaily / DataReportal, 2025 — internet foydalanuvchilarining 76%.</a:t>
            </a:r>
            <a:endParaRPr lang="en-US" sz="850" dirty="0"/>
          </a:p>
        </p:txBody>
      </p:sp>
      <p:pic>
        <p:nvPicPr>
          <p:cNvPr id="38" name="Image 6" descr="C:\Users\user\AppData\Local\Temp\claude\C--Users-user\ecd937e0-60b9-45db-b06f-34b4379b9ec8\scratchpad\deck\assets\logo-mark-160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8640" y="6318504"/>
            <a:ext cx="237744" cy="237744"/>
          </a:xfrm>
          <a:prstGeom prst="rect">
            <a:avLst/>
          </a:prstGeom>
        </p:spPr>
      </p:pic>
      <p:sp>
        <p:nvSpPr>
          <p:cNvPr id="39" name="Text 30"/>
          <p:cNvSpPr txBox="1"/>
          <p:nvPr/>
        </p:nvSpPr>
        <p:spPr>
          <a:xfrm>
            <a:off x="877824" y="631850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Muhim Davr  ·  Biznes reja</a:t>
            </a:r>
            <a:endParaRPr lang="en-US" sz="950" dirty="0"/>
          </a:p>
        </p:txBody>
      </p:sp>
      <p:sp>
        <p:nvSpPr>
          <p:cNvPr id="40" name="Text 31"/>
          <p:cNvSpPr txBox="1"/>
          <p:nvPr/>
        </p:nvSpPr>
        <p:spPr>
          <a:xfrm>
            <a:off x="10271455" y="6318504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11 / 13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26364"/>
            <a:ext cx="109728" cy="109728"/>
          </a:xfrm>
          <a:prstGeom prst="ellipse">
            <a:avLst/>
          </a:prstGeom>
          <a:solidFill>
            <a:srgbClr val="2C7A50"/>
          </a:solidFill>
          <a:ln/>
        </p:spPr>
      </p:sp>
      <p:sp>
        <p:nvSpPr>
          <p:cNvPr id="3" name="Shape 1"/>
          <p:cNvSpPr/>
          <p:nvPr/>
        </p:nvSpPr>
        <p:spPr>
          <a:xfrm>
            <a:off x="707746" y="626364"/>
            <a:ext cx="109728" cy="109728"/>
          </a:xfrm>
          <a:prstGeom prst="ellipse">
            <a:avLst/>
          </a:prstGeom>
          <a:solidFill>
            <a:srgbClr val="B97609"/>
          </a:solidFill>
          <a:ln/>
        </p:spPr>
      </p:sp>
      <p:sp>
        <p:nvSpPr>
          <p:cNvPr id="4" name="Shape 2"/>
          <p:cNvSpPr/>
          <p:nvPr/>
        </p:nvSpPr>
        <p:spPr>
          <a:xfrm>
            <a:off x="866851" y="626364"/>
            <a:ext cx="109728" cy="109728"/>
          </a:xfrm>
          <a:prstGeom prst="ellipse">
            <a:avLst/>
          </a:prstGeom>
          <a:solidFill>
            <a:srgbClr val="BE3A2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33856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2563E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11  ·  RISKLAR VA YECHIMLAR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896112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Biz ko‘rgan risklar — va rejamiz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160020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BE3A2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RISK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6492240" y="160020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2C7A5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YECHIM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48640" y="1920240"/>
            <a:ext cx="11091672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9525">
            <a:solidFill>
              <a:srgbClr val="E3E8EF"/>
            </a:solidFill>
            <a:prstDash val="solid"/>
          </a:ln>
          <a:effectLst>
            <a:outerShdw sx="100000" sy="100000" kx="0" ky="0" algn="bl" rotWithShape="0" blurRad="203200" dist="50800" dir="5400000">
              <a:srgbClr val="0F172A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85800" y="2048256"/>
            <a:ext cx="457200" cy="457200"/>
          </a:xfrm>
          <a:prstGeom prst="roundRect">
            <a:avLst>
              <a:gd name="adj" fmla="val 26000"/>
            </a:avLst>
          </a:prstGeom>
          <a:solidFill>
            <a:srgbClr val="FBEAE8"/>
          </a:solidFill>
          <a:ln/>
        </p:spPr>
      </p:sp>
      <p:pic>
        <p:nvPicPr>
          <p:cNvPr id="11" name="Image 0" descr="C:\Users\user\AppData\Local\Temp\claude\C--Users-user\ecd937e0-60b9-45db-b06f-34b4379b9ec8\scratchpad\deck\assets\LuLock-qizi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956" y="2153412"/>
            <a:ext cx="246888" cy="246888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280160" y="199339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Ma’lumotlarni saqlash qonuni</a:t>
            </a:r>
            <a:endParaRPr lang="en-US" sz="1250" dirty="0"/>
          </a:p>
        </p:txBody>
      </p:sp>
      <p:sp>
        <p:nvSpPr>
          <p:cNvPr id="13" name="Text 10"/>
          <p:cNvSpPr txBox="1"/>
          <p:nvPr/>
        </p:nvSpPr>
        <p:spPr>
          <a:xfrm>
            <a:off x="1280160" y="2267712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2026-yil martdan tibbiy ma’lumot majburiy lokalizatsiya ro‘yxatida emas, lekin chet elga uzatish qoidalari bor; davlat mijozi mahalliy serverni talab qilishi mumkin.</a:t>
            </a:r>
            <a:endParaRPr lang="en-US" sz="950" dirty="0"/>
          </a:p>
        </p:txBody>
      </p:sp>
      <p:pic>
        <p:nvPicPr>
          <p:cNvPr id="14" name="Image 1" descr="C:\Users\user\AppData\Local\Temp\claude\C--Users-user\ecd937e0-60b9-45db-b06f-34b4379b9ec8\scratchpad\deck\assets\LuArrowRight-bran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2167128"/>
            <a:ext cx="219456" cy="219456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6400800" y="2011680"/>
            <a:ext cx="5102352" cy="530352"/>
          </a:xfrm>
          <a:prstGeom prst="roundRect">
            <a:avLst>
              <a:gd name="adj" fmla="val 17241"/>
            </a:avLst>
          </a:prstGeom>
          <a:solidFill>
            <a:srgbClr val="E7F3ED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6537960" y="2011680"/>
            <a:ext cx="4892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 ma’lumotdan oldin O‘zbekistondagi serverga ko‘chish — Supabase ochiq kodli, o‘z serverimizda ishlaydi.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548640" y="2724912"/>
            <a:ext cx="11091672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9525">
            <a:solidFill>
              <a:srgbClr val="E3E8EF"/>
            </a:solidFill>
            <a:prstDash val="solid"/>
          </a:ln>
          <a:effectLst>
            <a:outerShdw sx="100000" sy="100000" kx="0" ky="0" algn="bl" rotWithShape="0" blurRad="203200" dist="50800" dir="5400000">
              <a:srgbClr val="0F172A">
                <a:alpha val="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85800" y="2852928"/>
            <a:ext cx="457200" cy="457200"/>
          </a:xfrm>
          <a:prstGeom prst="roundRect">
            <a:avLst>
              <a:gd name="adj" fmla="val 26000"/>
            </a:avLst>
          </a:prstGeom>
          <a:solidFill>
            <a:srgbClr val="FBEAE8"/>
          </a:solidFill>
          <a:ln/>
        </p:spPr>
      </p:sp>
      <p:pic>
        <p:nvPicPr>
          <p:cNvPr id="19" name="Image 2" descr="C:\Users\user\AppData\Local\Temp\claude\C--Users-user\ecd937e0-60b9-45db-b06f-34b4379b9ec8\scratchpad\deck\assets\LuTimer-qizi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0956" y="2958084"/>
            <a:ext cx="246888" cy="246888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1280160" y="2798064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Davlat xaridlari sekin</a:t>
            </a:r>
            <a:endParaRPr lang="en-US" sz="1250" dirty="0"/>
          </a:p>
        </p:txBody>
      </p:sp>
      <p:sp>
        <p:nvSpPr>
          <p:cNvPr id="21" name="Text 16"/>
          <p:cNvSpPr txBox="1"/>
          <p:nvPr/>
        </p:nvSpPr>
        <p:spPr>
          <a:xfrm>
            <a:off x="1280160" y="3072384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B2G shartnomasi oylab cho‘zilishi mumkin.</a:t>
            </a:r>
            <a:endParaRPr lang="en-US" sz="950" dirty="0"/>
          </a:p>
        </p:txBody>
      </p:sp>
      <p:pic>
        <p:nvPicPr>
          <p:cNvPr id="22" name="Image 3" descr="C:\Users\user\AppData\Local\Temp\claude\C--Users-user\ecd937e0-60b9-45db-b06f-34b4379b9ec8\scratchpad\deck\assets\LuArrowRight-bran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2971800"/>
            <a:ext cx="219456" cy="219456"/>
          </a:xfrm>
          <a:prstGeom prst="rect">
            <a:avLst/>
          </a:prstGeom>
        </p:spPr>
      </p:pic>
      <p:sp>
        <p:nvSpPr>
          <p:cNvPr id="23" name="Shape 17"/>
          <p:cNvSpPr/>
          <p:nvPr/>
        </p:nvSpPr>
        <p:spPr>
          <a:xfrm>
            <a:off x="6400800" y="2816352"/>
            <a:ext cx="5102352" cy="530352"/>
          </a:xfrm>
          <a:prstGeom prst="roundRect">
            <a:avLst>
              <a:gd name="adj" fmla="val 17241"/>
            </a:avLst>
          </a:prstGeom>
          <a:solidFill>
            <a:srgbClr val="E7F3ED"/>
          </a:solidFill>
          <a:ln/>
        </p:spPr>
      </p:sp>
      <p:sp>
        <p:nvSpPr>
          <p:cNvPr id="24" name="Text 18"/>
          <p:cNvSpPr txBox="1"/>
          <p:nvPr/>
        </p:nvSpPr>
        <p:spPr>
          <a:xfrm>
            <a:off x="6537960" y="2816352"/>
            <a:ext cx="4892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Avval xususiy klinikalar (B2B) daromadi + pilot memorandumi bilan boshlash.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548640" y="3529584"/>
            <a:ext cx="11091672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9525">
            <a:solidFill>
              <a:srgbClr val="E3E8EF"/>
            </a:solidFill>
            <a:prstDash val="solid"/>
          </a:ln>
          <a:effectLst>
            <a:outerShdw sx="100000" sy="100000" kx="0" ky="0" algn="bl" rotWithShape="0" blurRad="203200" dist="50800" dir="5400000">
              <a:srgbClr val="0F172A">
                <a:alpha val="8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685800" y="3657600"/>
            <a:ext cx="457200" cy="457200"/>
          </a:xfrm>
          <a:prstGeom prst="roundRect">
            <a:avLst>
              <a:gd name="adj" fmla="val 26000"/>
            </a:avLst>
          </a:prstGeom>
          <a:solidFill>
            <a:srgbClr val="FBEAE8"/>
          </a:solidFill>
          <a:ln/>
        </p:spPr>
      </p:sp>
      <p:pic>
        <p:nvPicPr>
          <p:cNvPr id="27" name="Image 4" descr="C:\Users\user\AppData\Local\Temp\claude\C--Users-user\ecd937e0-60b9-45db-b06f-34b4379b9ec8\scratchpad\deck\assets\LuUsers-qizil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0956" y="3762756"/>
            <a:ext cx="246888" cy="246888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1280160" y="3602736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Akusherkalar qabul qilmasligi</a:t>
            </a:r>
            <a:endParaRPr lang="en-US" sz="1250" dirty="0"/>
          </a:p>
        </p:txBody>
      </p:sp>
      <p:sp>
        <p:nvSpPr>
          <p:cNvPr id="29" name="Text 22"/>
          <p:cNvSpPr txBox="1"/>
          <p:nvPr/>
        </p:nvSpPr>
        <p:spPr>
          <a:xfrm>
            <a:off x="1280160" y="3877056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Yangi tizim — qo‘shimcha ish bo‘lib ko‘rinishi mumkin.</a:t>
            </a:r>
            <a:endParaRPr lang="en-US" sz="950" dirty="0"/>
          </a:p>
        </p:txBody>
      </p:sp>
      <p:pic>
        <p:nvPicPr>
          <p:cNvPr id="30" name="Image 5" descr="C:\Users\user\AppData\Local\Temp\claude\C--Users-user\ecd937e0-60b9-45db-b06f-34b4379b9ec8\scratchpad\deck\assets\LuArrowRight-bran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35040" y="3776472"/>
            <a:ext cx="219456" cy="219456"/>
          </a:xfrm>
          <a:prstGeom prst="rect">
            <a:avLst/>
          </a:prstGeom>
        </p:spPr>
      </p:pic>
      <p:sp>
        <p:nvSpPr>
          <p:cNvPr id="31" name="Shape 23"/>
          <p:cNvSpPr/>
          <p:nvPr/>
        </p:nvSpPr>
        <p:spPr>
          <a:xfrm>
            <a:off x="6400800" y="3621024"/>
            <a:ext cx="5102352" cy="530352"/>
          </a:xfrm>
          <a:prstGeom prst="roundRect">
            <a:avLst>
              <a:gd name="adj" fmla="val 17241"/>
            </a:avLst>
          </a:prstGeom>
          <a:solidFill>
            <a:srgbClr val="E7F3ED"/>
          </a:solidFill>
          <a:ln/>
        </p:spPr>
      </p:sp>
      <p:sp>
        <p:nvSpPr>
          <p:cNvPr id="32" name="Text 24"/>
          <p:cNvSpPr txBox="1"/>
          <p:nvPr/>
        </p:nvSpPr>
        <p:spPr>
          <a:xfrm>
            <a:off x="6537960" y="3621024"/>
            <a:ext cx="4892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formani to‘ldiradi — vaqt tejaydi; joriy etishda o‘qitish.</a:t>
            </a:r>
            <a:endParaRPr lang="en-US" sz="1050" dirty="0"/>
          </a:p>
        </p:txBody>
      </p:sp>
      <p:sp>
        <p:nvSpPr>
          <p:cNvPr id="33" name="Shape 25"/>
          <p:cNvSpPr/>
          <p:nvPr/>
        </p:nvSpPr>
        <p:spPr>
          <a:xfrm>
            <a:off x="548640" y="4334256"/>
            <a:ext cx="11091672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9525">
            <a:solidFill>
              <a:srgbClr val="E3E8EF"/>
            </a:solidFill>
            <a:prstDash val="solid"/>
          </a:ln>
          <a:effectLst>
            <a:outerShdw sx="100000" sy="100000" kx="0" ky="0" algn="bl" rotWithShape="0" blurRad="203200" dist="50800" dir="5400000">
              <a:srgbClr val="0F172A">
                <a:alpha val="8000"/>
              </a:srgbClr>
            </a:outerShdw>
          </a:effectLst>
        </p:spPr>
      </p:sp>
      <p:sp>
        <p:nvSpPr>
          <p:cNvPr id="34" name="Shape 26"/>
          <p:cNvSpPr/>
          <p:nvPr/>
        </p:nvSpPr>
        <p:spPr>
          <a:xfrm>
            <a:off x="685800" y="4462272"/>
            <a:ext cx="457200" cy="457200"/>
          </a:xfrm>
          <a:prstGeom prst="roundRect">
            <a:avLst>
              <a:gd name="adj" fmla="val 26000"/>
            </a:avLst>
          </a:prstGeom>
          <a:solidFill>
            <a:srgbClr val="FBEAE8"/>
          </a:solidFill>
          <a:ln/>
        </p:spPr>
      </p:sp>
      <p:pic>
        <p:nvPicPr>
          <p:cNvPr id="35" name="Image 6" descr="C:\Users\user\AppData\Local\Temp\claude\C--Users-user\ecd937e0-60b9-45db-b06f-34b4379b9ec8\scratchpad\deck\assets\LuRadio-qizil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0956" y="4567428"/>
            <a:ext cx="246888" cy="246888"/>
          </a:xfrm>
          <a:prstGeom prst="rect">
            <a:avLst/>
          </a:prstGeom>
        </p:spPr>
      </p:pic>
      <p:sp>
        <p:nvSpPr>
          <p:cNvPr id="36" name="Text 27"/>
          <p:cNvSpPr txBox="1"/>
          <p:nvPr/>
        </p:nvSpPr>
        <p:spPr>
          <a:xfrm>
            <a:off x="1280160" y="440740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Qishloqda internet</a:t>
            </a:r>
            <a:endParaRPr lang="en-US" sz="1250" dirty="0"/>
          </a:p>
        </p:txBody>
      </p:sp>
      <p:sp>
        <p:nvSpPr>
          <p:cNvPr id="37" name="Text 28"/>
          <p:cNvSpPr txBox="1"/>
          <p:nvPr/>
        </p:nvSpPr>
        <p:spPr>
          <a:xfrm>
            <a:off x="1280160" y="4681728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Aloqa sust bo‘lishi mumkin.</a:t>
            </a:r>
            <a:endParaRPr lang="en-US" sz="950" dirty="0"/>
          </a:p>
        </p:txBody>
      </p:sp>
      <p:pic>
        <p:nvPicPr>
          <p:cNvPr id="38" name="Image 7" descr="C:\Users\user\AppData\Local\Temp\claude\C--Users-user\ecd937e0-60b9-45db-b06f-34b4379b9ec8\scratchpad\deck\assets\LuArrowRight-bran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35040" y="4581144"/>
            <a:ext cx="219456" cy="219456"/>
          </a:xfrm>
          <a:prstGeom prst="rect">
            <a:avLst/>
          </a:prstGeom>
        </p:spPr>
      </p:pic>
      <p:sp>
        <p:nvSpPr>
          <p:cNvPr id="39" name="Shape 29"/>
          <p:cNvSpPr/>
          <p:nvPr/>
        </p:nvSpPr>
        <p:spPr>
          <a:xfrm>
            <a:off x="6400800" y="4425696"/>
            <a:ext cx="5102352" cy="530352"/>
          </a:xfrm>
          <a:prstGeom prst="roundRect">
            <a:avLst>
              <a:gd name="adj" fmla="val 17241"/>
            </a:avLst>
          </a:prstGeom>
          <a:solidFill>
            <a:srgbClr val="E7F3ED"/>
          </a:solidFill>
          <a:ln/>
        </p:spPr>
      </p:sp>
      <p:sp>
        <p:nvSpPr>
          <p:cNvPr id="40" name="Text 30"/>
          <p:cNvSpPr txBox="1"/>
          <p:nvPr/>
        </p:nvSpPr>
        <p:spPr>
          <a:xfrm>
            <a:off x="6537960" y="4425696"/>
            <a:ext cx="4892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Telegram yengil; AI ishlamasa forma qo‘lda to‘liq ishlaydi.</a:t>
            </a:r>
            <a:endParaRPr lang="en-US" sz="1050" dirty="0"/>
          </a:p>
        </p:txBody>
      </p:sp>
      <p:sp>
        <p:nvSpPr>
          <p:cNvPr id="41" name="Shape 31"/>
          <p:cNvSpPr/>
          <p:nvPr/>
        </p:nvSpPr>
        <p:spPr>
          <a:xfrm>
            <a:off x="548640" y="5138928"/>
            <a:ext cx="11091672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9525">
            <a:solidFill>
              <a:srgbClr val="E3E8EF"/>
            </a:solidFill>
            <a:prstDash val="solid"/>
          </a:ln>
          <a:effectLst>
            <a:outerShdw sx="100000" sy="100000" kx="0" ky="0" algn="bl" rotWithShape="0" blurRad="203200" dist="50800" dir="5400000">
              <a:srgbClr val="0F172A">
                <a:alpha val="8000"/>
              </a:srgbClr>
            </a:outerShdw>
          </a:effectLst>
        </p:spPr>
      </p:sp>
      <p:sp>
        <p:nvSpPr>
          <p:cNvPr id="42" name="Shape 32"/>
          <p:cNvSpPr/>
          <p:nvPr/>
        </p:nvSpPr>
        <p:spPr>
          <a:xfrm>
            <a:off x="685800" y="5266944"/>
            <a:ext cx="457200" cy="457200"/>
          </a:xfrm>
          <a:prstGeom prst="roundRect">
            <a:avLst>
              <a:gd name="adj" fmla="val 26000"/>
            </a:avLst>
          </a:prstGeom>
          <a:solidFill>
            <a:srgbClr val="FBEAE8"/>
          </a:solidFill>
          <a:ln/>
        </p:spPr>
      </p:sp>
      <p:pic>
        <p:nvPicPr>
          <p:cNvPr id="43" name="Image 8" descr="C:\Users\user\AppData\Local\Temp\claude\C--Users-user\ecd937e0-60b9-45db-b06f-34b4379b9ec8\scratchpad\deck\assets\LuScale-qizil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90956" y="5372100"/>
            <a:ext cx="246888" cy="246888"/>
          </a:xfrm>
          <a:prstGeom prst="rect">
            <a:avLst/>
          </a:prstGeom>
        </p:spPr>
      </p:pic>
      <p:sp>
        <p:nvSpPr>
          <p:cNvPr id="44" name="Text 33"/>
          <p:cNvSpPr txBox="1"/>
          <p:nvPr/>
        </p:nvSpPr>
        <p:spPr>
          <a:xfrm>
            <a:off x="1280160" y="52120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Tibbiy javobgarlik</a:t>
            </a:r>
            <a:endParaRPr lang="en-US" sz="1250" dirty="0"/>
          </a:p>
        </p:txBody>
      </p:sp>
      <p:sp>
        <p:nvSpPr>
          <p:cNvPr id="45" name="Text 34"/>
          <p:cNvSpPr txBox="1"/>
          <p:nvPr/>
        </p:nvSpPr>
        <p:spPr>
          <a:xfrm>
            <a:off x="1280160" y="5486400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Noto‘g‘ri tavsiya xavfi.</a:t>
            </a:r>
            <a:endParaRPr lang="en-US" sz="950" dirty="0"/>
          </a:p>
        </p:txBody>
      </p:sp>
      <p:pic>
        <p:nvPicPr>
          <p:cNvPr id="46" name="Image 9" descr="C:\Users\user\AppData\Local\Temp\claude\C--Users-user\ecd937e0-60b9-45db-b06f-34b4379b9ec8\scratchpad\deck\assets\LuArrowRight-bran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035040" y="5385816"/>
            <a:ext cx="219456" cy="219456"/>
          </a:xfrm>
          <a:prstGeom prst="rect">
            <a:avLst/>
          </a:prstGeom>
        </p:spPr>
      </p:pic>
      <p:sp>
        <p:nvSpPr>
          <p:cNvPr id="47" name="Shape 35"/>
          <p:cNvSpPr/>
          <p:nvPr/>
        </p:nvSpPr>
        <p:spPr>
          <a:xfrm>
            <a:off x="6400800" y="5230368"/>
            <a:ext cx="5102352" cy="530352"/>
          </a:xfrm>
          <a:prstGeom prst="roundRect">
            <a:avLst>
              <a:gd name="adj" fmla="val 17241"/>
            </a:avLst>
          </a:prstGeom>
          <a:solidFill>
            <a:srgbClr val="E7F3ED"/>
          </a:solidFill>
          <a:ln/>
        </p:spPr>
      </p:sp>
      <p:sp>
        <p:nvSpPr>
          <p:cNvPr id="48" name="Text 36"/>
          <p:cNvSpPr txBox="1"/>
          <p:nvPr/>
        </p:nvSpPr>
        <p:spPr>
          <a:xfrm>
            <a:off x="6537960" y="5230368"/>
            <a:ext cx="4892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Tizim tashxis qo‘ymaydi va tavsiya bermaydi — qarorni mutaxassis qabul qiladi.</a:t>
            </a:r>
            <a:endParaRPr lang="en-US" sz="1050" dirty="0"/>
          </a:p>
        </p:txBody>
      </p:sp>
      <p:sp>
        <p:nvSpPr>
          <p:cNvPr id="49" name="Text 37"/>
          <p:cNvSpPr txBox="1"/>
          <p:nvPr/>
        </p:nvSpPr>
        <p:spPr>
          <a:xfrm>
            <a:off x="548640" y="6035040"/>
            <a:ext cx="11064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Qonun: O‘RQ-1125 (27.03.2026) — «Shaxsiy ma’lumotlar to‘g‘risida»gi qonun 27¹-moddasi; VMQ №415 (29.07.2026) — adekvat davlatlar ro‘yxati.</a:t>
            </a:r>
            <a:endParaRPr lang="en-US" sz="850" dirty="0"/>
          </a:p>
        </p:txBody>
      </p:sp>
      <p:pic>
        <p:nvPicPr>
          <p:cNvPr id="50" name="Image 10" descr="C:\Users\user\AppData\Local\Temp\claude\C--Users-user\ecd937e0-60b9-45db-b06f-34b4379b9ec8\scratchpad\deck\assets\logo-mark-160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48640" y="6318504"/>
            <a:ext cx="237744" cy="237744"/>
          </a:xfrm>
          <a:prstGeom prst="rect">
            <a:avLst/>
          </a:prstGeom>
        </p:spPr>
      </p:pic>
      <p:sp>
        <p:nvSpPr>
          <p:cNvPr id="51" name="Text 38"/>
          <p:cNvSpPr txBox="1"/>
          <p:nvPr/>
        </p:nvSpPr>
        <p:spPr>
          <a:xfrm>
            <a:off x="877824" y="631850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Muhim Davr  ·  Biznes reja</a:t>
            </a:r>
            <a:endParaRPr lang="en-US" sz="950" dirty="0"/>
          </a:p>
        </p:txBody>
      </p:sp>
      <p:sp>
        <p:nvSpPr>
          <p:cNvPr id="52" name="Text 39"/>
          <p:cNvSpPr txBox="1"/>
          <p:nvPr/>
        </p:nvSpPr>
        <p:spPr>
          <a:xfrm>
            <a:off x="10271455" y="6318504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12 / 13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26364"/>
            <a:ext cx="109728" cy="109728"/>
          </a:xfrm>
          <a:prstGeom prst="ellipse">
            <a:avLst/>
          </a:prstGeom>
          <a:solidFill>
            <a:srgbClr val="2C7A50"/>
          </a:solidFill>
          <a:ln/>
        </p:spPr>
      </p:sp>
      <p:sp>
        <p:nvSpPr>
          <p:cNvPr id="3" name="Shape 1"/>
          <p:cNvSpPr/>
          <p:nvPr/>
        </p:nvSpPr>
        <p:spPr>
          <a:xfrm>
            <a:off x="707746" y="626364"/>
            <a:ext cx="109728" cy="109728"/>
          </a:xfrm>
          <a:prstGeom prst="ellipse">
            <a:avLst/>
          </a:prstGeom>
          <a:solidFill>
            <a:srgbClr val="B97609"/>
          </a:solidFill>
          <a:ln/>
        </p:spPr>
      </p:sp>
      <p:sp>
        <p:nvSpPr>
          <p:cNvPr id="4" name="Shape 2"/>
          <p:cNvSpPr/>
          <p:nvPr/>
        </p:nvSpPr>
        <p:spPr>
          <a:xfrm>
            <a:off x="866851" y="626364"/>
            <a:ext cx="109728" cy="109728"/>
          </a:xfrm>
          <a:prstGeom prst="ellipse">
            <a:avLst/>
          </a:prstGeom>
          <a:solidFill>
            <a:srgbClr val="BE3A2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33856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60A5F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12  ·  KEYINGI 12 OY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896112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Bizga nima kerak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48640" y="1737360"/>
            <a:ext cx="2697480" cy="1463040"/>
          </a:xfrm>
          <a:prstGeom prst="roundRect">
            <a:avLst>
              <a:gd name="adj" fmla="val 8750"/>
            </a:avLst>
          </a:prstGeom>
          <a:solidFill>
            <a:srgbClr val="FFFFFF">
              <a:alpha val="7000"/>
            </a:srgbClr>
          </a:solidFill>
          <a:ln w="9525">
            <a:solidFill>
              <a:srgbClr val="FFFFFF">
                <a:alpha val="16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49808" y="1938528"/>
            <a:ext cx="420624" cy="420624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9" name="Image 0" descr="C:\Users\user\AppData\Local\Temp\claude\C--Users-user\ecd937e0-60b9-45db-b06f-34b4379b9ec8\scratchpad\deck\assets\LuBuilding2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552" y="2035272"/>
            <a:ext cx="227137" cy="227137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280160" y="1938528"/>
            <a:ext cx="1874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Pilot ruxsati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749808" y="246888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Xorazm viloyati sog‘liqni saqlash boshqarmasi bilan 2 tumanda pilot memorandumi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383280" y="1737360"/>
            <a:ext cx="2697480" cy="1463040"/>
          </a:xfrm>
          <a:prstGeom prst="roundRect">
            <a:avLst>
              <a:gd name="adj" fmla="val 8750"/>
            </a:avLst>
          </a:prstGeom>
          <a:solidFill>
            <a:srgbClr val="FFFFFF">
              <a:alpha val="7000"/>
            </a:srgbClr>
          </a:solidFill>
          <a:ln w="9525">
            <a:solidFill>
              <a:srgbClr val="FFFFFF">
                <a:alpha val="1600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584448" y="1938528"/>
            <a:ext cx="420624" cy="420624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14" name="Image 1" descr="C:\Users\user\AppData\Local\Temp\claude\C--Users-user\ecd937e0-60b9-45db-b06f-34b4379b9ec8\scratchpad\deck\assets\LuHospital-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1192" y="2035272"/>
            <a:ext cx="227137" cy="227137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4114800" y="1938528"/>
            <a:ext cx="1874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1–3 hamkor klinika</a:t>
            </a:r>
            <a:endParaRPr lang="en-US" sz="1300" dirty="0"/>
          </a:p>
        </p:txBody>
      </p:sp>
      <p:sp>
        <p:nvSpPr>
          <p:cNvPr id="16" name="Text 12"/>
          <p:cNvSpPr txBox="1"/>
          <p:nvPr/>
        </p:nvSpPr>
        <p:spPr>
          <a:xfrm>
            <a:off x="3584448" y="246888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Birinchi to‘lovchi mijozlar va narx gipotezasini tekshirish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548640" y="3337560"/>
            <a:ext cx="2697480" cy="1463040"/>
          </a:xfrm>
          <a:prstGeom prst="roundRect">
            <a:avLst>
              <a:gd name="adj" fmla="val 8750"/>
            </a:avLst>
          </a:prstGeom>
          <a:solidFill>
            <a:srgbClr val="FFFFFF">
              <a:alpha val="7000"/>
            </a:srgbClr>
          </a:solidFill>
          <a:ln w="9525">
            <a:solidFill>
              <a:srgbClr val="FFFFFF">
                <a:alpha val="16000"/>
              </a:srgbClr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749808" y="3538728"/>
            <a:ext cx="420624" cy="420624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19" name="Image 2" descr="C:\Users\user\AppData\Local\Temp\claude\C--Users-user\ecd937e0-60b9-45db-b06f-34b4379b9ec8\scratchpad\deck\assets\LuUsers-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6552" y="3635472"/>
            <a:ext cx="227137" cy="227137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1280160" y="3538728"/>
            <a:ext cx="1874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Mentorlik</a:t>
            </a:r>
            <a:endParaRPr lang="en-US" sz="1300" dirty="0"/>
          </a:p>
        </p:txBody>
      </p:sp>
      <p:sp>
        <p:nvSpPr>
          <p:cNvPr id="21" name="Text 16"/>
          <p:cNvSpPr txBox="1"/>
          <p:nvPr/>
        </p:nvSpPr>
        <p:spPr>
          <a:xfrm>
            <a:off x="749808" y="406908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B2G sotuv, davlat xaridlari va narxlash bo‘yicha tajriba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3383280" y="3337560"/>
            <a:ext cx="2697480" cy="1463040"/>
          </a:xfrm>
          <a:prstGeom prst="roundRect">
            <a:avLst>
              <a:gd name="adj" fmla="val 8750"/>
            </a:avLst>
          </a:prstGeom>
          <a:solidFill>
            <a:srgbClr val="FFFFFF">
              <a:alpha val="7000"/>
            </a:srgbClr>
          </a:solidFill>
          <a:ln w="9525">
            <a:solidFill>
              <a:srgbClr val="FFFFFF">
                <a:alpha val="16000"/>
              </a:srgbClr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3584448" y="3538728"/>
            <a:ext cx="420624" cy="420624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24" name="Image 3" descr="C:\Users\user\AppData\Local\Temp\claude\C--Users-user\ecd937e0-60b9-45db-b06f-34b4379b9ec8\scratchpad\deck\assets\LuRocket-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81192" y="3635472"/>
            <a:ext cx="227137" cy="227137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4114800" y="3538728"/>
            <a:ext cx="1874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Grant yoki pre-seed</a:t>
            </a:r>
            <a:endParaRPr lang="en-US" sz="1300" dirty="0"/>
          </a:p>
        </p:txBody>
      </p:sp>
      <p:sp>
        <p:nvSpPr>
          <p:cNvPr id="26" name="Text 20"/>
          <p:cNvSpPr txBox="1"/>
          <p:nvPr/>
        </p:nvSpPr>
        <p:spPr>
          <a:xfrm>
            <a:off x="3584448" y="406908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 oy: jamoa, O‘zbekistondagi hosting, akusherkalar treningi</a:t>
            </a:r>
            <a:endParaRPr lang="en-US" sz="1000" dirty="0"/>
          </a:p>
        </p:txBody>
      </p:sp>
      <p:sp>
        <p:nvSpPr>
          <p:cNvPr id="27" name="Shape 21"/>
          <p:cNvSpPr/>
          <p:nvPr/>
        </p:nvSpPr>
        <p:spPr>
          <a:xfrm>
            <a:off x="6492240" y="1737360"/>
            <a:ext cx="5148072" cy="3063240"/>
          </a:xfrm>
          <a:prstGeom prst="roundRect">
            <a:avLst>
              <a:gd name="adj" fmla="val 4776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28" name="Text 22"/>
          <p:cNvSpPr txBox="1"/>
          <p:nvPr/>
        </p:nvSpPr>
        <p:spPr>
          <a:xfrm>
            <a:off x="6766560" y="187452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0A5F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Yo‘l xaritasi</a:t>
            </a:r>
            <a:endParaRPr lang="en-US" sz="1200" dirty="0"/>
          </a:p>
        </p:txBody>
      </p:sp>
      <p:sp>
        <p:nvSpPr>
          <p:cNvPr id="29" name="Shape 23"/>
          <p:cNvSpPr/>
          <p:nvPr/>
        </p:nvSpPr>
        <p:spPr>
          <a:xfrm>
            <a:off x="6803136" y="2377440"/>
            <a:ext cx="146304" cy="146304"/>
          </a:xfrm>
          <a:prstGeom prst="ellipse">
            <a:avLst/>
          </a:prstGeom>
          <a:solidFill>
            <a:srgbClr val="2563EB"/>
          </a:solidFill>
          <a:ln w="15875">
            <a:solidFill>
              <a:srgbClr val="60A5FA"/>
            </a:solidFill>
            <a:prstDash val="solid"/>
          </a:ln>
        </p:spPr>
      </p:sp>
      <p:sp>
        <p:nvSpPr>
          <p:cNvPr id="30" name="Shape 24"/>
          <p:cNvSpPr/>
          <p:nvPr/>
        </p:nvSpPr>
        <p:spPr>
          <a:xfrm>
            <a:off x="6876288" y="2542032"/>
            <a:ext cx="0" cy="438912"/>
          </a:xfrm>
          <a:prstGeom prst="line">
            <a:avLst/>
          </a:prstGeom>
          <a:noFill/>
          <a:ln w="15875">
            <a:solidFill>
              <a:srgbClr val="334155"/>
            </a:solidFill>
            <a:prstDash val="solid"/>
          </a:ln>
        </p:spPr>
      </p:sp>
      <p:sp>
        <p:nvSpPr>
          <p:cNvPr id="31" name="Text 25"/>
          <p:cNvSpPr txBox="1"/>
          <p:nvPr/>
        </p:nvSpPr>
        <p:spPr>
          <a:xfrm>
            <a:off x="7086600" y="2267712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0A5F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Okt 2026</a:t>
            </a:r>
            <a:endParaRPr lang="en-US" sz="1100" dirty="0"/>
          </a:p>
        </p:txBody>
      </p:sp>
      <p:sp>
        <p:nvSpPr>
          <p:cNvPr id="32" name="Text 26"/>
          <p:cNvSpPr txBox="1"/>
          <p:nvPr/>
        </p:nvSpPr>
        <p:spPr>
          <a:xfrm>
            <a:off x="8275320" y="2267712"/>
            <a:ext cx="31821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Pilot memorandumi, 2 tumanda ishga tushirish</a:t>
            </a:r>
            <a:endParaRPr lang="en-US" sz="1100" dirty="0"/>
          </a:p>
        </p:txBody>
      </p:sp>
      <p:sp>
        <p:nvSpPr>
          <p:cNvPr id="33" name="Shape 27"/>
          <p:cNvSpPr/>
          <p:nvPr/>
        </p:nvSpPr>
        <p:spPr>
          <a:xfrm>
            <a:off x="6803136" y="2980944"/>
            <a:ext cx="146304" cy="146304"/>
          </a:xfrm>
          <a:prstGeom prst="ellipse">
            <a:avLst/>
          </a:prstGeom>
          <a:solidFill>
            <a:srgbClr val="0F172A"/>
          </a:solidFill>
          <a:ln w="15875">
            <a:solidFill>
              <a:srgbClr val="60A5FA"/>
            </a:solidFill>
            <a:prstDash val="solid"/>
          </a:ln>
        </p:spPr>
      </p:sp>
      <p:sp>
        <p:nvSpPr>
          <p:cNvPr id="34" name="Shape 28"/>
          <p:cNvSpPr/>
          <p:nvPr/>
        </p:nvSpPr>
        <p:spPr>
          <a:xfrm>
            <a:off x="6876288" y="3145536"/>
            <a:ext cx="0" cy="438912"/>
          </a:xfrm>
          <a:prstGeom prst="line">
            <a:avLst/>
          </a:prstGeom>
          <a:noFill/>
          <a:ln w="15875">
            <a:solidFill>
              <a:srgbClr val="334155"/>
            </a:solidFill>
            <a:prstDash val="solid"/>
          </a:ln>
        </p:spPr>
      </p:sp>
      <p:sp>
        <p:nvSpPr>
          <p:cNvPr id="35" name="Text 29"/>
          <p:cNvSpPr txBox="1"/>
          <p:nvPr/>
        </p:nvSpPr>
        <p:spPr>
          <a:xfrm>
            <a:off x="7086600" y="2871216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0A5F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Dek 2026</a:t>
            </a:r>
            <a:endParaRPr lang="en-US" sz="1100" dirty="0"/>
          </a:p>
        </p:txBody>
      </p:sp>
      <p:sp>
        <p:nvSpPr>
          <p:cNvPr id="36" name="Text 30"/>
          <p:cNvSpPr txBox="1"/>
          <p:nvPr/>
        </p:nvSpPr>
        <p:spPr>
          <a:xfrm>
            <a:off x="8275320" y="2871216"/>
            <a:ext cx="31821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Birinchi 3 to‘lovchi klinika</a:t>
            </a:r>
            <a:endParaRPr lang="en-US" sz="1100" dirty="0"/>
          </a:p>
        </p:txBody>
      </p:sp>
      <p:sp>
        <p:nvSpPr>
          <p:cNvPr id="37" name="Shape 31"/>
          <p:cNvSpPr/>
          <p:nvPr/>
        </p:nvSpPr>
        <p:spPr>
          <a:xfrm>
            <a:off x="6803136" y="3584448"/>
            <a:ext cx="146304" cy="146304"/>
          </a:xfrm>
          <a:prstGeom prst="ellipse">
            <a:avLst/>
          </a:prstGeom>
          <a:solidFill>
            <a:srgbClr val="0F172A"/>
          </a:solidFill>
          <a:ln w="15875">
            <a:solidFill>
              <a:srgbClr val="60A5FA"/>
            </a:solidFill>
            <a:prstDash val="solid"/>
          </a:ln>
        </p:spPr>
      </p:sp>
      <p:sp>
        <p:nvSpPr>
          <p:cNvPr id="38" name="Shape 32"/>
          <p:cNvSpPr/>
          <p:nvPr/>
        </p:nvSpPr>
        <p:spPr>
          <a:xfrm>
            <a:off x="6876288" y="3749040"/>
            <a:ext cx="0" cy="438912"/>
          </a:xfrm>
          <a:prstGeom prst="line">
            <a:avLst/>
          </a:prstGeom>
          <a:noFill/>
          <a:ln w="15875">
            <a:solidFill>
              <a:srgbClr val="334155"/>
            </a:solidFill>
            <a:prstDash val="solid"/>
          </a:ln>
        </p:spPr>
      </p:sp>
      <p:sp>
        <p:nvSpPr>
          <p:cNvPr id="39" name="Text 33"/>
          <p:cNvSpPr txBox="1"/>
          <p:nvPr/>
        </p:nvSpPr>
        <p:spPr>
          <a:xfrm>
            <a:off x="7086600" y="347472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0A5F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Mar 2027</a:t>
            </a:r>
            <a:endParaRPr lang="en-US" sz="1100" dirty="0"/>
          </a:p>
        </p:txBody>
      </p:sp>
      <p:sp>
        <p:nvSpPr>
          <p:cNvPr id="40" name="Text 34"/>
          <p:cNvSpPr txBox="1"/>
          <p:nvPr/>
        </p:nvSpPr>
        <p:spPr>
          <a:xfrm>
            <a:off x="8275320" y="3474720"/>
            <a:ext cx="31821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Pilot natijalari: qabul vaqti, qamrov, qoniqish</a:t>
            </a:r>
            <a:endParaRPr lang="en-US" sz="1100" dirty="0"/>
          </a:p>
        </p:txBody>
      </p:sp>
      <p:sp>
        <p:nvSpPr>
          <p:cNvPr id="41" name="Shape 35"/>
          <p:cNvSpPr/>
          <p:nvPr/>
        </p:nvSpPr>
        <p:spPr>
          <a:xfrm>
            <a:off x="6803136" y="4187952"/>
            <a:ext cx="146304" cy="146304"/>
          </a:xfrm>
          <a:prstGeom prst="ellipse">
            <a:avLst/>
          </a:prstGeom>
          <a:solidFill>
            <a:srgbClr val="0F172A"/>
          </a:solidFill>
          <a:ln w="15875">
            <a:solidFill>
              <a:srgbClr val="60A5FA"/>
            </a:solidFill>
            <a:prstDash val="solid"/>
          </a:ln>
        </p:spPr>
      </p:sp>
      <p:sp>
        <p:nvSpPr>
          <p:cNvPr id="42" name="Text 36"/>
          <p:cNvSpPr txBox="1"/>
          <p:nvPr/>
        </p:nvSpPr>
        <p:spPr>
          <a:xfrm>
            <a:off x="7086600" y="4078224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0A5F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Iyun 2027</a:t>
            </a:r>
            <a:endParaRPr lang="en-US" sz="1100" dirty="0"/>
          </a:p>
        </p:txBody>
      </p:sp>
      <p:sp>
        <p:nvSpPr>
          <p:cNvPr id="43" name="Text 37"/>
          <p:cNvSpPr txBox="1"/>
          <p:nvPr/>
        </p:nvSpPr>
        <p:spPr>
          <a:xfrm>
            <a:off x="8275320" y="4078224"/>
            <a:ext cx="31821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O‘zbekistondagi serverga ko‘chish, Xorazm bo‘ylab kengayish</a:t>
            </a:r>
            <a:endParaRPr lang="en-US" sz="1100" dirty="0"/>
          </a:p>
        </p:txBody>
      </p:sp>
      <p:sp>
        <p:nvSpPr>
          <p:cNvPr id="44" name="Text 38"/>
          <p:cNvSpPr txBox="1"/>
          <p:nvPr/>
        </p:nvSpPr>
        <p:spPr>
          <a:xfrm>
            <a:off x="548640" y="507492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FFFFFF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Rahmat! Savollar?</a:t>
            </a:r>
            <a:endParaRPr lang="en-US" sz="3400" dirty="0"/>
          </a:p>
        </p:txBody>
      </p:sp>
      <p:pic>
        <p:nvPicPr>
          <p:cNvPr id="45" name="Image 4" descr="C:\Users\user\AppData\Local\Temp\claude\C--Users-user\ecd937e0-60b9-45db-b06f-34b4379b9ec8\scratchpad\deck\assets\logo-mark-160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6318504"/>
            <a:ext cx="237744" cy="237744"/>
          </a:xfrm>
          <a:prstGeom prst="rect">
            <a:avLst/>
          </a:prstGeom>
        </p:spPr>
      </p:pic>
      <p:sp>
        <p:nvSpPr>
          <p:cNvPr id="46" name="Shape 39"/>
          <p:cNvSpPr/>
          <p:nvPr/>
        </p:nvSpPr>
        <p:spPr>
          <a:xfrm>
            <a:off x="548640" y="6318504"/>
            <a:ext cx="237744" cy="237744"/>
          </a:xfrm>
          <a:prstGeom prst="roundRect">
            <a:avLst>
              <a:gd name="adj" fmla="val 21500"/>
            </a:avLst>
          </a:prstGeom>
          <a:solidFill>
            <a:srgbClr val="FFFFFF">
              <a:alpha val="0"/>
            </a:srgbClr>
          </a:solidFill>
          <a:ln w="9525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47" name="Text 40"/>
          <p:cNvSpPr txBox="1"/>
          <p:nvPr/>
        </p:nvSpPr>
        <p:spPr>
          <a:xfrm>
            <a:off x="877824" y="631850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Muhim Davr  ·  Biznes reja</a:t>
            </a:r>
            <a:endParaRPr lang="en-US" sz="950" dirty="0"/>
          </a:p>
        </p:txBody>
      </p:sp>
      <p:sp>
        <p:nvSpPr>
          <p:cNvPr id="48" name="Text 41"/>
          <p:cNvSpPr txBox="1"/>
          <p:nvPr/>
        </p:nvSpPr>
        <p:spPr>
          <a:xfrm>
            <a:off x="10271455" y="6318504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13 / 13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Muhim Davr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Muhim Davr — Biznes reja</dc:title>
  <dc:subject>PptxGenJS Presentation</dc:subject>
  <dc:creator>PptxGenJS</dc:creator>
  <cp:lastModifiedBy>PptxGenJS</cp:lastModifiedBy>
  <cp:revision>1</cp:revision>
  <dcterms:created xsi:type="dcterms:W3CDTF">2026-09-19T06:31:46Z</dcterms:created>
  <dcterms:modified xsi:type="dcterms:W3CDTF">2026-09-19T06:31:46Z</dcterms:modified>
</cp:coreProperties>
</file>